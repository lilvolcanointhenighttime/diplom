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notesMasterIdLst>
    <p:notesMasterId r:id="rId20"/>
  </p:notesMasterIdLst>
  <p:sldIdLst>
    <p:sldId id="290" r:id="rId2"/>
    <p:sldId id="291" r:id="rId3"/>
    <p:sldId id="294" r:id="rId4"/>
    <p:sldId id="295" r:id="rId5"/>
    <p:sldId id="296" r:id="rId6"/>
    <p:sldId id="297" r:id="rId7"/>
    <p:sldId id="298" r:id="rId8"/>
    <p:sldId id="299" r:id="rId9"/>
    <p:sldId id="300" r:id="rId10"/>
    <p:sldId id="301" r:id="rId11"/>
    <p:sldId id="302" r:id="rId12"/>
    <p:sldId id="303" r:id="rId13"/>
    <p:sldId id="304" r:id="rId14"/>
    <p:sldId id="305" r:id="rId15"/>
    <p:sldId id="306" r:id="rId16"/>
    <p:sldId id="307" r:id="rId17"/>
    <p:sldId id="288" r:id="rId18"/>
    <p:sldId id="271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5766" y="20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D3F4F7-AF41-4997-851D-457C9B9142EF}" type="datetimeFigureOut">
              <a:rPr lang="ru-RU" smtClean="0"/>
              <a:t>29.10.2025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EDF897-6243-4D3A-A1DD-61C581428B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99884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EDF897-6243-4D3A-A1DD-61C581428B4D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25306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DFD6E-1EBF-40A3-AA34-476E6C5F1F71}" type="datetimeFigureOut">
              <a:rPr lang="ru-RU" smtClean="0"/>
              <a:t>29.10.2025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96376421-0ACD-4198-9005-89B03818A6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3793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DFD6E-1EBF-40A3-AA34-476E6C5F1F71}" type="datetimeFigureOut">
              <a:rPr lang="ru-RU" smtClean="0"/>
              <a:t>29.10.2025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76421-0ACD-4198-9005-89B03818A6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8029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DFD6E-1EBF-40A3-AA34-476E6C5F1F71}" type="datetimeFigureOut">
              <a:rPr lang="ru-RU" smtClean="0"/>
              <a:t>29.10.2025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96376421-0ACD-4198-9005-89B03818A6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84288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DFD6E-1EBF-40A3-AA34-476E6C5F1F71}" type="datetimeFigureOut">
              <a:rPr lang="ru-RU" smtClean="0"/>
              <a:t>29.10.2025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96376421-0ACD-4198-9005-89B03818A6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25508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DFD6E-1EBF-40A3-AA34-476E6C5F1F71}" type="datetimeFigureOut">
              <a:rPr lang="ru-RU" smtClean="0"/>
              <a:t>29.10.2025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96376421-0ACD-4198-9005-89B03818A6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3373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DFD6E-1EBF-40A3-AA34-476E6C5F1F71}" type="datetimeFigureOut">
              <a:rPr lang="ru-RU" smtClean="0"/>
              <a:t>29.10.2025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76421-0ACD-4198-9005-89B03818A6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94944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DFD6E-1EBF-40A3-AA34-476E6C5F1F71}" type="datetimeFigureOut">
              <a:rPr lang="ru-RU" smtClean="0"/>
              <a:t>29.10.2025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76421-0ACD-4198-9005-89B03818A6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02616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DFD6E-1EBF-40A3-AA34-476E6C5F1F71}" type="datetimeFigureOut">
              <a:rPr lang="ru-RU" smtClean="0"/>
              <a:t>29.10.2025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76421-0ACD-4198-9005-89B03818A6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89844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DFD6E-1EBF-40A3-AA34-476E6C5F1F71}" type="datetimeFigureOut">
              <a:rPr lang="ru-RU" smtClean="0"/>
              <a:t>29.10.2025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6376421-0ACD-4198-9005-89B03818A6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6464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DFD6E-1EBF-40A3-AA34-476E6C5F1F71}" type="datetimeFigureOut">
              <a:rPr lang="ru-RU" smtClean="0"/>
              <a:t>29.10.2025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96376421-0ACD-4198-9005-89B03818A6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60553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DFD6E-1EBF-40A3-AA34-476E6C5F1F71}" type="datetimeFigureOut">
              <a:rPr lang="ru-RU" smtClean="0"/>
              <a:t>29.10.2025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96376421-0ACD-4198-9005-89B03818A61E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854940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DFD6E-1EBF-40A3-AA34-476E6C5F1F71}" type="datetimeFigureOut">
              <a:rPr lang="ru-RU" smtClean="0"/>
              <a:t>29.10.2025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6376421-0ACD-4198-9005-89B03818A6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63414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DFD6E-1EBF-40A3-AA34-476E6C5F1F71}" type="datetimeFigureOut">
              <a:rPr lang="ru-RU" smtClean="0"/>
              <a:t>29.10.2025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6376421-0ACD-4198-9005-89B03818A61E}" type="slidenum">
              <a:rPr lang="ru-RU" smtClean="0"/>
              <a:t>‹#›</a:t>
            </a:fld>
            <a:endParaRPr lang="ru-RU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226011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DFD6E-1EBF-40A3-AA34-476E6C5F1F71}" type="datetimeFigureOut">
              <a:rPr lang="ru-RU" smtClean="0"/>
              <a:t>29.10.2025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6376421-0ACD-4198-9005-89B03818A6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14732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DFD6E-1EBF-40A3-AA34-476E6C5F1F71}" type="datetimeFigureOut">
              <a:rPr lang="ru-RU" smtClean="0"/>
              <a:t>29.10.2025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76421-0ACD-4198-9005-89B03818A6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39281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DFD6E-1EBF-40A3-AA34-476E6C5F1F71}" type="datetimeFigureOut">
              <a:rPr lang="ru-RU" smtClean="0"/>
              <a:t>29.10.2025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76421-0ACD-4198-9005-89B03818A6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4104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CDFD6E-1EBF-40A3-AA34-476E6C5F1F71}" type="datetimeFigureOut">
              <a:rPr lang="ru-RU" smtClean="0"/>
              <a:t>29.10.2025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96376421-0ACD-4198-9005-89B03818A6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6417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E96D427B-85FE-454D-A5E6-345ECADA615E}"/>
              </a:ext>
            </a:extLst>
          </p:cNvPr>
          <p:cNvSpPr/>
          <p:nvPr/>
        </p:nvSpPr>
        <p:spPr>
          <a:xfrm>
            <a:off x="2809741" y="394316"/>
            <a:ext cx="657251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200" b="1" dirty="0"/>
              <a:t>ФЕДЕРАЛЬНОЕ АГЕНТСТВО МОРСКОГО И РЕЧНОГО ТРАНСПОРТА</a:t>
            </a:r>
            <a:endParaRPr lang="ru-RU" sz="1200" dirty="0"/>
          </a:p>
          <a:p>
            <a:pPr algn="ctr"/>
            <a:r>
              <a:rPr lang="ru-RU" sz="1200" b="1" dirty="0"/>
              <a:t> Федеральное государственное бюджетное образовательное учреждение высшего образования</a:t>
            </a:r>
            <a:endParaRPr lang="ru-RU" sz="1200" dirty="0"/>
          </a:p>
          <a:p>
            <a:pPr algn="ctr"/>
            <a:r>
              <a:rPr lang="ru-RU" sz="1200" b="1" dirty="0"/>
              <a:t>«Государственный университет морского и речного флота имени адмирала С.О. Макарова»</a:t>
            </a:r>
            <a:endParaRPr lang="ru-RU" sz="1200" dirty="0"/>
          </a:p>
          <a:p>
            <a:pPr algn="ctr"/>
            <a:r>
              <a:rPr lang="ru-RU" sz="1200" b="1" dirty="0"/>
              <a:t>(ФГБОУ ВО «ГУМРФ имени адмирала С.О. Макарова»)</a:t>
            </a:r>
          </a:p>
          <a:p>
            <a:pPr algn="ctr"/>
            <a:endParaRPr lang="ru-RU" sz="1200" b="1" dirty="0"/>
          </a:p>
          <a:p>
            <a:pPr algn="ctr"/>
            <a:r>
              <a:rPr lang="ru-RU" sz="1200" b="1" dirty="0"/>
              <a:t>Кафедра Вычислительных систем и информатики</a:t>
            </a:r>
            <a:endParaRPr lang="ru-RU" sz="1200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52D26201-2BDB-4778-833C-8156830F9466}"/>
              </a:ext>
            </a:extLst>
          </p:cNvPr>
          <p:cNvSpPr/>
          <p:nvPr/>
        </p:nvSpPr>
        <p:spPr>
          <a:xfrm>
            <a:off x="2152381" y="2252281"/>
            <a:ext cx="7887237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dirty="0">
                <a:latin typeface="+mj-lt"/>
                <a:cs typeface="Times New Roman" panose="02020603050405020304" pitchFamily="18" charset="0"/>
              </a:rPr>
              <a:t>Выпускная квалификационная работа</a:t>
            </a:r>
            <a:br>
              <a:rPr lang="ru-RU" sz="3200" dirty="0">
                <a:latin typeface="+mj-lt"/>
                <a:cs typeface="Times New Roman" panose="02020603050405020304" pitchFamily="18" charset="0"/>
              </a:rPr>
            </a:br>
            <a:r>
              <a:rPr lang="ru-RU" sz="3200" dirty="0">
                <a:latin typeface="+mj-lt"/>
                <a:cs typeface="Times New Roman" panose="02020603050405020304" pitchFamily="18" charset="0"/>
              </a:rPr>
              <a:t> «Разработка информационной системы для оценки благонадёжности поставщиков»</a:t>
            </a:r>
            <a:endParaRPr lang="ru-RU" sz="3200" dirty="0">
              <a:latin typeface="+mj-lt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57A14CC-B303-4623-A163-39CFE256CACC}"/>
              </a:ext>
            </a:extLst>
          </p:cNvPr>
          <p:cNvSpPr/>
          <p:nvPr/>
        </p:nvSpPr>
        <p:spPr>
          <a:xfrm>
            <a:off x="2511380" y="5095131"/>
            <a:ext cx="70993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1400" dirty="0">
                <a:cs typeface="Times New Roman" pitchFamily="18" charset="0"/>
              </a:rPr>
              <a:t>Обучающаяся: студентка группы ___</a:t>
            </a:r>
          </a:p>
          <a:p>
            <a:pPr algn="ctr">
              <a:defRPr/>
            </a:pPr>
            <a:r>
              <a:rPr lang="ru-RU" sz="1400" dirty="0">
                <a:cs typeface="Times New Roman" pitchFamily="18" charset="0"/>
              </a:rPr>
              <a:t>Руководитель: ________</a:t>
            </a:r>
            <a:endParaRPr lang="ru-RU" sz="1400" dirty="0"/>
          </a:p>
          <a:p>
            <a:pPr>
              <a:defRPr/>
            </a:pPr>
            <a:endParaRPr lang="en-US" sz="1400" dirty="0"/>
          </a:p>
          <a:p>
            <a:pPr algn="ctr">
              <a:defRPr/>
            </a:pPr>
            <a:r>
              <a:rPr lang="ru-RU" sz="1400" dirty="0"/>
              <a:t>Санкт-Петербург</a:t>
            </a:r>
          </a:p>
          <a:p>
            <a:pPr algn="ctr">
              <a:defRPr/>
            </a:pPr>
            <a:r>
              <a:rPr lang="ru-RU" sz="1400" dirty="0"/>
              <a:t>2018 год</a:t>
            </a:r>
          </a:p>
          <a:p>
            <a:pPr algn="ctr"/>
            <a:endParaRPr lang="ru-RU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8254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2D1EEA17-E51D-4341-9184-BD815D2EB3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8299" y="634027"/>
            <a:ext cx="9643593" cy="558994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2400" b="1" dirty="0"/>
              <a:t>Для достижения поставленной цели в работе необходимо решить следующие задачи:</a:t>
            </a:r>
          </a:p>
          <a:p>
            <a:pPr marL="457200" lvl="0" indent="-457200">
              <a:buFont typeface="+mj-lt"/>
              <a:buAutoNum type="arabicPeriod"/>
            </a:pPr>
            <a:r>
              <a:rPr lang="ru-RU" sz="2400" dirty="0"/>
              <a:t>изучить методы и модели анализа данных для оценки благонадежности поставщика товаров;</a:t>
            </a:r>
          </a:p>
          <a:p>
            <a:pPr marL="457200" lvl="0" indent="-457200">
              <a:buFont typeface="+mj-lt"/>
              <a:buAutoNum type="arabicPeriod"/>
            </a:pPr>
            <a:r>
              <a:rPr lang="ru-RU" sz="2400" dirty="0"/>
              <a:t>описать характеристика деятельности и организационную структуру управления ООО «Авангард»;</a:t>
            </a:r>
          </a:p>
          <a:p>
            <a:pPr marL="457200" lvl="0" indent="-457200">
              <a:buFont typeface="+mj-lt"/>
              <a:buAutoNum type="arabicPeriod"/>
            </a:pPr>
            <a:r>
              <a:rPr lang="ru-RU" sz="2400" dirty="0"/>
              <a:t>провести анализ бизнес процесса закупки товаров и выбора поставщика и сформировать предложения по автоматизации;</a:t>
            </a:r>
          </a:p>
          <a:p>
            <a:pPr marL="457200" lvl="0" indent="-457200">
              <a:buFont typeface="+mj-lt"/>
              <a:buAutoNum type="arabicPeriod"/>
            </a:pPr>
            <a:r>
              <a:rPr lang="ru-RU" sz="2400" dirty="0"/>
              <a:t>провести сравнительный анализ рынка аналогичного ПО;</a:t>
            </a:r>
          </a:p>
          <a:p>
            <a:pPr marL="457200" lvl="0" indent="-457200">
              <a:buFont typeface="+mj-lt"/>
              <a:buAutoNum type="arabicPeriod"/>
            </a:pPr>
            <a:r>
              <a:rPr lang="ru-RU" sz="2400" dirty="0"/>
              <a:t>разработать информационную системы для рассматриваемого бизнес процесса;</a:t>
            </a:r>
          </a:p>
          <a:p>
            <a:pPr marL="457200" lvl="0" indent="-457200">
              <a:buFont typeface="+mj-lt"/>
              <a:buAutoNum type="arabicPeriod"/>
            </a:pPr>
            <a:r>
              <a:rPr lang="ru-RU" sz="2400" dirty="0"/>
              <a:t>оценить экономическую эффективность проекта.</a:t>
            </a:r>
          </a:p>
        </p:txBody>
      </p:sp>
    </p:spTree>
    <p:extLst>
      <p:ext uri="{BB962C8B-B14F-4D97-AF65-F5344CB8AC3E}">
        <p14:creationId xmlns:p14="http://schemas.microsoft.com/office/powerpoint/2010/main" val="26413488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D708D2-467A-4013-BFAA-58CEE01FE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618" y="318584"/>
            <a:ext cx="8911687" cy="1280890"/>
          </a:xfrm>
        </p:spPr>
        <p:txBody>
          <a:bodyPr/>
          <a:lstStyle/>
          <a:p>
            <a:pPr algn="ctr"/>
            <a:r>
              <a:rPr lang="ru-RU" dirty="0"/>
              <a:t>Описание и анализ бизнес процесса закупки товаров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0C2AC2D0-6755-4D38-A2B0-D01566300D7A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2882" y="2120721"/>
            <a:ext cx="5423118" cy="377825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9391EFB-D172-4CC5-BBCA-A7B56E66F3C4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327417" y="2120721"/>
            <a:ext cx="5421238" cy="377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8668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E4C0C2-7DBD-49F2-B6B3-7C92E4389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6468" y="392290"/>
            <a:ext cx="8911687" cy="1280890"/>
          </a:xfrm>
        </p:spPr>
        <p:txBody>
          <a:bodyPr/>
          <a:lstStyle/>
          <a:p>
            <a:pPr algn="ctr"/>
            <a:r>
              <a:rPr lang="ru-RU" dirty="0"/>
              <a:t>Декомпозиция блока А2 </a:t>
            </a:r>
            <a:br>
              <a:rPr lang="ru-RU" dirty="0"/>
            </a:br>
            <a:r>
              <a:rPr lang="ru-RU" dirty="0"/>
              <a:t>«Выбор поставщика»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B9DBF75-7644-4412-B7B0-443BAC8FAC9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789459" y="1777285"/>
            <a:ext cx="7045707" cy="4898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85826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B5FFF6-4882-4496-A9D4-F4A580448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9134" y="497017"/>
            <a:ext cx="8911687" cy="1280890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/>
              <a:t>Сравнительный анализ готовых решений</a:t>
            </a:r>
            <a:br>
              <a:rPr lang="ru-RU" b="1" dirty="0"/>
            </a:br>
            <a:endParaRPr lang="ru-RU" dirty="0"/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557ABC14-40B8-470C-BB00-F5263BD6519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2487981"/>
              </p:ext>
            </p:extLst>
          </p:nvPr>
        </p:nvGraphicFramePr>
        <p:xfrm>
          <a:off x="2768958" y="1467118"/>
          <a:ext cx="8911687" cy="466204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37655">
                  <a:extLst>
                    <a:ext uri="{9D8B030D-6E8A-4147-A177-3AD203B41FA5}">
                      <a16:colId xmlns:a16="http://schemas.microsoft.com/office/drawing/2014/main" val="774581380"/>
                    </a:ext>
                  </a:extLst>
                </a:gridCol>
                <a:gridCol w="1835779">
                  <a:extLst>
                    <a:ext uri="{9D8B030D-6E8A-4147-A177-3AD203B41FA5}">
                      <a16:colId xmlns:a16="http://schemas.microsoft.com/office/drawing/2014/main" val="1782326017"/>
                    </a:ext>
                  </a:extLst>
                </a:gridCol>
                <a:gridCol w="1833904">
                  <a:extLst>
                    <a:ext uri="{9D8B030D-6E8A-4147-A177-3AD203B41FA5}">
                      <a16:colId xmlns:a16="http://schemas.microsoft.com/office/drawing/2014/main" val="842109756"/>
                    </a:ext>
                  </a:extLst>
                </a:gridCol>
                <a:gridCol w="1579822">
                  <a:extLst>
                    <a:ext uri="{9D8B030D-6E8A-4147-A177-3AD203B41FA5}">
                      <a16:colId xmlns:a16="http://schemas.microsoft.com/office/drawing/2014/main" val="3160014079"/>
                    </a:ext>
                  </a:extLst>
                </a:gridCol>
                <a:gridCol w="1824527">
                  <a:extLst>
                    <a:ext uri="{9D8B030D-6E8A-4147-A177-3AD203B41FA5}">
                      <a16:colId xmlns:a16="http://schemas.microsoft.com/office/drawing/2014/main" val="668312904"/>
                    </a:ext>
                  </a:extLst>
                </a:gridCol>
              </a:tblGrid>
              <a:tr h="50501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630555" algn="l"/>
                        </a:tabLst>
                      </a:pPr>
                      <a:r>
                        <a:rPr lang="ru-RU" sz="1200">
                          <a:effectLst/>
                        </a:rPr>
                        <a:t>Название системы \</a:t>
                      </a:r>
                      <a:endParaRPr lang="ru-RU" sz="1100">
                        <a:effectLst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630555" algn="l"/>
                        </a:tabLst>
                      </a:pPr>
                      <a:r>
                        <a:rPr lang="ru-RU" sz="1200">
                          <a:effectLst/>
                        </a:rPr>
                        <a:t>Критерии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791" marR="4479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PLUSSELL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791" marR="4479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SAP Ariba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791" marR="4479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iTender SRM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791" marR="4479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630555" algn="l"/>
                        </a:tabLst>
                      </a:pPr>
                      <a:r>
                        <a:rPr lang="ru-RU" sz="1200">
                          <a:effectLst/>
                        </a:rPr>
                        <a:t>Разработка собственной информационной системы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791" marR="44791" marT="0" marB="0" anchor="ctr"/>
                </a:tc>
                <a:extLst>
                  <a:ext uri="{0D108BD9-81ED-4DB2-BD59-A6C34878D82A}">
                    <a16:rowId xmlns:a16="http://schemas.microsoft.com/office/drawing/2014/main" val="76688778"/>
                  </a:ext>
                </a:extLst>
              </a:tr>
              <a:tr h="12155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630555" algn="l"/>
                        </a:tabLst>
                      </a:pPr>
                      <a:r>
                        <a:rPr lang="ru-RU" sz="1200">
                          <a:effectLst/>
                        </a:rPr>
                        <a:t>1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791" marR="4479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630555" algn="l"/>
                        </a:tabLst>
                      </a:pPr>
                      <a:r>
                        <a:rPr lang="ru-RU" sz="1200">
                          <a:effectLst/>
                        </a:rPr>
                        <a:t>2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791" marR="4479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630555" algn="l"/>
                        </a:tabLst>
                      </a:pPr>
                      <a:r>
                        <a:rPr lang="ru-RU" sz="1200">
                          <a:effectLst/>
                        </a:rPr>
                        <a:t>3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791" marR="4479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630555" algn="l"/>
                        </a:tabLst>
                      </a:pPr>
                      <a:r>
                        <a:rPr lang="ru-RU" sz="1200">
                          <a:effectLst/>
                        </a:rPr>
                        <a:t>4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791" marR="4479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630555" algn="l"/>
                        </a:tabLst>
                      </a:pPr>
                      <a:r>
                        <a:rPr lang="ru-RU" sz="1200">
                          <a:effectLst/>
                        </a:rPr>
                        <a:t>5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791" marR="44791" marT="0" marB="0" anchor="ctr"/>
                </a:tc>
                <a:extLst>
                  <a:ext uri="{0D108BD9-81ED-4DB2-BD59-A6C34878D82A}">
                    <a16:rowId xmlns:a16="http://schemas.microsoft.com/office/drawing/2014/main" val="1298807194"/>
                  </a:ext>
                </a:extLst>
              </a:tr>
              <a:tr h="37719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630555" algn="l"/>
                        </a:tabLst>
                      </a:pPr>
                      <a:r>
                        <a:rPr lang="ru-RU" sz="1200">
                          <a:effectLst/>
                        </a:rPr>
                        <a:t>Стоимость поставки ПО, руб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791" marR="44791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630555" algn="l"/>
                        </a:tabLst>
                      </a:pPr>
                      <a:r>
                        <a:rPr lang="ru-RU" sz="1200">
                          <a:effectLst/>
                        </a:rPr>
                        <a:t>62 100.00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791" marR="44791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630555" algn="l"/>
                        </a:tabLst>
                      </a:pPr>
                      <a:r>
                        <a:rPr lang="ru-RU" sz="1200">
                          <a:effectLst/>
                        </a:rPr>
                        <a:t>128 800.00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791" marR="44791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630555" algn="l"/>
                        </a:tabLst>
                      </a:pPr>
                      <a:r>
                        <a:rPr lang="ru-RU" sz="1200">
                          <a:effectLst/>
                        </a:rPr>
                        <a:t>17 260.00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791" marR="44791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630555" algn="l"/>
                        </a:tabLst>
                      </a:pPr>
                      <a:r>
                        <a:rPr lang="ru-RU" sz="1200">
                          <a:effectLst/>
                        </a:rPr>
                        <a:t>Не требуется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791" marR="44791" marT="0" marB="0" anchor="ctr"/>
                </a:tc>
                <a:extLst>
                  <a:ext uri="{0D108BD9-81ED-4DB2-BD59-A6C34878D82A}">
                    <a16:rowId xmlns:a16="http://schemas.microsoft.com/office/drawing/2014/main" val="4080690919"/>
                  </a:ext>
                </a:extLst>
              </a:tr>
              <a:tr h="63283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630555" algn="l"/>
                        </a:tabLst>
                      </a:pPr>
                      <a:r>
                        <a:rPr lang="ru-RU" sz="1200">
                          <a:effectLst/>
                        </a:rPr>
                        <a:t>Масштабность внедрения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791" marR="44791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630555" algn="l"/>
                        </a:tabLst>
                      </a:pPr>
                      <a:r>
                        <a:rPr lang="ru-RU" sz="1200">
                          <a:effectLst/>
                        </a:rPr>
                        <a:t>Крупные оптовые компании и розничные магазины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791" marR="44791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630555" algn="l"/>
                        </a:tabLst>
                      </a:pPr>
                      <a:r>
                        <a:rPr lang="ru-RU" sz="1200">
                          <a:effectLst/>
                        </a:rPr>
                        <a:t>Оптовые компании и розничные магазины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791" marR="44791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630555" algn="l"/>
                        </a:tabLst>
                      </a:pPr>
                      <a:r>
                        <a:rPr lang="ru-RU" sz="1200">
                          <a:effectLst/>
                        </a:rPr>
                        <a:t>Мелкие розничные магазины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791" marR="44791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630555" algn="l"/>
                        </a:tabLst>
                      </a:pPr>
                      <a:r>
                        <a:rPr lang="ru-RU" sz="1200">
                          <a:effectLst/>
                        </a:rPr>
                        <a:t>Мелкие розничные магазины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791" marR="44791" marT="0" marB="0" anchor="ctr"/>
                </a:tc>
                <a:extLst>
                  <a:ext uri="{0D108BD9-81ED-4DB2-BD59-A6C34878D82A}">
                    <a16:rowId xmlns:a16="http://schemas.microsoft.com/office/drawing/2014/main" val="3662270595"/>
                  </a:ext>
                </a:extLst>
              </a:tr>
              <a:tr h="37719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630555" algn="l"/>
                        </a:tabLst>
                      </a:pPr>
                      <a:r>
                        <a:rPr lang="ru-RU" sz="1200">
                          <a:effectLst/>
                        </a:rPr>
                        <a:t>Решение поставленных задач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791" marR="44791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630555" algn="l"/>
                        </a:tabLst>
                      </a:pPr>
                      <a:r>
                        <a:rPr lang="ru-RU" sz="1200">
                          <a:effectLst/>
                        </a:rPr>
                        <a:t>Среднее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791" marR="44791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630555" algn="l"/>
                        </a:tabLst>
                      </a:pPr>
                      <a:r>
                        <a:rPr lang="ru-RU" sz="1200">
                          <a:effectLst/>
                        </a:rPr>
                        <a:t>Полное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791" marR="44791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630555" algn="l"/>
                        </a:tabLst>
                      </a:pPr>
                      <a:r>
                        <a:rPr lang="ru-RU" sz="1200">
                          <a:effectLst/>
                        </a:rPr>
                        <a:t>Низкое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791" marR="44791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630555" algn="l"/>
                        </a:tabLst>
                      </a:pPr>
                      <a:r>
                        <a:rPr lang="ru-RU" sz="1200">
                          <a:effectLst/>
                        </a:rPr>
                        <a:t>Полное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791" marR="44791" marT="0" marB="0" anchor="ctr"/>
                </a:tc>
                <a:extLst>
                  <a:ext uri="{0D108BD9-81ED-4DB2-BD59-A6C34878D82A}">
                    <a16:rowId xmlns:a16="http://schemas.microsoft.com/office/drawing/2014/main" val="3529165587"/>
                  </a:ext>
                </a:extLst>
              </a:tr>
              <a:tr h="37719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630555" algn="l"/>
                        </a:tabLst>
                      </a:pPr>
                      <a:r>
                        <a:rPr lang="ru-RU" sz="1200">
                          <a:effectLst/>
                        </a:rPr>
                        <a:t>Возможность оценки поставщиков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791" marR="44791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630555" algn="l"/>
                        </a:tabLst>
                      </a:pPr>
                      <a:r>
                        <a:rPr lang="ru-RU" sz="1200">
                          <a:effectLst/>
                        </a:rPr>
                        <a:t>-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791" marR="44791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630555" algn="l"/>
                        </a:tabLst>
                      </a:pPr>
                      <a:r>
                        <a:rPr lang="ru-RU" sz="1200">
                          <a:effectLst/>
                        </a:rPr>
                        <a:t>-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791" marR="44791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630555" algn="l"/>
                        </a:tabLst>
                      </a:pPr>
                      <a:r>
                        <a:rPr lang="ru-RU" sz="1200">
                          <a:effectLst/>
                        </a:rPr>
                        <a:t>+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791" marR="44791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630555" algn="l"/>
                        </a:tabLst>
                      </a:pPr>
                      <a:r>
                        <a:rPr lang="ru-RU" sz="1200">
                          <a:effectLst/>
                        </a:rPr>
                        <a:t>+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791" marR="44791" marT="0" marB="0" anchor="ctr"/>
                </a:tc>
                <a:extLst>
                  <a:ext uri="{0D108BD9-81ED-4DB2-BD59-A6C34878D82A}">
                    <a16:rowId xmlns:a16="http://schemas.microsoft.com/office/drawing/2014/main" val="869585246"/>
                  </a:ext>
                </a:extLst>
              </a:tr>
              <a:tr h="50501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630555" algn="l"/>
                        </a:tabLst>
                      </a:pPr>
                      <a:r>
                        <a:rPr lang="ru-RU" sz="1200">
                          <a:effectLst/>
                        </a:rPr>
                        <a:t>Эффективность и наполнение доступных отчётов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791" marR="4479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630555" algn="l"/>
                        </a:tabLst>
                      </a:pPr>
                      <a:r>
                        <a:rPr lang="ru-RU" sz="1200">
                          <a:effectLst/>
                        </a:rPr>
                        <a:t>-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791" marR="44791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630555" algn="l"/>
                        </a:tabLst>
                      </a:pPr>
                      <a:r>
                        <a:rPr lang="ru-RU" sz="1200">
                          <a:effectLst/>
                        </a:rPr>
                        <a:t>-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791" marR="44791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630555" algn="l"/>
                        </a:tabLst>
                      </a:pPr>
                      <a:r>
                        <a:rPr lang="ru-RU" sz="1200">
                          <a:effectLst/>
                        </a:rPr>
                        <a:t>+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791" marR="44791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630555" algn="l"/>
                        </a:tabLst>
                      </a:pPr>
                      <a:r>
                        <a:rPr lang="ru-RU" sz="1200">
                          <a:effectLst/>
                        </a:rPr>
                        <a:t>+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791" marR="44791" marT="0" marB="0" anchor="ctr"/>
                </a:tc>
                <a:extLst>
                  <a:ext uri="{0D108BD9-81ED-4DB2-BD59-A6C34878D82A}">
                    <a16:rowId xmlns:a16="http://schemas.microsoft.com/office/drawing/2014/main" val="772444470"/>
                  </a:ext>
                </a:extLst>
              </a:tr>
              <a:tr h="37719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630555" algn="l"/>
                        </a:tabLst>
                      </a:pPr>
                      <a:r>
                        <a:rPr lang="ru-RU" sz="1200">
                          <a:effectLst/>
                        </a:rPr>
                        <a:t>Многопользовательский режим и права доступа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791" marR="4479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630555" algn="l"/>
                        </a:tabLst>
                      </a:pPr>
                      <a:r>
                        <a:rPr lang="ru-RU" sz="1200">
                          <a:effectLst/>
                        </a:rPr>
                        <a:t>+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791" marR="44791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630555" algn="l"/>
                        </a:tabLst>
                      </a:pPr>
                      <a:r>
                        <a:rPr lang="ru-RU" sz="1200">
                          <a:effectLst/>
                        </a:rPr>
                        <a:t>+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791" marR="44791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630555" algn="l"/>
                        </a:tabLst>
                      </a:pPr>
                      <a:r>
                        <a:rPr lang="ru-RU" sz="1200">
                          <a:effectLst/>
                        </a:rPr>
                        <a:t>-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791" marR="44791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630555" algn="l"/>
                        </a:tabLst>
                      </a:pPr>
                      <a:r>
                        <a:rPr lang="ru-RU" sz="1200">
                          <a:effectLst/>
                        </a:rPr>
                        <a:t>+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791" marR="44791" marT="0" marB="0" anchor="ctr"/>
                </a:tc>
                <a:extLst>
                  <a:ext uri="{0D108BD9-81ED-4DB2-BD59-A6C34878D82A}">
                    <a16:rowId xmlns:a16="http://schemas.microsoft.com/office/drawing/2014/main" val="3079908645"/>
                  </a:ext>
                </a:extLst>
              </a:tr>
              <a:tr h="50501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630555" algn="l"/>
                        </a:tabLst>
                      </a:pPr>
                      <a:r>
                        <a:rPr lang="ru-RU" sz="1200">
                          <a:effectLst/>
                        </a:rPr>
                        <a:t>Возможность добавления программных модулей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791" marR="44791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630555" algn="l"/>
                        </a:tabLst>
                      </a:pPr>
                      <a:r>
                        <a:rPr lang="ru-RU" sz="1200">
                          <a:effectLst/>
                        </a:rPr>
                        <a:t>Да, как администратор, так и пользователь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791" marR="44791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630555" algn="l"/>
                        </a:tabLst>
                      </a:pPr>
                      <a:r>
                        <a:rPr lang="ru-RU" sz="1200">
                          <a:effectLst/>
                        </a:rPr>
                        <a:t>Только администратор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791" marR="44791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630555" algn="l"/>
                        </a:tabLst>
                      </a:pPr>
                      <a:r>
                        <a:rPr lang="ru-RU" sz="1200">
                          <a:effectLst/>
                        </a:rPr>
                        <a:t>Нет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791" marR="44791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630555" algn="l"/>
                        </a:tabLst>
                      </a:pPr>
                      <a:r>
                        <a:rPr lang="ru-RU" sz="1200" dirty="0">
                          <a:effectLst/>
                        </a:rPr>
                        <a:t>Только администратор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791" marR="44791" marT="0" marB="0" anchor="ctr"/>
                </a:tc>
                <a:extLst>
                  <a:ext uri="{0D108BD9-81ED-4DB2-BD59-A6C34878D82A}">
                    <a16:rowId xmlns:a16="http://schemas.microsoft.com/office/drawing/2014/main" val="5047573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51124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DDF8B1-6060-436A-8D02-7E11BE1E6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Платформа 1С Предприятие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3DC509A-BEDD-47ED-BB07-4E08F70AC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6071" y="1729811"/>
            <a:ext cx="6928276" cy="412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Использование платформы "1С:Предприятие 8.3" обеспечивает </a:t>
            </a:r>
            <a:r>
              <a:rPr lang="ru-RU" b="1" dirty="0"/>
              <a:t>эффективную</a:t>
            </a:r>
            <a:r>
              <a:rPr lang="ru-RU" dirty="0"/>
              <a:t> работу и </a:t>
            </a:r>
            <a:r>
              <a:rPr lang="ru-RU" b="1" dirty="0"/>
              <a:t>надежное</a:t>
            </a:r>
            <a:r>
              <a:rPr lang="ru-RU" dirty="0"/>
              <a:t> хранение информации при работе сотен пользователей. Современная трехуровневая архитектура системы дает сохранение </a:t>
            </a:r>
            <a:r>
              <a:rPr lang="ru-RU" b="1" dirty="0"/>
              <a:t>высокой</a:t>
            </a:r>
            <a:r>
              <a:rPr lang="ru-RU" dirty="0"/>
              <a:t> </a:t>
            </a:r>
            <a:r>
              <a:rPr lang="ru-RU" b="1" dirty="0"/>
              <a:t>производительности</a:t>
            </a:r>
            <a:r>
              <a:rPr lang="ru-RU" dirty="0"/>
              <a:t> при значительном росте нагрузки на систему и объемов обрабатываемых данных. Высокая </a:t>
            </a:r>
            <a:r>
              <a:rPr lang="ru-RU" b="1" dirty="0"/>
              <a:t>отказоустойчивость</a:t>
            </a:r>
            <a:r>
              <a:rPr lang="ru-RU" dirty="0"/>
              <a:t> достигается за счет резервирования кластера серверов, а оптимизация быстродействия ‑ за счет динамической балансировка нагрузки между кластерами. Использование СУБД мировых лидеров (MS SQL, IBM DB2, </a:t>
            </a:r>
            <a:r>
              <a:rPr lang="ru-RU" dirty="0" err="1"/>
              <a:t>Oracle</a:t>
            </a:r>
            <a:r>
              <a:rPr lang="ru-RU" dirty="0"/>
              <a:t> </a:t>
            </a:r>
            <a:r>
              <a:rPr lang="ru-RU" dirty="0" err="1"/>
              <a:t>Database</a:t>
            </a:r>
            <a:r>
              <a:rPr lang="ru-RU" dirty="0"/>
              <a:t>) позволяет строить </a:t>
            </a:r>
            <a:r>
              <a:rPr lang="ru-RU" b="1" dirty="0"/>
              <a:t>высокопроизводительные</a:t>
            </a:r>
            <a:r>
              <a:rPr lang="ru-RU" dirty="0"/>
              <a:t> и </a:t>
            </a:r>
            <a:r>
              <a:rPr lang="ru-RU" b="1" dirty="0"/>
              <a:t>надежные</a:t>
            </a:r>
            <a:r>
              <a:rPr lang="ru-RU" dirty="0"/>
              <a:t> информационные системы</a:t>
            </a:r>
          </a:p>
          <a:p>
            <a:endParaRPr lang="ru-RU" dirty="0"/>
          </a:p>
        </p:txBody>
      </p:sp>
      <p:pic>
        <p:nvPicPr>
          <p:cNvPr id="4" name="Picture 4" descr="http://remoteuchet.ru/wp-content/uploads/2013/10/box-1s-predprijatije-8.png">
            <a:extLst>
              <a:ext uri="{FF2B5EF4-FFF2-40B4-BE49-F238E27FC236}">
                <a16:creationId xmlns:a16="http://schemas.microsoft.com/office/drawing/2014/main" id="{835EFEB8-3D37-4C42-ADFB-3B641BEA43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7782" y="1554622"/>
            <a:ext cx="4034575" cy="4478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96344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49D86C-8636-4652-9DAD-E776FD71F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Инфологическая модель БД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4CABA1CF-DBA8-4F60-8219-3FD488B7A413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94303" y="1378930"/>
            <a:ext cx="6203394" cy="5305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0743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D8A71F-4105-4113-BE7E-D5EAB8DF5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Варианты взаимодействия прикладных объектов</a:t>
            </a:r>
            <a:br>
              <a:rPr lang="ru-RU" dirty="0"/>
            </a:br>
            <a:endParaRPr lang="ru-RU" dirty="0"/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01DBD09A-DC89-4D60-A249-98DB737737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24269" y="1732288"/>
            <a:ext cx="6343462" cy="4939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5423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BE4648-1565-4CE3-AC9C-7247F24D8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Структура метаданных информационной системы</a:t>
            </a:r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64D60DE0-77B0-67A5-1813-109FE40C70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42871" y="2133600"/>
            <a:ext cx="5408083" cy="3778250"/>
          </a:xfrm>
        </p:spPr>
      </p:pic>
    </p:spTree>
    <p:extLst>
      <p:ext uri="{BB962C8B-B14F-4D97-AF65-F5344CB8AC3E}">
        <p14:creationId xmlns:p14="http://schemas.microsoft.com/office/powerpoint/2010/main" val="9433263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854960-77B9-49A0-900A-FD3F9D028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8205" y="482441"/>
            <a:ext cx="8911687" cy="1280890"/>
          </a:xfrm>
        </p:spPr>
        <p:txBody>
          <a:bodyPr/>
          <a:lstStyle/>
          <a:p>
            <a:pPr algn="ctr"/>
            <a:r>
              <a:rPr lang="ru-RU" dirty="0"/>
              <a:t>Справочники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A5CD5350-3C80-4562-A8C1-8731C2E6E77E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61888" y="1438141"/>
            <a:ext cx="5604324" cy="330128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BB97559-4807-49D7-AB96-6A2B1D05D94A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3293837" y="4914364"/>
            <a:ext cx="5940425" cy="178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37178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F57E17-106C-459B-905D-3B9EBB31B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Документ «Внесение показателей»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5E1D4B2F-8E4A-451A-B7ED-4544B23B94F9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24146" y="1905000"/>
            <a:ext cx="6480466" cy="418821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B7CB6F4-AE42-4487-AF0E-B4CD14772EF6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800752" y="2849115"/>
            <a:ext cx="2183372" cy="270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1602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5AA7A8-5EC5-42B9-A360-1EF6305DA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Документ «Формирование выборки»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02658B3-0B5E-4843-BFB4-331D90B9AA5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592925" y="2366055"/>
            <a:ext cx="2562542" cy="3018105"/>
          </a:xfrm>
          <a:prstGeom prst="rect">
            <a:avLst/>
          </a:prstGeom>
        </p:spPr>
      </p:pic>
      <p:pic>
        <p:nvPicPr>
          <p:cNvPr id="7" name="Объект 6">
            <a:extLst>
              <a:ext uri="{FF2B5EF4-FFF2-40B4-BE49-F238E27FC236}">
                <a16:creationId xmlns:a16="http://schemas.microsoft.com/office/drawing/2014/main" id="{3AC5C087-46F7-4BA7-851F-5EA2657777A9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635338" y="1567977"/>
            <a:ext cx="5144279" cy="4764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0590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B39852-EF78-4AAC-A71D-D4E7F5DFA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2621" y="224865"/>
            <a:ext cx="8911687" cy="1280890"/>
          </a:xfrm>
        </p:spPr>
        <p:txBody>
          <a:bodyPr/>
          <a:lstStyle/>
          <a:p>
            <a:pPr algn="ctr"/>
            <a:r>
              <a:rPr lang="ru-RU" dirty="0"/>
              <a:t>Документ «Анализ выборки»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E965C74-CFD4-4FDC-AE01-B4A59D9BBD4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624351" y="1457078"/>
            <a:ext cx="2267923" cy="4525984"/>
          </a:xfrm>
          <a:prstGeom prst="rect">
            <a:avLst/>
          </a:prstGeom>
        </p:spPr>
      </p:pic>
      <p:pic>
        <p:nvPicPr>
          <p:cNvPr id="5" name="Объект 4">
            <a:extLst>
              <a:ext uri="{FF2B5EF4-FFF2-40B4-BE49-F238E27FC236}">
                <a16:creationId xmlns:a16="http://schemas.microsoft.com/office/drawing/2014/main" id="{EB047E7E-EC46-4FD1-BCA0-A5EFDFE8E23C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142705" y="1668350"/>
            <a:ext cx="6298736" cy="4103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1856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4E3FF0-4A6C-426E-9663-E7BFC6261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4667" y="327896"/>
            <a:ext cx="8911687" cy="1280890"/>
          </a:xfrm>
        </p:spPr>
        <p:txBody>
          <a:bodyPr/>
          <a:lstStyle/>
          <a:p>
            <a:pPr algn="ctr"/>
            <a:r>
              <a:rPr lang="ru-RU" dirty="0"/>
              <a:t>Результативная форма анализа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2ED40346-BB24-4809-AEA8-660F5551D6A8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73545" y="1764404"/>
            <a:ext cx="4402315" cy="3911097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0529012-DFD5-4003-BF58-1ADFC7B4F0BE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570511" y="2623610"/>
            <a:ext cx="5202273" cy="2192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47418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9D142D-D11D-4592-944D-CD6ADD8E0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8130" y="392291"/>
            <a:ext cx="8911687" cy="1280890"/>
          </a:xfrm>
        </p:spPr>
        <p:txBody>
          <a:bodyPr/>
          <a:lstStyle/>
          <a:p>
            <a:pPr algn="ctr"/>
            <a:r>
              <a:rPr lang="ru-RU" dirty="0"/>
              <a:t>Разработанные отчёты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66273428-2CD6-458F-9918-AD4BE4E30257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68130" y="3377484"/>
            <a:ext cx="3927870" cy="297827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EEC47A2-9102-4671-9803-846B92B622B0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739944" y="3251503"/>
            <a:ext cx="3915900" cy="310425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340371B-D1B5-4F6C-B134-210ADAE3BF85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3460637" y="1388158"/>
            <a:ext cx="5940425" cy="174561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164991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0423AB-1D4A-4572-9E1E-062F89F64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Оценка эффективности проекта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C759B173-BB0B-4AF1-8DA3-FB3E8540FC7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12884126"/>
              </p:ext>
            </p:extLst>
          </p:nvPr>
        </p:nvGraphicFramePr>
        <p:xfrm>
          <a:off x="2047740" y="2097944"/>
          <a:ext cx="8911687" cy="266211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959838">
                  <a:extLst>
                    <a:ext uri="{9D8B030D-6E8A-4147-A177-3AD203B41FA5}">
                      <a16:colId xmlns:a16="http://schemas.microsoft.com/office/drawing/2014/main" val="3276403169"/>
                    </a:ext>
                  </a:extLst>
                </a:gridCol>
                <a:gridCol w="2064613">
                  <a:extLst>
                    <a:ext uri="{9D8B030D-6E8A-4147-A177-3AD203B41FA5}">
                      <a16:colId xmlns:a16="http://schemas.microsoft.com/office/drawing/2014/main" val="117300763"/>
                    </a:ext>
                  </a:extLst>
                </a:gridCol>
                <a:gridCol w="1887236">
                  <a:extLst>
                    <a:ext uri="{9D8B030D-6E8A-4147-A177-3AD203B41FA5}">
                      <a16:colId xmlns:a16="http://schemas.microsoft.com/office/drawing/2014/main" val="2845432301"/>
                    </a:ext>
                  </a:extLst>
                </a:gridCol>
              </a:tblGrid>
              <a:tr h="76911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Показатель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До автоматизации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После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12104883"/>
                  </a:ext>
                </a:extLst>
              </a:tr>
              <a:tr h="769111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Трудозатраты на выбор поставщика, чел/час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8,0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3,2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27517682"/>
                  </a:ext>
                </a:extLst>
              </a:tr>
              <a:tr h="37463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Тарифная ставка сотрудников, руб/час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150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150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03703880"/>
                  </a:ext>
                </a:extLst>
              </a:tr>
              <a:tr h="37463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Стоимость труда, сутки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1200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960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9734128"/>
                  </a:ext>
                </a:extLst>
              </a:tr>
              <a:tr h="37463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Стоимость труда, год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296 400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118 560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39700515"/>
                  </a:ext>
                </a:extLst>
              </a:tr>
            </a:tbl>
          </a:graphicData>
        </a:graphic>
      </p:graphicFrame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8900631C-5D27-47A7-81CD-3F7AD9DF4261}"/>
              </a:ext>
            </a:extLst>
          </p:cNvPr>
          <p:cNvSpPr/>
          <p:nvPr/>
        </p:nvSpPr>
        <p:spPr>
          <a:xfrm>
            <a:off x="2783234" y="5137527"/>
            <a:ext cx="6625532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2400" dirty="0"/>
              <a:t>Экономическая эффективность:</a:t>
            </a:r>
          </a:p>
          <a:p>
            <a:r>
              <a:rPr lang="ru-RU" sz="2400" dirty="0"/>
              <a:t>296 400,00 - 118 560,00 = 177 840,00 рублей</a:t>
            </a:r>
          </a:p>
        </p:txBody>
      </p:sp>
    </p:spTree>
    <p:extLst>
      <p:ext uri="{BB962C8B-B14F-4D97-AF65-F5344CB8AC3E}">
        <p14:creationId xmlns:p14="http://schemas.microsoft.com/office/powerpoint/2010/main" val="11702350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774700" y="800100"/>
            <a:ext cx="8661400" cy="799636"/>
          </a:xfrm>
        </p:spPr>
        <p:txBody>
          <a:bodyPr>
            <a:normAutofit fontScale="90000"/>
          </a:bodyPr>
          <a:lstStyle/>
          <a:p>
            <a:pPr algn="ctr"/>
            <a:r>
              <a:rPr lang="ru-RU" sz="4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Результаты выполнения выпускной квалификационной работы</a:t>
            </a:r>
          </a:p>
        </p:txBody>
      </p:sp>
      <p:sp>
        <p:nvSpPr>
          <p:cNvPr id="4" name="Подзаголовок 3"/>
          <p:cNvSpPr>
            <a:spLocks noGrp="1"/>
          </p:cNvSpPr>
          <p:nvPr>
            <p:ph type="subTitle" idx="1"/>
          </p:nvPr>
        </p:nvSpPr>
        <p:spPr>
          <a:xfrm>
            <a:off x="1955174" y="1877094"/>
            <a:ext cx="8281652" cy="4584701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</a:rPr>
              <a:t>В результате выполнения выпускной квалификационной работы была рассмотрена и проанализирована деятельность отдела закупок ООО «Авангард», разработано и внедрено проектное решение по автоматизации процесса оценки благонадёжности поставщиков.</a:t>
            </a:r>
          </a:p>
          <a:p>
            <a:pPr algn="just"/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</a:rPr>
              <a:t>В результате выполнения работы поставлены и успешно решены следующие задачи: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</a:rPr>
              <a:t>изучены методы и модели анализа данных для оценки благонадежности поставщика товаров;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</a:rPr>
              <a:t>описана характеристика деятельности и организационную структуру управления ООО «Авангард»;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</a:rPr>
              <a:t>проведен анализ бизнес процесса закупки товаров и выбора поставщика и сформировать предложения по автоматизации;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</a:rPr>
              <a:t>проведен сравнительный анализ рынка аналогичного ПО;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</a:rPr>
              <a:t>разработана информационная системы для рассматриваемого бизнес процесса;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</a:rPr>
              <a:t>дана оценка экономической эффективность проекта.</a:t>
            </a:r>
          </a:p>
          <a:p>
            <a:pPr algn="l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976550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770467" y="2844800"/>
            <a:ext cx="8805334" cy="939336"/>
          </a:xfrm>
        </p:spPr>
        <p:txBody>
          <a:bodyPr>
            <a:noAutofit/>
          </a:bodyPr>
          <a:lstStyle/>
          <a:p>
            <a:pPr algn="l"/>
            <a:r>
              <a:rPr lang="ru-RU" sz="6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1160710269"/>
      </p:ext>
    </p:extLst>
  </p:cSld>
  <p:clrMapOvr>
    <a:masterClrMapping/>
  </p:clrMapOvr>
</p:sld>
</file>

<file path=ppt/theme/theme1.xml><?xml version="1.0" encoding="utf-8"?>
<a:theme xmlns:a="http://schemas.openxmlformats.org/drawingml/2006/main" name="Легкий дым">
  <a:themeElements>
    <a:clrScheme name="Легкий дым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Легкий дым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Легкий дым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879</TotalTime>
  <Words>538</Words>
  <Application>Microsoft Office PowerPoint</Application>
  <PresentationFormat>Широкоэкранный</PresentationFormat>
  <Paragraphs>108</Paragraphs>
  <Slides>18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4" baseType="lpstr">
      <vt:lpstr>Arial</vt:lpstr>
      <vt:lpstr>Calibri</vt:lpstr>
      <vt:lpstr>Century Gothic</vt:lpstr>
      <vt:lpstr>Times New Roman</vt:lpstr>
      <vt:lpstr>Wingdings 3</vt:lpstr>
      <vt:lpstr>Легкий дым</vt:lpstr>
      <vt:lpstr>Презентация PowerPoint</vt:lpstr>
      <vt:lpstr>Презентация PowerPoint</vt:lpstr>
      <vt:lpstr>Описание и анализ бизнес процесса закупки товаров</vt:lpstr>
      <vt:lpstr>Декомпозиция блока А2  «Выбор поставщика»</vt:lpstr>
      <vt:lpstr>Сравнительный анализ готовых решений </vt:lpstr>
      <vt:lpstr>Платформа 1С Предприятие</vt:lpstr>
      <vt:lpstr>Инфологическая модель БД</vt:lpstr>
      <vt:lpstr>Варианты взаимодействия прикладных объектов </vt:lpstr>
      <vt:lpstr>Структура метаданных информационной системы</vt:lpstr>
      <vt:lpstr>Справочники</vt:lpstr>
      <vt:lpstr>Документ «Внесение показателей»</vt:lpstr>
      <vt:lpstr>Документ «Формирование выборки»</vt:lpstr>
      <vt:lpstr>Документ «Анализ выборки»</vt:lpstr>
      <vt:lpstr>Результативная форма анализа</vt:lpstr>
      <vt:lpstr>Разработанные отчёты</vt:lpstr>
      <vt:lpstr>Оценка эффективности проекта</vt:lpstr>
      <vt:lpstr>Результаты выполнения выпускной квалификационной работы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Дипломная работа  «Разработка информационной системы сопровождения основной профессиональной образовательной программы»</dc:title>
  <dc:creator>Marina</dc:creator>
  <cp:lastModifiedBy>Артём Андриянов</cp:lastModifiedBy>
  <cp:revision>44</cp:revision>
  <dcterms:created xsi:type="dcterms:W3CDTF">2017-06-06T08:09:15Z</dcterms:created>
  <dcterms:modified xsi:type="dcterms:W3CDTF">2025-10-29T09:50:07Z</dcterms:modified>
</cp:coreProperties>
</file>