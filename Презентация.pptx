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18.xml.rels" ContentType="application/vnd.openxmlformats-package.relationships+xml"/>
  <Override PartName="/ppt/notesSlides/notesSlide18.xml" ContentType="application/vnd.openxmlformats-officedocument.presentationml.notesSlide+xml"/>
  <Override PartName="/ppt/media/image1.png" ContentType="image/png"/>
  <Override PartName="/ppt/media/image2.svg" ContentType="image/svg"/>
  <Override PartName="/ppt/media/image5.png" ContentType="image/png"/>
  <Override PartName="/ppt/media/image3.png" ContentType="image/png"/>
  <Override PartName="/ppt/media/image15.png" ContentType="image/png"/>
  <Override PartName="/ppt/media/image8.svg" ContentType="image/svg"/>
  <Override PartName="/ppt/media/image4.svg" ContentType="image/svg"/>
  <Override PartName="/ppt/media/image11.png" ContentType="image/png"/>
  <Override PartName="/ppt/media/image7.png" ContentType="image/png"/>
  <Override PartName="/ppt/media/image6.png" ContentType="image/png"/>
  <Override PartName="/ppt/media/image9.png" ContentType="image/png"/>
  <Override PartName="/ppt/media/image10.svg" ContentType="image/svg"/>
  <Override PartName="/ppt/media/image12.png" ContentType="image/png"/>
  <Override PartName="/ppt/media/image13.png" ContentType="image/png"/>
  <Override PartName="/ppt/media/image14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</p:sldMasterIdLst>
  <p:notesMasterIdLst>
    <p:notesMasterId r:id="rId25"/>
  </p:notes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dt" idx="4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ftr" idx="4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 type="sldNum" idx="4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F00880D-44EE-43A1-8CD7-825C6F8DC4BA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Уважаемый председатель и члены государственной экзаменационной комиссии!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Вашему вниманию представляю свою выпускную квалификационную работу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F19B5C-A6A9-42AC-A12A-B6A907C5272D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Спасибо за внимание, готов ответить на ваши вопросы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A21ED0-1468-42E7-9A31-3EE73796C51A}" type="slidenum">
              <a:rPr b="0" lang="ru-RU" sz="12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6FDBDE-9F58-4E05-85C2-7CAB36F563CD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Иллюстрация процесс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5A601D01-31BC-4CF8-9182-123FFE4D8E0E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D3B8813-765E-42F0-BE86-32D0D6EF29D4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699BA9A-39B0-40F5-BC12-6A8DDEBCEDD7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6A38912-AB9F-40EA-A54C-E89D7C658993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к_вид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8B92B19-71DE-407B-8792-19A3B85A4C56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Цифры для определения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2A541A9-0CC3-4165-92BC-16D56E28F658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Цифры для определения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A4B7E115-26E6-43C7-9487-79010F936AEE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екст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70F5452-F70B-47EC-95C8-A65075175D89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екст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4983EBD-D3B4-4097-879D-43AE706A616C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аблица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0ADC5CF0-FECD-4778-81C5-D790939148AB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Таблица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AB1EABCC-29B3-4D6A-9C67-A6902C4FFDAB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E603371-2BA6-4BDE-81F4-87CCFDFE2753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D6D221F5-EC16-40B7-BE65-56A2B405DB99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B1466FB-C86C-4314-827E-6E25D7FA153C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657763D-51A0-4520-BB57-91E329A62781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D78F6061-ED32-4C96-B905-FD908CAA5620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91ED97D1-DA7E-43AE-9EB0-C5A303B73BEA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МТУСИ_Графическое изображение_вид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C054E37-663C-48F9-8610-6723DA2592E9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4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DF24E04C-EDF6-4410-AEE8-7BFA479D79E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5.png"/><Relationship Id="rId9" Type="http://schemas.openxmlformats.org/officeDocument/2006/relationships/image" Target="../media/image6.png"/><Relationship Id="rId10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5.pn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5.pn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1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2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3" name="Прямоугольник: скругленные углы 9"/>
          <p:cNvSpPr/>
          <p:nvPr/>
        </p:nvSpPr>
        <p:spPr>
          <a:xfrm>
            <a:off x="609120" y="240480"/>
            <a:ext cx="10970280" cy="6301080"/>
          </a:xfrm>
          <a:prstGeom prst="roundRect">
            <a:avLst>
              <a:gd name="adj" fmla="val 20444"/>
            </a:avLst>
          </a:prstGeom>
          <a:blipFill rotWithShape="0">
            <a:blip r:embed="rId8"/>
            <a:srcRect/>
            <a:stretch/>
          </a:blipFill>
          <a:ln w="38100">
            <a:noFill/>
          </a:ln>
          <a:effectLst>
            <a:glow rad="63360">
              <a:srgbClr val="352379">
                <a:alpha val="2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7000"/>
              </a:lnSpc>
              <a:spcAft>
                <a:spcPts val="799"/>
              </a:spcAft>
            </a:pPr>
            <a:endParaRPr b="0" lang="ru-RU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4" name="Рисунок 10" descr=""/>
          <p:cNvPicPr/>
          <p:nvPr/>
        </p:nvPicPr>
        <p:blipFill>
          <a:blip r:embed="rId9"/>
          <a:stretch/>
        </p:blipFill>
        <p:spPr>
          <a:xfrm>
            <a:off x="609120" y="240480"/>
            <a:ext cx="4125600" cy="208332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10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ftr" idx="1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2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B38D43-EFC8-4AB8-B137-93017F00253C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8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1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1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ftr" idx="3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4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6B1F20-9193-4076-AA9D-3A042A59D9F6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8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1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1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ftr" idx="5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6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F61C58-6332-4CDF-85A1-9C2832B8A922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8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2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2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25" name="PlaceHolder 1"/>
          <p:cNvSpPr>
            <a:spLocks noGrp="1"/>
          </p:cNvSpPr>
          <p:nvPr>
            <p:ph type="ftr" idx="7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8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94A231-7226-47E8-8587-508B27B40591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8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2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2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ftr" idx="9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10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650A27-2B51-4BFC-B38D-BDF8A1C472ED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8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3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3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ftr" idx="11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12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160BFD-EFBD-410F-948D-DED124BD0913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8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3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3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ftr" idx="13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4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A04601-C6EF-45BE-A000-82888EE84F69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8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4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4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ftr" idx="15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16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48B1B5-71B9-4B33-94E2-1D97519170F5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8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48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49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ftr" idx="17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18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C866CA-3238-44F8-B86F-81D025A3D8EA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8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53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54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ftr" idx="19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20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5D6F35-1569-416C-8C15-E683993C28A5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8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6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6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62" name="Прямоугольник: скругленные углы 9"/>
          <p:cNvSpPr/>
          <p:nvPr/>
        </p:nvSpPr>
        <p:spPr>
          <a:xfrm>
            <a:off x="609120" y="240480"/>
            <a:ext cx="10970280" cy="6301080"/>
          </a:xfrm>
          <a:prstGeom prst="roundRect">
            <a:avLst>
              <a:gd name="adj" fmla="val 20444"/>
            </a:avLst>
          </a:prstGeom>
          <a:blipFill rotWithShape="0">
            <a:blip r:embed="rId8"/>
            <a:srcRect/>
            <a:stretch/>
          </a:blipFill>
          <a:ln w="38100">
            <a:noFill/>
          </a:ln>
          <a:effectLst>
            <a:glow rad="63360">
              <a:srgbClr val="352379">
                <a:alpha val="2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7000"/>
              </a:lnSpc>
              <a:spcAft>
                <a:spcPts val="799"/>
              </a:spcAft>
            </a:pPr>
            <a:endParaRPr b="0" lang="ru-RU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63" name="Рисунок 8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265040" y="827640"/>
            <a:ext cx="2794320" cy="8586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11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6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6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67" name="PlaceHolder 1"/>
          <p:cNvSpPr>
            <a:spLocks noGrp="1"/>
          </p:cNvSpPr>
          <p:nvPr>
            <p:ph type="ftr" idx="21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ldNum" idx="22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B9F55C-E687-46D7-9D53-2F37BA168D27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8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7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7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72" name="PlaceHolder 1"/>
          <p:cNvSpPr>
            <a:spLocks noGrp="1"/>
          </p:cNvSpPr>
          <p:nvPr>
            <p:ph type="ftr" idx="23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ldNum" idx="24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5EF9DD-56BD-4ABB-85FD-C3B69F186B65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8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7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7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77" name="PlaceHolder 1"/>
          <p:cNvSpPr>
            <a:spLocks noGrp="1"/>
          </p:cNvSpPr>
          <p:nvPr>
            <p:ph type="ftr" idx="25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ldNum" idx="26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BE3EAC-972B-4B80-AC43-26CC64EBFFE5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8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8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8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82" name="Прямоугольник: скругленные углы 9"/>
          <p:cNvSpPr/>
          <p:nvPr/>
        </p:nvSpPr>
        <p:spPr>
          <a:xfrm>
            <a:off x="609120" y="240480"/>
            <a:ext cx="10970280" cy="6301080"/>
          </a:xfrm>
          <a:prstGeom prst="roundRect">
            <a:avLst>
              <a:gd name="adj" fmla="val 20444"/>
            </a:avLst>
          </a:prstGeom>
          <a:blipFill rotWithShape="0">
            <a:blip r:embed="rId8"/>
            <a:srcRect/>
            <a:stretch/>
          </a:blipFill>
          <a:ln w="38100">
            <a:noFill/>
          </a:ln>
          <a:effectLst>
            <a:glow rad="63360">
              <a:srgbClr val="352379">
                <a:alpha val="2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7000"/>
              </a:lnSpc>
              <a:spcAft>
                <a:spcPts val="799"/>
              </a:spcAft>
            </a:pPr>
            <a:endParaRPr b="0" lang="ru-RU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83" name="Рисунок 2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820800" y="368280"/>
            <a:ext cx="3412800" cy="17395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11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8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8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ftr" idx="27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8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B19105-9D34-4560-B333-88F09D5BBAA0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8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9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9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ftr" idx="29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sldNum" idx="30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B7F20C-4B48-48BE-8E46-18CE3D2CA740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8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9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9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ftr" idx="31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32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20C55C-7C49-49D3-A2FA-E38F51041968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8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10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10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102" name="PlaceHolder 1"/>
          <p:cNvSpPr>
            <a:spLocks noGrp="1"/>
          </p:cNvSpPr>
          <p:nvPr>
            <p:ph type="ftr" idx="33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34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4CBB26-B56B-4484-A3F8-9508A4844C96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8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105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106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ftr" idx="35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36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4550F7-47ED-4336-B6A6-BAC367CA938B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8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Рисунок 15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760040" y="142200"/>
            <a:ext cx="949320" cy="290160"/>
          </a:xfrm>
          <a:prstGeom prst="rect">
            <a:avLst/>
          </a:prstGeom>
          <a:ln w="0">
            <a:noFill/>
          </a:ln>
        </p:spPr>
      </p:pic>
      <p:pic>
        <p:nvPicPr>
          <p:cNvPr id="110" name="Рисунок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921320" y="0"/>
            <a:ext cx="1269000" cy="1370160"/>
          </a:xfrm>
          <a:prstGeom prst="rect">
            <a:avLst/>
          </a:prstGeom>
          <a:ln w="0">
            <a:noFill/>
          </a:ln>
        </p:spPr>
      </p:pic>
      <p:pic>
        <p:nvPicPr>
          <p:cNvPr id="111" name="Рисунок 10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 flipH="1" rot="16200000">
            <a:off x="47520" y="5535000"/>
            <a:ext cx="1269000" cy="1370160"/>
          </a:xfrm>
          <a:prstGeom prst="rect">
            <a:avLst/>
          </a:prstGeom>
          <a:ln w="0">
            <a:noFill/>
          </a:ln>
        </p:spPr>
      </p:pic>
      <p:sp>
        <p:nvSpPr>
          <p:cNvPr id="112" name="PlaceHolder 1"/>
          <p:cNvSpPr>
            <a:spLocks noGrp="1"/>
          </p:cNvSpPr>
          <p:nvPr>
            <p:ph type="ftr" idx="37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sldNum" idx="38"/>
          </p:nvPr>
        </p:nvSpPr>
        <p:spPr>
          <a:xfrm>
            <a:off x="8966160" y="6352560"/>
            <a:ext cx="2739960" cy="36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0A7511-A81B-46FE-A236-92614CF9FA0F}" type="slidenum">
              <a:rPr b="1" lang="ru-RU" sz="1600" spc="-1" strike="noStrike">
                <a:solidFill>
                  <a:schemeClr val="dk1">
                    <a:tint val="75000"/>
                  </a:schemeClr>
                </a:solidFill>
                <a:latin typeface="Montserrat"/>
              </a:rPr>
              <a:t>&lt;номер&gt;</a:t>
            </a:fld>
            <a:endParaRPr b="0" lang="ru-RU" sz="16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8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221040"/>
            <a:ext cx="10972080" cy="124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ftr" idx="39"/>
          </p:nvPr>
        </p:nvSpPr>
        <p:spPr>
          <a:xfrm>
            <a:off x="4038480" y="6356520"/>
            <a:ext cx="410904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40"/>
          </p:nvPr>
        </p:nvSpPr>
        <p:spPr>
          <a:xfrm>
            <a:off x="8610480" y="6356520"/>
            <a:ext cx="273744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27D0BC-3E15-4B17-9DFF-4FC9019FB36A}" type="slidenum">
              <a:rPr b="0" lang="ru-RU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&lt;номер&gt;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dt" idx="41"/>
          </p:nvPr>
        </p:nvSpPr>
        <p:spPr>
          <a:xfrm>
            <a:off x="838080" y="6356520"/>
            <a:ext cx="273744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1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/>
          </p:nvPr>
        </p:nvSpPr>
        <p:spPr>
          <a:xfrm>
            <a:off x="3759120" y="5218920"/>
            <a:ext cx="7820280" cy="74340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</a:rPr>
              <a:t>Научный руководитель: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</a:rPr>
              <a:t>к.э.н, доц. кафедры «КИС», Андреев Илья Александрович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</a:rPr>
              <a:t>Научный консультант: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spcAft>
                <a:spcPts val="516"/>
              </a:spcAft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  <a:ea typeface="Microsoft YaHei"/>
              </a:rPr>
              <a:t>ст. преподаватель Колобенина Дарья Сергеевна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3759120" y="4242240"/>
            <a:ext cx="7820280" cy="77076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rmAutofit fontScale="83888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Студент: Альвицов Данил Сергеевич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Группа: БВТ2204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title"/>
          </p:nvPr>
        </p:nvSpPr>
        <p:spPr>
          <a:xfrm>
            <a:off x="3600000" y="1620000"/>
            <a:ext cx="6920280" cy="184932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000" spc="-1" strike="noStrike">
                <a:solidFill>
                  <a:schemeClr val="dk1"/>
                </a:solidFill>
                <a:latin typeface="Montserrat SemiBold"/>
              </a:rPr>
              <a:t>Информационная система комплексной оценки надежности поставщиков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6600" cy="9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Актуальность темы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180000" y="920520"/>
            <a:ext cx="8459280" cy="39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332974"/>
                </a:solidFill>
                <a:latin typeface="Montserrat"/>
              </a:rPr>
              <a:t>Основные проблемы в компании АО «РТК»: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Проверка одного поставщика в компании занимает часы или дни (ручной сбор данных)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Субъективность оценки — каждый сотрудник оценивает по-своему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Риск ошибок → выбор ненадёжного поставщика → финансовые потери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332974"/>
                </a:solidFill>
                <a:latin typeface="Montserrat"/>
              </a:rPr>
              <a:t>Моё приложение: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Сокращает время проверки до 1-2 минут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Даёт объективную оценку на основе ML-модели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60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Обеспечивает единый стандарт для всех поставщиков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7949B53-2FE1-4B3C-ABA2-12A86E6B93B4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8"/>
          <p:cNvSpPr/>
          <p:nvPr/>
        </p:nvSpPr>
        <p:spPr>
          <a:xfrm>
            <a:off x="360" y="360"/>
            <a:ext cx="1122660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Цель работы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360000" y="1002960"/>
            <a:ext cx="1077192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DejaVu Sans"/>
              </a:rPr>
              <a:t>Разработка информационной системы оценки благонадежности поставщика товаров </a:t>
            </a: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Times New Roman"/>
              </a:rPr>
              <a:t>для повышения качества и эффективности труда сотрудников </a:t>
            </a: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DejaVu Sans"/>
              </a:rPr>
              <a:t>организации АО «РТК»</a:t>
            </a: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Times New Roman"/>
              </a:rPr>
              <a:t>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10"/>
          <p:cNvSpPr/>
          <p:nvPr/>
        </p:nvSpPr>
        <p:spPr>
          <a:xfrm>
            <a:off x="0" y="2318040"/>
            <a:ext cx="672660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Times New Roman"/>
              </a:rPr>
              <a:t>Объект исследования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387360" y="3060000"/>
            <a:ext cx="10771920" cy="59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2000" spc="-1" strike="noStrike">
                <a:solidFill>
                  <a:srgbClr val="332974"/>
                </a:solidFill>
                <a:latin typeface="Montserrat"/>
                <a:ea typeface="Times New Roman"/>
              </a:rPr>
              <a:t>Торговая организация АО "РТК".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11"/>
          <p:cNvSpPr/>
          <p:nvPr/>
        </p:nvSpPr>
        <p:spPr>
          <a:xfrm>
            <a:off x="0" y="3834360"/>
            <a:ext cx="1122660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Times New Roman"/>
              </a:rPr>
              <a:t>Предмет исследования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454680" y="4602960"/>
            <a:ext cx="1077192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-RU" sz="2000" spc="-1" strike="noStrike">
                <a:solidFill>
                  <a:srgbClr val="332974"/>
                </a:solidFill>
                <a:latin typeface="Montserrat"/>
              </a:rPr>
              <a:t>Закупочная деятельность организации, в частности процесс оценки благонадежности и выбора поставщика товаров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62BA560-C587-40A6-841E-4694A6714FF0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6"/>
          <p:cNvSpPr/>
          <p:nvPr/>
        </p:nvSpPr>
        <p:spPr>
          <a:xfrm>
            <a:off x="0" y="0"/>
            <a:ext cx="11157480" cy="12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Описание и анализ бизнес процесса закупки товаров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1"/>
          <a:stretch/>
        </p:blipFill>
        <p:spPr>
          <a:xfrm>
            <a:off x="6026760" y="1620000"/>
            <a:ext cx="5670720" cy="3957480"/>
          </a:xfrm>
          <a:prstGeom prst="rect">
            <a:avLst/>
          </a:prstGeom>
          <a:ln w="0">
            <a:noFill/>
          </a:ln>
        </p:spPr>
      </p:pic>
      <p:pic>
        <p:nvPicPr>
          <p:cNvPr id="139" name="" descr=""/>
          <p:cNvPicPr/>
          <p:nvPr/>
        </p:nvPicPr>
        <p:blipFill>
          <a:blip r:embed="rId2"/>
          <a:stretch/>
        </p:blipFill>
        <p:spPr>
          <a:xfrm>
            <a:off x="720000" y="1620000"/>
            <a:ext cx="5472360" cy="395784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EC0828A-E780-46CB-ADB5-5ADB7FAAE45F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7"/>
          <p:cNvSpPr/>
          <p:nvPr/>
        </p:nvSpPr>
        <p:spPr>
          <a:xfrm>
            <a:off x="3960" y="-180000"/>
            <a:ext cx="12055320" cy="96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Декомпозиция блока «Выбор поставщика»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1" name="" descr=""/>
          <p:cNvPicPr/>
          <p:nvPr/>
        </p:nvPicPr>
        <p:blipFill>
          <a:blip r:embed="rId1"/>
          <a:stretch/>
        </p:blipFill>
        <p:spPr>
          <a:xfrm>
            <a:off x="2160000" y="1080000"/>
            <a:ext cx="7557480" cy="534348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2F0DD78-B0DD-4E16-8C72-313A8300CFD7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6600" cy="9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Выбранные технические решения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141480" y="1088640"/>
            <a:ext cx="5615640" cy="23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332974"/>
                </a:solidFill>
                <a:latin typeface="Montserrat"/>
              </a:rPr>
              <a:t>1. Платформа клиентского приложения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    </a:t>
            </a: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1С:Предприятие 8.3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332974"/>
                </a:solidFill>
                <a:latin typeface="Montserrat"/>
              </a:rPr>
              <a:t>2. Язык и среда разработки ML-сервиса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    </a:t>
            </a: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Python 3.11+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332974"/>
                </a:solidFill>
                <a:latin typeface="Montserrat"/>
              </a:rPr>
              <a:t>3. Библиотеки машинного обучения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    </a:t>
            </a: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Scikit-learn, XGBoost, Imbalanced-learn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5940000" y="1080000"/>
            <a:ext cx="5615640" cy="23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332974"/>
                </a:solidFill>
                <a:latin typeface="Montserrat"/>
              </a:rPr>
              <a:t>4. Фреймворк для создания API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    </a:t>
            </a: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FastAP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332974"/>
                </a:solidFill>
                <a:latin typeface="Montserrat"/>
              </a:rPr>
              <a:t>5. HTTP-клиент для внешних запросов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    </a:t>
            </a: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aiohttp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ru-RU" sz="1800" spc="-1" strike="noStrike">
                <a:solidFill>
                  <a:srgbClr val="332974"/>
                </a:solidFill>
                <a:latin typeface="Montserrat"/>
              </a:rPr>
              <a:t>6. Внешний API-сервис для получения данных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    </a:t>
            </a:r>
            <a:r>
              <a:rPr b="0" lang="ru-RU" sz="1800" spc="-1" strike="noStrike">
                <a:solidFill>
                  <a:srgbClr val="332974"/>
                </a:solidFill>
                <a:latin typeface="Montserrat"/>
              </a:rPr>
              <a:t>API "Репутация"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86092F8-3C9D-4DC3-88C8-68BE42E23CC9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6600" cy="9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Архитектурное проектирование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45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7" name="" descr=""/>
          <p:cNvPicPr/>
          <p:nvPr/>
        </p:nvPicPr>
        <p:blipFill>
          <a:blip r:embed="rId1"/>
          <a:stretch/>
        </p:blipFill>
        <p:spPr>
          <a:xfrm>
            <a:off x="2340360" y="1611720"/>
            <a:ext cx="7554600" cy="41428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13940E6-8458-4145-AC24-EB2F855EB63D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5"/>
          <p:cNvSpPr/>
          <p:nvPr/>
        </p:nvSpPr>
        <p:spPr>
          <a:xfrm>
            <a:off x="-76320" y="0"/>
            <a:ext cx="773748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8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Microsoft YaHei"/>
              </a:rPr>
              <a:t>Архитектура Python-сервиса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9" name="" descr=""/>
          <p:cNvPicPr/>
          <p:nvPr/>
        </p:nvPicPr>
        <p:blipFill>
          <a:blip r:embed="rId1"/>
          <a:stretch/>
        </p:blipFill>
        <p:spPr>
          <a:xfrm>
            <a:off x="4140360" y="1620360"/>
            <a:ext cx="4134600" cy="464724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C336A69-5622-407B-B769-71804EA0AD98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" descr=""/>
          <p:cNvPicPr/>
          <p:nvPr/>
        </p:nvPicPr>
        <p:blipFill>
          <a:blip r:embed="rId1"/>
          <a:stretch/>
        </p:blipFill>
        <p:spPr>
          <a:xfrm>
            <a:off x="180000" y="936360"/>
            <a:ext cx="10517040" cy="3202920"/>
          </a:xfrm>
          <a:prstGeom prst="rect">
            <a:avLst/>
          </a:prstGeom>
          <a:ln w="0">
            <a:noFill/>
          </a:ln>
        </p:spPr>
      </p:pic>
      <p:sp>
        <p:nvSpPr>
          <p:cNvPr id="151" name="PlaceHolder 9"/>
          <p:cNvSpPr/>
          <p:nvPr/>
        </p:nvSpPr>
        <p:spPr>
          <a:xfrm>
            <a:off x="0" y="-36000"/>
            <a:ext cx="755928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8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Microsoft YaHei"/>
              </a:rPr>
              <a:t>Архитектура модуля FastAPI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A781DBC-ED50-41E5-8872-21AC4C1BF651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4"/>
          <p:cNvSpPr/>
          <p:nvPr/>
        </p:nvSpPr>
        <p:spPr>
          <a:xfrm>
            <a:off x="0" y="0"/>
            <a:ext cx="647928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8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Microsoft YaHei"/>
              </a:rPr>
              <a:t>Архитектура ИИ модели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360000" y="867240"/>
            <a:ext cx="5939280" cy="584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ru-RU" sz="1400" spc="-1" strike="noStrike">
                <a:solidFill>
                  <a:srgbClr val="000000"/>
                </a:solidFill>
                <a:latin typeface="Montserrat SemiBold"/>
              </a:rPr>
              <a:t>1. Главный класс – SupplierRiskModel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    </a:t>
            </a: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train_high_accuracy_model() – обучить модель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    </a:t>
            </a: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predict_risk() – предсказать риск для нового поставщика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    </a:t>
            </a: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save_model() / load_model() – сохранить и загрузить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ru-RU" sz="1400" spc="-1" strike="noStrike">
                <a:solidFill>
                  <a:srgbClr val="000000"/>
                </a:solidFill>
                <a:latin typeface="Montserrat SemiBold"/>
                <a:ea typeface="Microsoft YaHei"/>
              </a:rPr>
              <a:t>2. Тип модели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icrosoft YaHei"/>
              </a:rPr>
              <a:t>    </a:t>
            </a: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icrosoft YaHei"/>
              </a:rPr>
              <a:t>Ансамблевый классификатор (StackingClassifier)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icrosoft YaHei"/>
              </a:rPr>
              <a:t>    </a:t>
            </a: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icrosoft YaHei"/>
              </a:rPr>
              <a:t>Объединяет 4 алгоритма машинного обучения в один комплексный-алгоритм: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icrosoft YaHei"/>
              </a:rPr>
              <a:t>RandomForest (300 деревьев)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icrosoft YaHei"/>
              </a:rPr>
              <a:t>BalancedRandomForest (200 деревьев)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icrosoft YaHei"/>
              </a:rPr>
              <a:t>XGBoost (300 итераций)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icrosoft YaHei"/>
              </a:rPr>
              <a:t>GradientBoosting (300 итераций)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  <a:ea typeface="Microsoft YaHei"/>
              </a:rPr>
              <a:t>Далее данные попадают в Мета-модель LogisticRegression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6300000" y="867240"/>
            <a:ext cx="5399280" cy="52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</a:pPr>
            <a:r>
              <a:rPr b="0" lang="ru-RU" sz="1400" spc="-1" strike="noStrike">
                <a:solidFill>
                  <a:srgbClr val="000000"/>
                </a:solidFill>
                <a:latin typeface="Montserrat SemiBold"/>
              </a:rPr>
              <a:t>3. Анализируемые признаки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Финансовые - Убытки, нулевая выручка, отсутствие прибыли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Юридические - Дела о банкротстве, исполнительные производства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Репутационные - Массовый адрес, массовый руководитель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Операционные - Налоговая задолженность, отсутствие отчетности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907"/>
              </a:spcBef>
              <a:spcAft>
                <a:spcPts val="7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400" spc="-1" strike="noStrike">
                <a:solidFill>
                  <a:srgbClr val="000000"/>
                </a:solidFill>
                <a:latin typeface="Montserrat"/>
              </a:rPr>
              <a:t>Временные - Возраст компании, недавняя активность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48DF89B-35E6-4A12-83B0-96DD5D147B95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" descr=""/>
          <p:cNvPicPr/>
          <p:nvPr/>
        </p:nvPicPr>
        <p:blipFill>
          <a:blip r:embed="rId1"/>
          <a:stretch/>
        </p:blipFill>
        <p:spPr>
          <a:xfrm>
            <a:off x="3060000" y="985320"/>
            <a:ext cx="6297480" cy="5672160"/>
          </a:xfrm>
          <a:prstGeom prst="rect">
            <a:avLst/>
          </a:prstGeom>
          <a:ln w="0">
            <a:noFill/>
          </a:ln>
        </p:spPr>
      </p:pic>
      <p:sp>
        <p:nvSpPr>
          <p:cNvPr id="156" name="Заголовок 8"/>
          <p:cNvSpPr/>
          <p:nvPr/>
        </p:nvSpPr>
        <p:spPr>
          <a:xfrm>
            <a:off x="0" y="0"/>
            <a:ext cx="11226600" cy="91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Calibri"/>
              </a:rPr>
              <a:t>Инфологическая модель БД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6DFAAE6-4AC0-4753-A01E-6D80DF95A58B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6600" cy="9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Программная реализация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ftr" idx="46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0" y="921600"/>
            <a:ext cx="1157796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Структура метаданных информационной системы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" name="" descr=""/>
          <p:cNvPicPr/>
          <p:nvPr/>
        </p:nvPicPr>
        <p:blipFill>
          <a:blip r:embed="rId1"/>
          <a:stretch/>
        </p:blipFill>
        <p:spPr>
          <a:xfrm>
            <a:off x="1605960" y="2246760"/>
            <a:ext cx="8111880" cy="40510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B398A2F-1CA6-40EB-B67F-ABF084189F53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/>
          <p:nvPr/>
        </p:nvSpPr>
        <p:spPr>
          <a:xfrm>
            <a:off x="0" y="0"/>
            <a:ext cx="11157480" cy="8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Добавление поставщиков и групп товаров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" name="" descr=""/>
          <p:cNvPicPr/>
          <p:nvPr/>
        </p:nvPicPr>
        <p:blipFill>
          <a:blip r:embed="rId1"/>
          <a:stretch/>
        </p:blipFill>
        <p:spPr>
          <a:xfrm>
            <a:off x="502200" y="3240000"/>
            <a:ext cx="11015640" cy="1713240"/>
          </a:xfrm>
          <a:prstGeom prst="rect">
            <a:avLst/>
          </a:prstGeom>
          <a:ln w="0">
            <a:noFill/>
          </a:ln>
        </p:spPr>
      </p:pic>
      <p:pic>
        <p:nvPicPr>
          <p:cNvPr id="163" name="" descr=""/>
          <p:cNvPicPr/>
          <p:nvPr/>
        </p:nvPicPr>
        <p:blipFill>
          <a:blip r:embed="rId2"/>
          <a:stretch/>
        </p:blipFill>
        <p:spPr>
          <a:xfrm>
            <a:off x="228240" y="1542600"/>
            <a:ext cx="11829600" cy="133524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D965555-DBF9-4AE1-BEB9-667432CFA3B4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3"/>
          <p:cNvSpPr/>
          <p:nvPr/>
        </p:nvSpPr>
        <p:spPr>
          <a:xfrm>
            <a:off x="0" y="0"/>
            <a:ext cx="10077480" cy="5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Формирование выборки поставщиков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5" name="" descr=""/>
          <p:cNvPicPr/>
          <p:nvPr/>
        </p:nvPicPr>
        <p:blipFill>
          <a:blip r:embed="rId1"/>
          <a:stretch/>
        </p:blipFill>
        <p:spPr>
          <a:xfrm>
            <a:off x="360" y="1577880"/>
            <a:ext cx="3969720" cy="3999600"/>
          </a:xfrm>
          <a:prstGeom prst="rect">
            <a:avLst/>
          </a:prstGeom>
          <a:ln w="0">
            <a:noFill/>
          </a:ln>
        </p:spPr>
      </p:pic>
      <p:pic>
        <p:nvPicPr>
          <p:cNvPr id="166" name="" descr=""/>
          <p:cNvPicPr/>
          <p:nvPr/>
        </p:nvPicPr>
        <p:blipFill>
          <a:blip r:embed="rId2"/>
          <a:stretch/>
        </p:blipFill>
        <p:spPr>
          <a:xfrm>
            <a:off x="4500000" y="2009160"/>
            <a:ext cx="7401240" cy="320832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7CADFCB-D703-4B41-8D7B-76C87D80BF1F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3585240" y="1124640"/>
            <a:ext cx="7392600" cy="2648520"/>
          </a:xfrm>
          <a:prstGeom prst="rect">
            <a:avLst/>
          </a:prstGeom>
          <a:ln w="0">
            <a:noFill/>
          </a:ln>
        </p:spPr>
      </p:pic>
      <p:pic>
        <p:nvPicPr>
          <p:cNvPr id="168" name="" descr=""/>
          <p:cNvPicPr/>
          <p:nvPr/>
        </p:nvPicPr>
        <p:blipFill>
          <a:blip r:embed="rId2"/>
          <a:stretch/>
        </p:blipFill>
        <p:spPr>
          <a:xfrm>
            <a:off x="3602520" y="4007880"/>
            <a:ext cx="7353720" cy="2649960"/>
          </a:xfrm>
          <a:prstGeom prst="rect">
            <a:avLst/>
          </a:prstGeom>
          <a:ln w="0">
            <a:noFill/>
          </a:ln>
        </p:spPr>
      </p:pic>
      <p:sp>
        <p:nvSpPr>
          <p:cNvPr id="169" name="PlaceHolder 13"/>
          <p:cNvSpPr/>
          <p:nvPr/>
        </p:nvSpPr>
        <p:spPr>
          <a:xfrm>
            <a:off x="0" y="0"/>
            <a:ext cx="10077480" cy="59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</a:rPr>
              <a:t>Анализ выборки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0" name="" descr=""/>
          <p:cNvPicPr/>
          <p:nvPr/>
        </p:nvPicPr>
        <p:blipFill>
          <a:blip r:embed="rId3"/>
          <a:stretch/>
        </p:blipFill>
        <p:spPr>
          <a:xfrm>
            <a:off x="77400" y="1165320"/>
            <a:ext cx="3340440" cy="315252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188033E-1E19-48BC-8DA3-2925BC8B34C7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4"/>
          <p:cNvSpPr/>
          <p:nvPr/>
        </p:nvSpPr>
        <p:spPr>
          <a:xfrm>
            <a:off x="643320" y="10080"/>
            <a:ext cx="10897920" cy="13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3600" spc="-1" strike="noStrike">
              <a:solidFill>
                <a:srgbClr val="332974"/>
              </a:solidFill>
              <a:latin typeface="Montserrat SemiBold"/>
            </a:endParaRPr>
          </a:p>
        </p:txBody>
      </p:sp>
      <p:pic>
        <p:nvPicPr>
          <p:cNvPr id="172" name="" descr=""/>
          <p:cNvPicPr/>
          <p:nvPr/>
        </p:nvPicPr>
        <p:blipFill>
          <a:blip r:embed="rId1"/>
          <a:stretch/>
        </p:blipFill>
        <p:spPr>
          <a:xfrm>
            <a:off x="3022200" y="1440000"/>
            <a:ext cx="7595640" cy="1233720"/>
          </a:xfrm>
          <a:prstGeom prst="rect">
            <a:avLst/>
          </a:prstGeom>
          <a:ln w="0">
            <a:noFill/>
          </a:ln>
        </p:spPr>
      </p:pic>
      <p:pic>
        <p:nvPicPr>
          <p:cNvPr id="173" name="" descr=""/>
          <p:cNvPicPr/>
          <p:nvPr/>
        </p:nvPicPr>
        <p:blipFill>
          <a:blip r:embed="rId2"/>
          <a:stretch/>
        </p:blipFill>
        <p:spPr>
          <a:xfrm>
            <a:off x="3022200" y="2880000"/>
            <a:ext cx="7446240" cy="2257200"/>
          </a:xfrm>
          <a:prstGeom prst="rect">
            <a:avLst/>
          </a:prstGeom>
          <a:ln w="0">
            <a:noFill/>
          </a:ln>
        </p:spPr>
      </p:pic>
      <p:sp>
        <p:nvSpPr>
          <p:cNvPr id="174" name=""/>
          <p:cNvSpPr/>
          <p:nvPr/>
        </p:nvSpPr>
        <p:spPr>
          <a:xfrm>
            <a:off x="0" y="0"/>
            <a:ext cx="8676000" cy="7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ru-RU" sz="3600" spc="-1" strike="noStrike">
                <a:solidFill>
                  <a:srgbClr val="332974"/>
                </a:solidFill>
                <a:latin typeface="Montserrat SemiBold"/>
                <a:ea typeface="Microsoft YaHei"/>
              </a:rPr>
              <a:t>Сохранение результатов оценки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" name="" descr=""/>
          <p:cNvPicPr/>
          <p:nvPr/>
        </p:nvPicPr>
        <p:blipFill>
          <a:blip r:embed="rId3"/>
          <a:stretch/>
        </p:blipFill>
        <p:spPr>
          <a:xfrm>
            <a:off x="0" y="1440000"/>
            <a:ext cx="2864160" cy="305784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A520103-9D0D-4183-B6C2-414C50C686BB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1226600" cy="9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600" spc="-1" strike="noStrike">
                <a:solidFill>
                  <a:schemeClr val="dk1"/>
                </a:solidFill>
                <a:latin typeface="Montserrat SemiBold"/>
              </a:rPr>
              <a:t>Практическая значимость работы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ftr" idx="47"/>
          </p:nvPr>
        </p:nvSpPr>
        <p:spPr>
          <a:xfrm>
            <a:off x="1333440" y="6352560"/>
            <a:ext cx="747720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78" name=""/>
          <p:cNvGraphicFramePr/>
          <p:nvPr/>
        </p:nvGraphicFramePr>
        <p:xfrm>
          <a:off x="313560" y="1138680"/>
          <a:ext cx="7919640" cy="3035520"/>
        </p:xfrm>
        <a:graphic>
          <a:graphicData uri="http://schemas.openxmlformats.org/drawingml/2006/table">
            <a:tbl>
              <a:tblPr/>
              <a:tblGrid>
                <a:gridCol w="3959280"/>
                <a:gridCol w="3960720"/>
              </a:tblGrid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Направление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Эффект</a:t>
                      </a:r>
                      <a:endParaRPr b="0" lang="ru-RU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solidFill>
                      <a:srgbClr val="332974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Автоматизация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Сокращение времени проверки поставщика с нескольких часов до 1-2 минут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Точность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Прогнозирование рисков с точностью &gt;90%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Экономия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2,5 руб./запрос против 10 000 руб./год (экономия до 70%)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Безопасность 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Снижение риска финансовых потерь на 40-50%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6C52429-8862-4369-BC8C-FC376021F33A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/>
          </p:nvPr>
        </p:nvSpPr>
        <p:spPr>
          <a:xfrm>
            <a:off x="3759120" y="5218920"/>
            <a:ext cx="7820280" cy="74340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600" spc="-1" strike="noStrike">
                <a:solidFill>
                  <a:schemeClr val="accent6"/>
                </a:solidFill>
                <a:latin typeface="Montserrat"/>
              </a:rPr>
              <a:t>Научный руководитель: Андреев Илья Александрович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3759120" y="4242240"/>
            <a:ext cx="7820280" cy="77076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rmAutofit fontScale="83888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Студент: Альвицов Данил Сергеевич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pc="-1" strike="noStrike">
                <a:solidFill>
                  <a:schemeClr val="dk1"/>
                </a:solidFill>
                <a:latin typeface="Montserrat"/>
              </a:rPr>
              <a:t>Группа: БВТ2104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776840" y="6168600"/>
            <a:ext cx="2634840" cy="33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spcBef>
                <a:spcPts val="1417"/>
              </a:spcBef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 type="title"/>
          </p:nvPr>
        </p:nvSpPr>
        <p:spPr>
          <a:xfrm>
            <a:off x="3759120" y="2007000"/>
            <a:ext cx="7820280" cy="2029320"/>
          </a:xfrm>
          <a:prstGeom prst="rect">
            <a:avLst/>
          </a:prstGeom>
          <a:solidFill>
            <a:schemeClr val="lt1">
              <a:alpha val="80000"/>
            </a:schemeClr>
          </a:solidFill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000" spc="-1" strike="noStrike">
                <a:solidFill>
                  <a:schemeClr val="dk1"/>
                </a:solidFill>
                <a:latin typeface="Montserrat SemiBold"/>
              </a:rPr>
              <a:t>Спасибо за внимание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Тема Office">
  <a:themeElements>
    <a:clrScheme name="МТУСИ">
      <a:dk1>
        <a:srgbClr val="352379"/>
      </a:dk1>
      <a:lt1>
        <a:srgbClr val="ffffff"/>
      </a:lt1>
      <a:dk2>
        <a:srgbClr val="352379"/>
      </a:dk2>
      <a:lt2>
        <a:srgbClr val="ffffff"/>
      </a:lt2>
      <a:accent1>
        <a:srgbClr val="352379"/>
      </a:accent1>
      <a:accent2>
        <a:srgbClr val="c7adeb"/>
      </a:accent2>
      <a:accent3>
        <a:srgbClr val="532494"/>
      </a:accent3>
      <a:accent4>
        <a:srgbClr val="e3d6f5"/>
      </a:accent4>
      <a:accent5>
        <a:srgbClr val="8c64d8"/>
      </a:accent5>
      <a:accent6>
        <a:srgbClr val="000000"/>
      </a:accent6>
      <a:hlink>
        <a:srgbClr val="8c64d8"/>
      </a:hlink>
      <a:folHlink>
        <a:srgbClr val="352379"/>
      </a:folHlink>
    </a:clrScheme>
    <a:fontScheme name="МТУСИ">
      <a:majorFont>
        <a:latin typeface="Montserrat SemiBold" pitchFamily="0" charset="1"/>
        <a:ea typeface=""/>
        <a:cs typeface=""/>
      </a:majorFont>
      <a:minorFont>
        <a:latin typeface="Montserra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8204</TotalTime>
  <Application>LibreOffice/24.2.4.2$Windows_X86_64 LibreOffice_project/51a6219feb6075d9a4c46691dcfe0cd9c4fff3c2</Application>
  <AppVersion>15.0000</AppVersion>
  <Words>1381</Words>
  <Paragraphs>220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2023-04-19T21:39:12Z</dcterms:created>
  <dc:creator>user [v4]</dc:creator>
  <dc:description/>
  <dc:language>ru-RU</dc:language>
  <cp:lastModifiedBy/>
  <dcterms:modified xsi:type="dcterms:W3CDTF">2026-06-02T18:19:39Z</dcterms:modified>
  <cp:revision>80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47</vt:i4>
  </property>
</Properties>
</file>