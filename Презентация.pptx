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19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theme/theme24.xml" ContentType="application/vnd.openxmlformats-officedocument.theme+xml"/>
  <Override PartName="/ppt/notesSlides/notesSlide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_rels/notesSlide1.xml.rels" ContentType="application/vnd.openxmlformats-package.relationships+xml"/>
  <Override PartName="/ppt/notesSlides/_rels/notesSlide19.xml.rels" ContentType="application/vnd.openxmlformats-package.relationships+xml"/>
  <Override PartName="/ppt/media/image1.png" ContentType="image/png"/>
  <Override PartName="/ppt/media/image2.svg" ContentType="image/svg"/>
  <Override PartName="/ppt/media/image5.png" ContentType="image/png"/>
  <Override PartName="/ppt/media/image3.png" ContentType="image/png"/>
  <Override PartName="/ppt/media/image15.png" ContentType="image/png"/>
  <Override PartName="/ppt/media/image8.svg" ContentType="image/svg"/>
  <Override PartName="/ppt/media/image4.svg" ContentType="image/svg"/>
  <Override PartName="/ppt/media/image11.png" ContentType="image/png"/>
  <Override PartName="/ppt/media/image7.png" ContentType="image/png"/>
  <Override PartName="/ppt/media/image6.png" ContentType="image/png"/>
  <Override PartName="/ppt/media/image9.png" ContentType="image/png"/>
  <Override PartName="/ppt/media/image10.svg" ContentType="image/svg"/>
  <Override PartName="/ppt/media/image12.png" ContentType="image/png"/>
  <Override PartName="/ppt/media/image13.png" ContentType="image/png"/>
  <Override PartName="/ppt/media/image14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7.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</p:sldMasterIdLst>
  <p:notesMasterIdLst>
    <p:notesMasterId r:id="rId25"/>
  </p:notesMasterIdLst>
  <p:sldIdLst>
    <p:sldId id="256" r:id="rId26"/>
    <p:sldId id="257" r:id="rId27"/>
    <p:sldId id="258" r:id="rId28"/>
    <p:sldId id="259" r:id="rId29"/>
    <p:sldId id="260" r:id="rId30"/>
    <p:sldId id="261" r:id="rId31"/>
    <p:sldId id="262" r:id="rId32"/>
    <p:sldId id="263" r:id="rId33"/>
    <p:sldId id="264" r:id="rId34"/>
    <p:sldId id="265" r:id="rId35"/>
    <p:sldId id="266" r:id="rId36"/>
    <p:sldId id="267" r:id="rId37"/>
    <p:sldId id="268" r:id="rId38"/>
    <p:sldId id="269" r:id="rId39"/>
    <p:sldId id="270" r:id="rId40"/>
    <p:sldId id="271" r:id="rId41"/>
    <p:sldId id="272" r:id="rId42"/>
    <p:sldId id="273" r:id="rId43"/>
    <p:sldId id="274" r:id="rId4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notesMaster" Target="notesMasters/notesMaster1.xml"/><Relationship Id="rId26" Type="http://schemas.openxmlformats.org/officeDocument/2006/relationships/slide" Target="slides/slide1.xml"/><Relationship Id="rId27" Type="http://schemas.openxmlformats.org/officeDocument/2006/relationships/slide" Target="slides/slide2.xml"/><Relationship Id="rId28" Type="http://schemas.openxmlformats.org/officeDocument/2006/relationships/slide" Target="slides/slide3.xml"/><Relationship Id="rId29" Type="http://schemas.openxmlformats.org/officeDocument/2006/relationships/slide" Target="slides/slide4.xml"/><Relationship Id="rId30" Type="http://schemas.openxmlformats.org/officeDocument/2006/relationships/slide" Target="slides/slide5.xml"/><Relationship Id="rId31" Type="http://schemas.openxmlformats.org/officeDocument/2006/relationships/slide" Target="slides/slide6.xml"/><Relationship Id="rId32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9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37" Type="http://schemas.openxmlformats.org/officeDocument/2006/relationships/slide" Target="slides/slide12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0" Type="http://schemas.openxmlformats.org/officeDocument/2006/relationships/slide" Target="slides/slide15.xml"/><Relationship Id="rId41" Type="http://schemas.openxmlformats.org/officeDocument/2006/relationships/slide" Target="slides/slide16.xml"/><Relationship Id="rId42" Type="http://schemas.openxmlformats.org/officeDocument/2006/relationships/slide" Target="slides/slide17.xml"/><Relationship Id="rId43" Type="http://schemas.openxmlformats.org/officeDocument/2006/relationships/slide" Target="slides/slide18.xml"/><Relationship Id="rId44" Type="http://schemas.openxmlformats.org/officeDocument/2006/relationships/slide" Target="slides/slide19.xml"/><Relationship Id="rId4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Для перемещения страницы щёлкните мышью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&lt;верхний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PlaceHolder 4"/>
          <p:cNvSpPr>
            <a:spLocks noGrp="1"/>
          </p:cNvSpPr>
          <p:nvPr>
            <p:ph type="dt" idx="4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5"/>
          <p:cNvSpPr>
            <a:spLocks noGrp="1"/>
          </p:cNvSpPr>
          <p:nvPr>
            <p:ph type="ftr" idx="4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6"/>
          <p:cNvSpPr>
            <a:spLocks noGrp="1"/>
          </p:cNvSpPr>
          <p:nvPr>
            <p:ph type="sldNum" idx="4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4C1F01ED-0657-4C78-9B9A-0736F2BBD4A5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Уважаемый председатель и члены государственной экзаменационной комиссии!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Вашему вниманию представляю свою выпускную квалификационную работу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07EAD34-68F4-468E-A88D-4725A75AC17C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Спасибо за внимание, готов ответить на ваши вопросы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10D11B9-1FE4-4F1F-89B0-E84E6C67295A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ческое изображение_вид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4A749BA-8A7A-482F-89D2-32576D0E4E0D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Иллюстрация процесс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FB53A77E-0212-4673-9798-9195B64F3652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к_вид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EC4421F-2FEE-4F26-9811-2DC4B4989469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к_вид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DB8F9D9-47DD-4589-BA62-2C60E31EF814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к_вид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C3309B2A-5961-4CC7-925B-8EBA10EAD494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к_вид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69C2E7CD-7992-4014-B879-BFB754D65D7F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Цифры для определения_вид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D371A9D-C140-42FB-836F-A5EBF08AA12B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Цифры для определения_вид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A079CD92-F0E7-4720-9022-7A93AB63160A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Текст_вид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A75EF852-043E-416C-BEC9-B474C624B6AC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Текст_вид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66FDCD4-5AB4-4AD0-9181-598DE542F99A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Таблица_вид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F9544EFA-2D3F-4461-9E0C-7BA44795BB99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Таблица_вид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138D7CEB-105B-4682-A35C-9CC441583FF8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вид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FE60A43-DEE4-4B88-924E-66700820C535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ческое изображение_вид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p>
            <a:fld id="{C6EB0A4F-3DCE-448D-AEBC-796D98569F85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ческое изображение_вид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83683ADE-D071-418C-AE1F-3A94F85D4E74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ческое изображение_вид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C3EBBA7-FC6E-4EAB-BCEE-46A69CE389CE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ческое изображение_вид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4"/>
          </p:nvPr>
        </p:nvSpPr>
        <p:spPr/>
        <p:txBody>
          <a:bodyPr/>
          <a:p>
            <a:fld id="{3FD7EA80-5110-4FF3-8A75-1A761B35B84B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ческое изображение_вид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6"/>
          </p:nvPr>
        </p:nvSpPr>
        <p:spPr/>
        <p:txBody>
          <a:bodyPr/>
          <a:p>
            <a:fld id="{2EE7CDCF-63B2-4B52-A5EC-4E09463BB823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ческое изображение_вид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4D5FA409-0B23-440A-992A-53F3E47C746D}" type="slidenum">
              <a:t>&lt;#&gt;</a:t>
            </a:fld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0"/>
          </p:nvPr>
        </p:nvSpPr>
        <p:spPr/>
        <p:txBody>
          <a:bodyPr/>
          <a:p>
            <a:fld id="{889BDF2D-E4B1-45F8-B549-DA11BAD0E76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image" Target="../media/image5.png"/><Relationship Id="rId9" Type="http://schemas.openxmlformats.org/officeDocument/2006/relationships/image" Target="../media/image6.png"/><Relationship Id="rId10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image" Target="../media/image5.pn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image" Target="../media/image5.png"/><Relationship Id="rId9" Type="http://schemas.openxmlformats.org/officeDocument/2006/relationships/image" Target="../media/image9.png"/><Relationship Id="rId10" Type="http://schemas.openxmlformats.org/officeDocument/2006/relationships/image" Target="../media/image10.svg"/><Relationship Id="rId11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1480" cy="292320"/>
          </a:xfrm>
          <a:prstGeom prst="rect">
            <a:avLst/>
          </a:prstGeom>
          <a:ln w="0">
            <a:noFill/>
          </a:ln>
        </p:spPr>
      </p:pic>
      <p:pic>
        <p:nvPicPr>
          <p:cNvPr id="1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1160" cy="1372320"/>
          </a:xfrm>
          <a:prstGeom prst="rect">
            <a:avLst/>
          </a:prstGeom>
          <a:ln w="0">
            <a:noFill/>
          </a:ln>
        </p:spPr>
      </p:pic>
      <p:pic>
        <p:nvPicPr>
          <p:cNvPr id="2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9680" y="5535000"/>
            <a:ext cx="1271160" cy="1372320"/>
          </a:xfrm>
          <a:prstGeom prst="rect">
            <a:avLst/>
          </a:prstGeom>
          <a:ln w="0">
            <a:noFill/>
          </a:ln>
        </p:spPr>
      </p:pic>
      <p:sp>
        <p:nvSpPr>
          <p:cNvPr id="3" name="Прямоугольник: скругленные углы 9"/>
          <p:cNvSpPr/>
          <p:nvPr/>
        </p:nvSpPr>
        <p:spPr>
          <a:xfrm>
            <a:off x="609120" y="240480"/>
            <a:ext cx="10972440" cy="6303240"/>
          </a:xfrm>
          <a:prstGeom prst="roundRect">
            <a:avLst>
              <a:gd name="adj" fmla="val 20444"/>
            </a:avLst>
          </a:prstGeom>
          <a:blipFill rotWithShape="0">
            <a:blip r:embed="rId8"/>
            <a:srcRect/>
            <a:stretch/>
          </a:blipFill>
          <a:ln w="38100">
            <a:noFill/>
          </a:ln>
          <a:effectLst>
            <a:glow rad="63360">
              <a:srgbClr val="352379">
                <a:alpha val="2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7000"/>
              </a:lnSpc>
              <a:spcAft>
                <a:spcPts val="799"/>
              </a:spcAft>
            </a:pPr>
            <a:endParaRPr b="0" lang="ru-RU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4" name="Рисунок 10" descr=""/>
          <p:cNvPicPr/>
          <p:nvPr/>
        </p:nvPicPr>
        <p:blipFill>
          <a:blip r:embed="rId9"/>
          <a:stretch/>
        </p:blipFill>
        <p:spPr>
          <a:xfrm>
            <a:off x="609120" y="240480"/>
            <a:ext cx="4127760" cy="20854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10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1480" cy="292320"/>
          </a:xfrm>
          <a:prstGeom prst="rect">
            <a:avLst/>
          </a:prstGeom>
          <a:ln w="0">
            <a:noFill/>
          </a:ln>
        </p:spPr>
      </p:pic>
      <p:pic>
        <p:nvPicPr>
          <p:cNvPr id="8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1160" cy="1372320"/>
          </a:xfrm>
          <a:prstGeom prst="rect">
            <a:avLst/>
          </a:prstGeom>
          <a:ln w="0">
            <a:noFill/>
          </a:ln>
        </p:spPr>
      </p:pic>
      <p:pic>
        <p:nvPicPr>
          <p:cNvPr id="9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9680" y="5535000"/>
            <a:ext cx="1271160" cy="1372320"/>
          </a:xfrm>
          <a:prstGeom prst="rect">
            <a:avLst/>
          </a:prstGeom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ftr" idx="1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ldNum" idx="2"/>
          </p:nvPr>
        </p:nvSpPr>
        <p:spPr>
          <a:xfrm>
            <a:off x="8966160" y="635256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C0346E-B610-408D-BCA6-B3FD93F51481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8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1480" cy="292320"/>
          </a:xfrm>
          <a:prstGeom prst="rect">
            <a:avLst/>
          </a:prstGeom>
          <a:ln w="0">
            <a:noFill/>
          </a:ln>
        </p:spPr>
      </p:pic>
      <p:pic>
        <p:nvPicPr>
          <p:cNvPr id="13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1160" cy="1372320"/>
          </a:xfrm>
          <a:prstGeom prst="rect">
            <a:avLst/>
          </a:prstGeom>
          <a:ln w="0">
            <a:noFill/>
          </a:ln>
        </p:spPr>
      </p:pic>
      <p:pic>
        <p:nvPicPr>
          <p:cNvPr id="14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9680" y="5535000"/>
            <a:ext cx="1271160" cy="1372320"/>
          </a:xfrm>
          <a:prstGeom prst="rect">
            <a:avLst/>
          </a:prstGeom>
          <a:ln w="0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ftr" idx="3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sldNum" idx="4"/>
          </p:nvPr>
        </p:nvSpPr>
        <p:spPr>
          <a:xfrm>
            <a:off x="8966160" y="635256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D29BE74-B94F-4CD9-BD93-7A1CC2238141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8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1480" cy="292320"/>
          </a:xfrm>
          <a:prstGeom prst="rect">
            <a:avLst/>
          </a:prstGeom>
          <a:ln w="0">
            <a:noFill/>
          </a:ln>
        </p:spPr>
      </p:pic>
      <p:pic>
        <p:nvPicPr>
          <p:cNvPr id="18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1160" cy="1372320"/>
          </a:xfrm>
          <a:prstGeom prst="rect">
            <a:avLst/>
          </a:prstGeom>
          <a:ln w="0">
            <a:noFill/>
          </a:ln>
        </p:spPr>
      </p:pic>
      <p:pic>
        <p:nvPicPr>
          <p:cNvPr id="19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9680" y="5535000"/>
            <a:ext cx="1271160" cy="1372320"/>
          </a:xfrm>
          <a:prstGeom prst="rect">
            <a:avLst/>
          </a:prstGeom>
          <a:ln w="0">
            <a:noFill/>
          </a:ln>
        </p:spPr>
      </p:pic>
      <p:sp>
        <p:nvSpPr>
          <p:cNvPr id="20" name="PlaceHolder 1"/>
          <p:cNvSpPr>
            <a:spLocks noGrp="1"/>
          </p:cNvSpPr>
          <p:nvPr>
            <p:ph type="ftr" idx="5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ldNum" idx="6"/>
          </p:nvPr>
        </p:nvSpPr>
        <p:spPr>
          <a:xfrm>
            <a:off x="8966160" y="635256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8311F19-1606-4FA9-B0CD-463ED0CAAADF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8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1480" cy="292320"/>
          </a:xfrm>
          <a:prstGeom prst="rect">
            <a:avLst/>
          </a:prstGeom>
          <a:ln w="0">
            <a:noFill/>
          </a:ln>
        </p:spPr>
      </p:pic>
      <p:pic>
        <p:nvPicPr>
          <p:cNvPr id="23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1160" cy="1372320"/>
          </a:xfrm>
          <a:prstGeom prst="rect">
            <a:avLst/>
          </a:prstGeom>
          <a:ln w="0">
            <a:noFill/>
          </a:ln>
        </p:spPr>
      </p:pic>
      <p:pic>
        <p:nvPicPr>
          <p:cNvPr id="24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9680" y="5535000"/>
            <a:ext cx="1271160" cy="1372320"/>
          </a:xfrm>
          <a:prstGeom prst="rect">
            <a:avLst/>
          </a:prstGeom>
          <a:ln w="0">
            <a:noFill/>
          </a:ln>
        </p:spPr>
      </p:pic>
      <p:sp>
        <p:nvSpPr>
          <p:cNvPr id="25" name="PlaceHolder 1"/>
          <p:cNvSpPr>
            <a:spLocks noGrp="1"/>
          </p:cNvSpPr>
          <p:nvPr>
            <p:ph type="ftr" idx="7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sldNum" idx="8"/>
          </p:nvPr>
        </p:nvSpPr>
        <p:spPr>
          <a:xfrm>
            <a:off x="8966160" y="635256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9C08E20-039F-4382-80D9-D0486ED5827C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8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1480" cy="292320"/>
          </a:xfrm>
          <a:prstGeom prst="rect">
            <a:avLst/>
          </a:prstGeom>
          <a:ln w="0">
            <a:noFill/>
          </a:ln>
        </p:spPr>
      </p:pic>
      <p:pic>
        <p:nvPicPr>
          <p:cNvPr id="28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1160" cy="1372320"/>
          </a:xfrm>
          <a:prstGeom prst="rect">
            <a:avLst/>
          </a:prstGeom>
          <a:ln w="0">
            <a:noFill/>
          </a:ln>
        </p:spPr>
      </p:pic>
      <p:pic>
        <p:nvPicPr>
          <p:cNvPr id="29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9680" y="5535000"/>
            <a:ext cx="1271160" cy="1372320"/>
          </a:xfrm>
          <a:prstGeom prst="rect">
            <a:avLst/>
          </a:prstGeom>
          <a:ln w="0">
            <a:noFill/>
          </a:ln>
        </p:spPr>
      </p:pic>
      <p:sp>
        <p:nvSpPr>
          <p:cNvPr id="30" name="PlaceHolder 1"/>
          <p:cNvSpPr>
            <a:spLocks noGrp="1"/>
          </p:cNvSpPr>
          <p:nvPr>
            <p:ph type="ftr" idx="9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sldNum" idx="10"/>
          </p:nvPr>
        </p:nvSpPr>
        <p:spPr>
          <a:xfrm>
            <a:off x="8966160" y="635256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201993D-BF99-4F66-B9C4-1F38C0552D54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8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1480" cy="292320"/>
          </a:xfrm>
          <a:prstGeom prst="rect">
            <a:avLst/>
          </a:prstGeom>
          <a:ln w="0">
            <a:noFill/>
          </a:ln>
        </p:spPr>
      </p:pic>
      <p:pic>
        <p:nvPicPr>
          <p:cNvPr id="33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1160" cy="1372320"/>
          </a:xfrm>
          <a:prstGeom prst="rect">
            <a:avLst/>
          </a:prstGeom>
          <a:ln w="0">
            <a:noFill/>
          </a:ln>
        </p:spPr>
      </p:pic>
      <p:pic>
        <p:nvPicPr>
          <p:cNvPr id="34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9680" y="5535000"/>
            <a:ext cx="1271160" cy="1372320"/>
          </a:xfrm>
          <a:prstGeom prst="rect">
            <a:avLst/>
          </a:prstGeom>
          <a:ln w="0">
            <a:noFill/>
          </a:ln>
        </p:spPr>
      </p:pic>
      <p:sp>
        <p:nvSpPr>
          <p:cNvPr id="35" name="PlaceHolder 1"/>
          <p:cNvSpPr>
            <a:spLocks noGrp="1"/>
          </p:cNvSpPr>
          <p:nvPr>
            <p:ph type="ftr" idx="11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ldNum" idx="12"/>
          </p:nvPr>
        </p:nvSpPr>
        <p:spPr>
          <a:xfrm>
            <a:off x="8966160" y="635256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F5FE579-9C97-40F4-8AC7-AF3A11942407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8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1480" cy="292320"/>
          </a:xfrm>
          <a:prstGeom prst="rect">
            <a:avLst/>
          </a:prstGeom>
          <a:ln w="0">
            <a:noFill/>
          </a:ln>
        </p:spPr>
      </p:pic>
      <p:pic>
        <p:nvPicPr>
          <p:cNvPr id="38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1160" cy="1372320"/>
          </a:xfrm>
          <a:prstGeom prst="rect">
            <a:avLst/>
          </a:prstGeom>
          <a:ln w="0">
            <a:noFill/>
          </a:ln>
        </p:spPr>
      </p:pic>
      <p:pic>
        <p:nvPicPr>
          <p:cNvPr id="39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9680" y="5535000"/>
            <a:ext cx="1271160" cy="1372320"/>
          </a:xfrm>
          <a:prstGeom prst="rect">
            <a:avLst/>
          </a:prstGeom>
          <a:ln w="0">
            <a:noFill/>
          </a:ln>
        </p:spPr>
      </p:pic>
      <p:sp>
        <p:nvSpPr>
          <p:cNvPr id="40" name="PlaceHolder 1"/>
          <p:cNvSpPr>
            <a:spLocks noGrp="1"/>
          </p:cNvSpPr>
          <p:nvPr>
            <p:ph type="ftr" idx="13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ldNum" idx="14"/>
          </p:nvPr>
        </p:nvSpPr>
        <p:spPr>
          <a:xfrm>
            <a:off x="8966160" y="635256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2F42F11-2B50-4781-8E73-F4F5F7B7DB78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8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1480" cy="292320"/>
          </a:xfrm>
          <a:prstGeom prst="rect">
            <a:avLst/>
          </a:prstGeom>
          <a:ln w="0">
            <a:noFill/>
          </a:ln>
        </p:spPr>
      </p:pic>
      <p:pic>
        <p:nvPicPr>
          <p:cNvPr id="43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1160" cy="1372320"/>
          </a:xfrm>
          <a:prstGeom prst="rect">
            <a:avLst/>
          </a:prstGeom>
          <a:ln w="0">
            <a:noFill/>
          </a:ln>
        </p:spPr>
      </p:pic>
      <p:pic>
        <p:nvPicPr>
          <p:cNvPr id="44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9680" y="5535000"/>
            <a:ext cx="1271160" cy="1372320"/>
          </a:xfrm>
          <a:prstGeom prst="rect">
            <a:avLst/>
          </a:prstGeom>
          <a:ln w="0">
            <a:noFill/>
          </a:ln>
        </p:spPr>
      </p:pic>
      <p:sp>
        <p:nvSpPr>
          <p:cNvPr id="45" name="PlaceHolder 1"/>
          <p:cNvSpPr>
            <a:spLocks noGrp="1"/>
          </p:cNvSpPr>
          <p:nvPr>
            <p:ph type="ftr" idx="15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16"/>
          </p:nvPr>
        </p:nvSpPr>
        <p:spPr>
          <a:xfrm>
            <a:off x="8966160" y="635256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E59B02-1B1D-42A5-8DDB-EBD29E015C71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8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1480" cy="292320"/>
          </a:xfrm>
          <a:prstGeom prst="rect">
            <a:avLst/>
          </a:prstGeom>
          <a:ln w="0">
            <a:noFill/>
          </a:ln>
        </p:spPr>
      </p:pic>
      <p:pic>
        <p:nvPicPr>
          <p:cNvPr id="48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1160" cy="1372320"/>
          </a:xfrm>
          <a:prstGeom prst="rect">
            <a:avLst/>
          </a:prstGeom>
          <a:ln w="0">
            <a:noFill/>
          </a:ln>
        </p:spPr>
      </p:pic>
      <p:pic>
        <p:nvPicPr>
          <p:cNvPr id="49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9680" y="5535000"/>
            <a:ext cx="1271160" cy="1372320"/>
          </a:xfrm>
          <a:prstGeom prst="rect">
            <a:avLst/>
          </a:prstGeom>
          <a:ln w="0">
            <a:noFill/>
          </a:ln>
        </p:spPr>
      </p:pic>
      <p:sp>
        <p:nvSpPr>
          <p:cNvPr id="50" name="PlaceHolder 1"/>
          <p:cNvSpPr>
            <a:spLocks noGrp="1"/>
          </p:cNvSpPr>
          <p:nvPr>
            <p:ph type="ftr" idx="17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ldNum" idx="18"/>
          </p:nvPr>
        </p:nvSpPr>
        <p:spPr>
          <a:xfrm>
            <a:off x="8966160" y="635256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3607AAD-CBA2-4E2C-BEB7-CAC4FE72C9D7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8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1480" cy="292320"/>
          </a:xfrm>
          <a:prstGeom prst="rect">
            <a:avLst/>
          </a:prstGeom>
          <a:ln w="0">
            <a:noFill/>
          </a:ln>
        </p:spPr>
      </p:pic>
      <p:pic>
        <p:nvPicPr>
          <p:cNvPr id="53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1160" cy="1372320"/>
          </a:xfrm>
          <a:prstGeom prst="rect">
            <a:avLst/>
          </a:prstGeom>
          <a:ln w="0">
            <a:noFill/>
          </a:ln>
        </p:spPr>
      </p:pic>
      <p:pic>
        <p:nvPicPr>
          <p:cNvPr id="54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9680" y="5535000"/>
            <a:ext cx="1271160" cy="1372320"/>
          </a:xfrm>
          <a:prstGeom prst="rect">
            <a:avLst/>
          </a:prstGeom>
          <a:ln w="0">
            <a:noFill/>
          </a:ln>
        </p:spPr>
      </p:pic>
      <p:sp>
        <p:nvSpPr>
          <p:cNvPr id="55" name="PlaceHolder 1"/>
          <p:cNvSpPr>
            <a:spLocks noGrp="1"/>
          </p:cNvSpPr>
          <p:nvPr>
            <p:ph type="ftr" idx="19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sldNum" idx="20"/>
          </p:nvPr>
        </p:nvSpPr>
        <p:spPr>
          <a:xfrm>
            <a:off x="8966160" y="635256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7CE512D-D549-4D18-A266-AAA99A46B84F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8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1480" cy="292320"/>
          </a:xfrm>
          <a:prstGeom prst="rect">
            <a:avLst/>
          </a:prstGeom>
          <a:ln w="0">
            <a:noFill/>
          </a:ln>
        </p:spPr>
      </p:pic>
      <p:pic>
        <p:nvPicPr>
          <p:cNvPr id="60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1160" cy="1372320"/>
          </a:xfrm>
          <a:prstGeom prst="rect">
            <a:avLst/>
          </a:prstGeom>
          <a:ln w="0">
            <a:noFill/>
          </a:ln>
        </p:spPr>
      </p:pic>
      <p:pic>
        <p:nvPicPr>
          <p:cNvPr id="61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9680" y="5535000"/>
            <a:ext cx="1271160" cy="1372320"/>
          </a:xfrm>
          <a:prstGeom prst="rect">
            <a:avLst/>
          </a:prstGeom>
          <a:ln w="0">
            <a:noFill/>
          </a:ln>
        </p:spPr>
      </p:pic>
      <p:sp>
        <p:nvSpPr>
          <p:cNvPr id="62" name="Прямоугольник: скругленные углы 9"/>
          <p:cNvSpPr/>
          <p:nvPr/>
        </p:nvSpPr>
        <p:spPr>
          <a:xfrm>
            <a:off x="609120" y="240480"/>
            <a:ext cx="10972440" cy="6303240"/>
          </a:xfrm>
          <a:prstGeom prst="roundRect">
            <a:avLst>
              <a:gd name="adj" fmla="val 20444"/>
            </a:avLst>
          </a:prstGeom>
          <a:blipFill rotWithShape="0">
            <a:blip r:embed="rId8"/>
            <a:srcRect/>
            <a:stretch/>
          </a:blipFill>
          <a:ln w="38100">
            <a:noFill/>
          </a:ln>
          <a:effectLst>
            <a:glow rad="63360">
              <a:srgbClr val="352379">
                <a:alpha val="2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7000"/>
              </a:lnSpc>
              <a:spcAft>
                <a:spcPts val="799"/>
              </a:spcAft>
            </a:pPr>
            <a:endParaRPr b="0" lang="ru-RU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63" name="Рисунок 8" descr="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1265040" y="827640"/>
            <a:ext cx="2796480" cy="86076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11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1480" cy="292320"/>
          </a:xfrm>
          <a:prstGeom prst="rect">
            <a:avLst/>
          </a:prstGeom>
          <a:ln w="0">
            <a:noFill/>
          </a:ln>
        </p:spPr>
      </p:pic>
      <p:pic>
        <p:nvPicPr>
          <p:cNvPr id="65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1160" cy="1372320"/>
          </a:xfrm>
          <a:prstGeom prst="rect">
            <a:avLst/>
          </a:prstGeom>
          <a:ln w="0">
            <a:noFill/>
          </a:ln>
        </p:spPr>
      </p:pic>
      <p:pic>
        <p:nvPicPr>
          <p:cNvPr id="66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9680" y="5535000"/>
            <a:ext cx="1271160" cy="1372320"/>
          </a:xfrm>
          <a:prstGeom prst="rect">
            <a:avLst/>
          </a:prstGeom>
          <a:ln w="0">
            <a:noFill/>
          </a:ln>
        </p:spPr>
      </p:pic>
      <p:sp>
        <p:nvSpPr>
          <p:cNvPr id="67" name="PlaceHolder 1"/>
          <p:cNvSpPr>
            <a:spLocks noGrp="1"/>
          </p:cNvSpPr>
          <p:nvPr>
            <p:ph type="ftr" idx="21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sldNum" idx="22"/>
          </p:nvPr>
        </p:nvSpPr>
        <p:spPr>
          <a:xfrm>
            <a:off x="8966160" y="635256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012B6B-C0F6-4B10-B82C-B12060940706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8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1480" cy="292320"/>
          </a:xfrm>
          <a:prstGeom prst="rect">
            <a:avLst/>
          </a:prstGeom>
          <a:ln w="0">
            <a:noFill/>
          </a:ln>
        </p:spPr>
      </p:pic>
      <p:pic>
        <p:nvPicPr>
          <p:cNvPr id="70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1160" cy="1372320"/>
          </a:xfrm>
          <a:prstGeom prst="rect">
            <a:avLst/>
          </a:prstGeom>
          <a:ln w="0">
            <a:noFill/>
          </a:ln>
        </p:spPr>
      </p:pic>
      <p:pic>
        <p:nvPicPr>
          <p:cNvPr id="71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9680" y="5535000"/>
            <a:ext cx="1271160" cy="1372320"/>
          </a:xfrm>
          <a:prstGeom prst="rect">
            <a:avLst/>
          </a:prstGeom>
          <a:ln w="0">
            <a:noFill/>
          </a:ln>
        </p:spPr>
      </p:pic>
      <p:sp>
        <p:nvSpPr>
          <p:cNvPr id="72" name="PlaceHolder 1"/>
          <p:cNvSpPr>
            <a:spLocks noGrp="1"/>
          </p:cNvSpPr>
          <p:nvPr>
            <p:ph type="ftr" idx="23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sldNum" idx="24"/>
          </p:nvPr>
        </p:nvSpPr>
        <p:spPr>
          <a:xfrm>
            <a:off x="8966160" y="635256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2B10C9B-CE19-433A-A292-A5C2EB899D48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8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1480" cy="292320"/>
          </a:xfrm>
          <a:prstGeom prst="rect">
            <a:avLst/>
          </a:prstGeom>
          <a:ln w="0">
            <a:noFill/>
          </a:ln>
        </p:spPr>
      </p:pic>
      <p:pic>
        <p:nvPicPr>
          <p:cNvPr id="75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1160" cy="1372320"/>
          </a:xfrm>
          <a:prstGeom prst="rect">
            <a:avLst/>
          </a:prstGeom>
          <a:ln w="0">
            <a:noFill/>
          </a:ln>
        </p:spPr>
      </p:pic>
      <p:pic>
        <p:nvPicPr>
          <p:cNvPr id="76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9680" y="5535000"/>
            <a:ext cx="1271160" cy="1372320"/>
          </a:xfrm>
          <a:prstGeom prst="rect">
            <a:avLst/>
          </a:prstGeom>
          <a:ln w="0">
            <a:noFill/>
          </a:ln>
        </p:spPr>
      </p:pic>
      <p:sp>
        <p:nvSpPr>
          <p:cNvPr id="77" name="PlaceHolder 1"/>
          <p:cNvSpPr>
            <a:spLocks noGrp="1"/>
          </p:cNvSpPr>
          <p:nvPr>
            <p:ph type="ftr" idx="25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sldNum" idx="26"/>
          </p:nvPr>
        </p:nvSpPr>
        <p:spPr>
          <a:xfrm>
            <a:off x="8966160" y="635256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9BB66F5-A934-468E-AB19-A17614681ECE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8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1480" cy="292320"/>
          </a:xfrm>
          <a:prstGeom prst="rect">
            <a:avLst/>
          </a:prstGeom>
          <a:ln w="0">
            <a:noFill/>
          </a:ln>
        </p:spPr>
      </p:pic>
      <p:pic>
        <p:nvPicPr>
          <p:cNvPr id="80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1160" cy="1372320"/>
          </a:xfrm>
          <a:prstGeom prst="rect">
            <a:avLst/>
          </a:prstGeom>
          <a:ln w="0">
            <a:noFill/>
          </a:ln>
        </p:spPr>
      </p:pic>
      <p:pic>
        <p:nvPicPr>
          <p:cNvPr id="81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9680" y="5535000"/>
            <a:ext cx="1271160" cy="1372320"/>
          </a:xfrm>
          <a:prstGeom prst="rect">
            <a:avLst/>
          </a:prstGeom>
          <a:ln w="0">
            <a:noFill/>
          </a:ln>
        </p:spPr>
      </p:pic>
      <p:sp>
        <p:nvSpPr>
          <p:cNvPr id="82" name="Прямоугольник: скругленные углы 9"/>
          <p:cNvSpPr/>
          <p:nvPr/>
        </p:nvSpPr>
        <p:spPr>
          <a:xfrm>
            <a:off x="609120" y="240480"/>
            <a:ext cx="10972440" cy="6303240"/>
          </a:xfrm>
          <a:prstGeom prst="roundRect">
            <a:avLst>
              <a:gd name="adj" fmla="val 20444"/>
            </a:avLst>
          </a:prstGeom>
          <a:blipFill rotWithShape="0">
            <a:blip r:embed="rId8"/>
            <a:srcRect/>
            <a:stretch/>
          </a:blipFill>
          <a:ln w="38100">
            <a:noFill/>
          </a:ln>
          <a:effectLst>
            <a:glow rad="63360">
              <a:srgbClr val="352379">
                <a:alpha val="2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7000"/>
              </a:lnSpc>
              <a:spcAft>
                <a:spcPts val="799"/>
              </a:spcAft>
            </a:pPr>
            <a:endParaRPr b="0" lang="ru-RU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83" name="Рисунок 2" descr="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820800" y="368280"/>
            <a:ext cx="3414960" cy="174168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11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1480" cy="292320"/>
          </a:xfrm>
          <a:prstGeom prst="rect">
            <a:avLst/>
          </a:prstGeom>
          <a:ln w="0">
            <a:noFill/>
          </a:ln>
        </p:spPr>
      </p:pic>
      <p:pic>
        <p:nvPicPr>
          <p:cNvPr id="85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1160" cy="1372320"/>
          </a:xfrm>
          <a:prstGeom prst="rect">
            <a:avLst/>
          </a:prstGeom>
          <a:ln w="0">
            <a:noFill/>
          </a:ln>
        </p:spPr>
      </p:pic>
      <p:pic>
        <p:nvPicPr>
          <p:cNvPr id="86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9680" y="5535000"/>
            <a:ext cx="1271160" cy="1372320"/>
          </a:xfrm>
          <a:prstGeom prst="rect">
            <a:avLst/>
          </a:prstGeom>
          <a:ln w="0">
            <a:noFill/>
          </a:ln>
        </p:spPr>
      </p:pic>
      <p:sp>
        <p:nvSpPr>
          <p:cNvPr id="87" name="PlaceHolder 1"/>
          <p:cNvSpPr>
            <a:spLocks noGrp="1"/>
          </p:cNvSpPr>
          <p:nvPr>
            <p:ph type="ftr" idx="27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ldNum" idx="28"/>
          </p:nvPr>
        </p:nvSpPr>
        <p:spPr>
          <a:xfrm>
            <a:off x="8966160" y="635256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5E850BC-9740-4E8B-A679-B50BE8FA0036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8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1480" cy="292320"/>
          </a:xfrm>
          <a:prstGeom prst="rect">
            <a:avLst/>
          </a:prstGeom>
          <a:ln w="0">
            <a:noFill/>
          </a:ln>
        </p:spPr>
      </p:pic>
      <p:pic>
        <p:nvPicPr>
          <p:cNvPr id="90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1160" cy="1372320"/>
          </a:xfrm>
          <a:prstGeom prst="rect">
            <a:avLst/>
          </a:prstGeom>
          <a:ln w="0">
            <a:noFill/>
          </a:ln>
        </p:spPr>
      </p:pic>
      <p:pic>
        <p:nvPicPr>
          <p:cNvPr id="91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9680" y="5535000"/>
            <a:ext cx="1271160" cy="1372320"/>
          </a:xfrm>
          <a:prstGeom prst="rect">
            <a:avLst/>
          </a:prstGeom>
          <a:ln w="0">
            <a:noFill/>
          </a:ln>
        </p:spPr>
      </p:pic>
      <p:sp>
        <p:nvSpPr>
          <p:cNvPr id="92" name="PlaceHolder 1"/>
          <p:cNvSpPr>
            <a:spLocks noGrp="1"/>
          </p:cNvSpPr>
          <p:nvPr>
            <p:ph type="ftr" idx="29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sldNum" idx="30"/>
          </p:nvPr>
        </p:nvSpPr>
        <p:spPr>
          <a:xfrm>
            <a:off x="8966160" y="635256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FCF3C1-2E0E-46A7-8311-F5D6E3836BCE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8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1480" cy="292320"/>
          </a:xfrm>
          <a:prstGeom prst="rect">
            <a:avLst/>
          </a:prstGeom>
          <a:ln w="0">
            <a:noFill/>
          </a:ln>
        </p:spPr>
      </p:pic>
      <p:pic>
        <p:nvPicPr>
          <p:cNvPr id="95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1160" cy="1372320"/>
          </a:xfrm>
          <a:prstGeom prst="rect">
            <a:avLst/>
          </a:prstGeom>
          <a:ln w="0">
            <a:noFill/>
          </a:ln>
        </p:spPr>
      </p:pic>
      <p:pic>
        <p:nvPicPr>
          <p:cNvPr id="96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9680" y="5535000"/>
            <a:ext cx="1271160" cy="1372320"/>
          </a:xfrm>
          <a:prstGeom prst="rect">
            <a:avLst/>
          </a:prstGeom>
          <a:ln w="0">
            <a:noFill/>
          </a:ln>
        </p:spPr>
      </p:pic>
      <p:sp>
        <p:nvSpPr>
          <p:cNvPr id="97" name="PlaceHolder 1"/>
          <p:cNvSpPr>
            <a:spLocks noGrp="1"/>
          </p:cNvSpPr>
          <p:nvPr>
            <p:ph type="ftr" idx="31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sldNum" idx="32"/>
          </p:nvPr>
        </p:nvSpPr>
        <p:spPr>
          <a:xfrm>
            <a:off x="8966160" y="635256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1EC360E-FF9A-45ED-B960-C257A984D4ED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8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1480" cy="292320"/>
          </a:xfrm>
          <a:prstGeom prst="rect">
            <a:avLst/>
          </a:prstGeom>
          <a:ln w="0">
            <a:noFill/>
          </a:ln>
        </p:spPr>
      </p:pic>
      <p:pic>
        <p:nvPicPr>
          <p:cNvPr id="100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1160" cy="1372320"/>
          </a:xfrm>
          <a:prstGeom prst="rect">
            <a:avLst/>
          </a:prstGeom>
          <a:ln w="0">
            <a:noFill/>
          </a:ln>
        </p:spPr>
      </p:pic>
      <p:pic>
        <p:nvPicPr>
          <p:cNvPr id="101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9680" y="5535000"/>
            <a:ext cx="1271160" cy="1372320"/>
          </a:xfrm>
          <a:prstGeom prst="rect">
            <a:avLst/>
          </a:prstGeom>
          <a:ln w="0">
            <a:noFill/>
          </a:ln>
        </p:spPr>
      </p:pic>
      <p:sp>
        <p:nvSpPr>
          <p:cNvPr id="102" name="PlaceHolder 1"/>
          <p:cNvSpPr>
            <a:spLocks noGrp="1"/>
          </p:cNvSpPr>
          <p:nvPr>
            <p:ph type="ftr" idx="33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ldNum" idx="34"/>
          </p:nvPr>
        </p:nvSpPr>
        <p:spPr>
          <a:xfrm>
            <a:off x="8966160" y="635256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8B82F5-35D7-4A20-83A2-3540BC2B3639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8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1480" cy="292320"/>
          </a:xfrm>
          <a:prstGeom prst="rect">
            <a:avLst/>
          </a:prstGeom>
          <a:ln w="0">
            <a:noFill/>
          </a:ln>
        </p:spPr>
      </p:pic>
      <p:pic>
        <p:nvPicPr>
          <p:cNvPr id="105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1160" cy="1372320"/>
          </a:xfrm>
          <a:prstGeom prst="rect">
            <a:avLst/>
          </a:prstGeom>
          <a:ln w="0">
            <a:noFill/>
          </a:ln>
        </p:spPr>
      </p:pic>
      <p:pic>
        <p:nvPicPr>
          <p:cNvPr id="106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9680" y="5535000"/>
            <a:ext cx="1271160" cy="1372320"/>
          </a:xfrm>
          <a:prstGeom prst="rect">
            <a:avLst/>
          </a:prstGeom>
          <a:ln w="0">
            <a:noFill/>
          </a:ln>
        </p:spPr>
      </p:pic>
      <p:sp>
        <p:nvSpPr>
          <p:cNvPr id="107" name="PlaceHolder 1"/>
          <p:cNvSpPr>
            <a:spLocks noGrp="1"/>
          </p:cNvSpPr>
          <p:nvPr>
            <p:ph type="ftr" idx="35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sldNum" idx="36"/>
          </p:nvPr>
        </p:nvSpPr>
        <p:spPr>
          <a:xfrm>
            <a:off x="8966160" y="635256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10D65AD-88B0-4332-A09F-C9FC984831C8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8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51480" cy="292320"/>
          </a:xfrm>
          <a:prstGeom prst="rect">
            <a:avLst/>
          </a:prstGeom>
          <a:ln w="0">
            <a:noFill/>
          </a:ln>
        </p:spPr>
      </p:pic>
      <p:pic>
        <p:nvPicPr>
          <p:cNvPr id="110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71160" cy="1372320"/>
          </a:xfrm>
          <a:prstGeom prst="rect">
            <a:avLst/>
          </a:prstGeom>
          <a:ln w="0">
            <a:noFill/>
          </a:ln>
        </p:spPr>
      </p:pic>
      <p:pic>
        <p:nvPicPr>
          <p:cNvPr id="111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9680" y="5535000"/>
            <a:ext cx="1271160" cy="1372320"/>
          </a:xfrm>
          <a:prstGeom prst="rect">
            <a:avLst/>
          </a:prstGeom>
          <a:ln w="0">
            <a:noFill/>
          </a:ln>
        </p:spPr>
      </p:pic>
      <p:sp>
        <p:nvSpPr>
          <p:cNvPr id="112" name="PlaceHolder 1"/>
          <p:cNvSpPr>
            <a:spLocks noGrp="1"/>
          </p:cNvSpPr>
          <p:nvPr>
            <p:ph type="ftr" idx="37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 type="sldNum" idx="38"/>
          </p:nvPr>
        </p:nvSpPr>
        <p:spPr>
          <a:xfrm>
            <a:off x="8966160" y="635256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C0C580A-5B22-44A1-BEFC-405B9156D975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8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080" cy="124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ftr" idx="39"/>
          </p:nvPr>
        </p:nvSpPr>
        <p:spPr>
          <a:xfrm>
            <a:off x="4038480" y="6356520"/>
            <a:ext cx="4111200" cy="36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sldNum" idx="40"/>
          </p:nvPr>
        </p:nvSpPr>
        <p:spPr>
          <a:xfrm>
            <a:off x="8610480" y="6356520"/>
            <a:ext cx="2739600" cy="36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5FF4322-4CD7-40B5-8626-2705616DE21F}" type="slidenum">
              <a: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 type="dt" idx="41"/>
          </p:nvPr>
        </p:nvSpPr>
        <p:spPr>
          <a:xfrm>
            <a:off x="838080" y="6356520"/>
            <a:ext cx="2739600" cy="36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1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1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1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slideLayout" Target="../slideLayouts/slideLayout1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/>
          </p:nvPr>
        </p:nvSpPr>
        <p:spPr>
          <a:xfrm>
            <a:off x="3759120" y="5218920"/>
            <a:ext cx="7822440" cy="745560"/>
          </a:xfrm>
          <a:prstGeom prst="rect">
            <a:avLst/>
          </a:prstGeom>
          <a:solidFill>
            <a:schemeClr val="lt1">
              <a:alpha val="80000"/>
            </a:schemeClr>
          </a:solidFill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6"/>
                </a:solidFill>
                <a:latin typeface="Montserrat"/>
              </a:rPr>
              <a:t>Научный руководитель: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6"/>
                </a:solidFill>
                <a:latin typeface="Montserrat"/>
              </a:rPr>
              <a:t>к.э.н, доц. кафедры «КИС», Андреев Илья Александрович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3759120" y="4242240"/>
            <a:ext cx="7822440" cy="772920"/>
          </a:xfrm>
          <a:prstGeom prst="rect">
            <a:avLst/>
          </a:prstGeom>
          <a:solidFill>
            <a:schemeClr val="lt1">
              <a:alpha val="80000"/>
            </a:schemeClr>
          </a:solidFill>
          <a:ln w="0">
            <a:noFill/>
          </a:ln>
        </p:spPr>
        <p:txBody>
          <a:bodyPr lIns="91440" rIns="91440" tIns="45720" bIns="45720" anchor="t">
            <a:normAutofit fontScale="83888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dk1"/>
                </a:solidFill>
                <a:latin typeface="Montserrat"/>
              </a:rPr>
              <a:t>Студент: Альвицов Данил Сергеевич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dk1"/>
                </a:solidFill>
                <a:latin typeface="Montserrat"/>
              </a:rPr>
              <a:t>Группа: БВТ2204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4776840" y="6168600"/>
            <a:ext cx="2637000" cy="33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spcBef>
                <a:spcPts val="1417"/>
              </a:spcBef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 type="title"/>
          </p:nvPr>
        </p:nvSpPr>
        <p:spPr>
          <a:xfrm>
            <a:off x="2880000" y="1620000"/>
            <a:ext cx="7822440" cy="2031480"/>
          </a:xfrm>
          <a:prstGeom prst="rect">
            <a:avLst/>
          </a:prstGeom>
          <a:solidFill>
            <a:schemeClr val="lt1">
              <a:alpha val="80000"/>
            </a:schemeClr>
          </a:solidFill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pc="-1" strike="noStrike">
                <a:solidFill>
                  <a:schemeClr val="dk1"/>
                </a:solidFill>
                <a:latin typeface="Montserrat SemiBold"/>
              </a:rPr>
              <a:t>Информационная система комплексной оценки надежности поставщиков</a:t>
            </a:r>
            <a:endParaRPr b="0" lang="ru-RU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1228760" cy="92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600" spc="-1" strike="noStrike">
                <a:solidFill>
                  <a:srgbClr val="332974"/>
                </a:solidFill>
                <a:latin typeface="Montserrat SemiBold"/>
              </a:rPr>
              <a:t>Актуальность темы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ftr" idx="45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PlaceHolder 2"/>
          <p:cNvSpPr/>
          <p:nvPr/>
        </p:nvSpPr>
        <p:spPr>
          <a:xfrm>
            <a:off x="277560" y="921960"/>
            <a:ext cx="11242440" cy="47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2222" lnSpcReduction="10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-RU" sz="4200" spc="-1" strike="noStrike">
                <a:solidFill>
                  <a:schemeClr val="dk1"/>
                </a:solidFill>
                <a:latin typeface="Montserrat"/>
                <a:ea typeface="Times New Roman"/>
              </a:rPr>
              <a:t>Актуальность темы исследования обусловлена критической важностью выбора надежных поставщиков для обеспечения бесперебойной деятельности торговых предприятий в условиях современной рыночной нестабильности. Основная проблема заключается в противоречии между необходимостью быстрого принятия решений о закупках и трудоемкостью традиционных методов сбора и верификации информации о контрагентах, которая часто разрозненна и труднодоступна. . В связи с этим разработка программного модуля на основе интеллектуального анализа данных, позволяющего оперативно и объективно оценивать благонадежность поставщиков, является своевременным и практически значимым решением.</a:t>
            </a:r>
            <a:endParaRPr b="0" lang="ru-RU" sz="4200" spc="-1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680FFCE-8BD6-4D9C-8A01-B5D815C95096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8"/>
          <p:cNvSpPr txBox="1"/>
          <p:nvPr/>
        </p:nvSpPr>
        <p:spPr>
          <a:xfrm>
            <a:off x="360" y="360"/>
            <a:ext cx="11228760" cy="921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ru-RU" sz="3600" spc="-1" strike="noStrike">
                <a:solidFill>
                  <a:srgbClr val="332974"/>
                </a:solidFill>
                <a:latin typeface="Montserrat SemiBold"/>
              </a:rPr>
              <a:t>Цель работы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360000" y="1002960"/>
            <a:ext cx="10774080" cy="977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ru-RU" sz="2000" spc="-1" strike="noStrike">
                <a:solidFill>
                  <a:srgbClr val="332974"/>
                </a:solidFill>
                <a:latin typeface="Montserrat"/>
                <a:ea typeface="DejaVu Sans"/>
              </a:rPr>
              <a:t>Разработка информационной системы оценки благонадежности поставщика товаров </a:t>
            </a:r>
            <a:r>
              <a:rPr b="0" lang="ru-RU" sz="2000" spc="-1" strike="noStrike">
                <a:solidFill>
                  <a:srgbClr val="332974"/>
                </a:solidFill>
                <a:latin typeface="Montserrat"/>
                <a:ea typeface="Times New Roman"/>
              </a:rPr>
              <a:t>для повышения качества и эффективности труда сотрудников </a:t>
            </a:r>
            <a:r>
              <a:rPr b="0" lang="ru-RU" sz="2000" spc="-1" strike="noStrike">
                <a:solidFill>
                  <a:srgbClr val="332974"/>
                </a:solidFill>
                <a:latin typeface="Montserrat"/>
                <a:ea typeface="DejaVu Sans"/>
              </a:rPr>
              <a:t>организации АО «РТК»</a:t>
            </a:r>
            <a:r>
              <a:rPr b="0" lang="ru-RU" sz="2000" spc="-1" strike="noStrike">
                <a:solidFill>
                  <a:srgbClr val="332974"/>
                </a:solidFill>
                <a:latin typeface="Montserrat"/>
                <a:ea typeface="Times New Roman"/>
              </a:rPr>
              <a:t>.</a:t>
            </a:r>
            <a:endParaRPr b="0" lang="ru-RU" sz="2000" spc="-1" strike="noStrike">
              <a:solidFill>
                <a:srgbClr val="332974"/>
              </a:solidFill>
              <a:latin typeface="Montserrat"/>
            </a:endParaRPr>
          </a:p>
        </p:txBody>
      </p:sp>
      <p:sp>
        <p:nvSpPr>
          <p:cNvPr id="135" name="PlaceHolder 10"/>
          <p:cNvSpPr txBox="1"/>
          <p:nvPr/>
        </p:nvSpPr>
        <p:spPr>
          <a:xfrm>
            <a:off x="0" y="2318040"/>
            <a:ext cx="6728760" cy="921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r>
              <a:rPr b="0" lang="ru-RU" sz="3600" spc="-1" strike="noStrike">
                <a:solidFill>
                  <a:srgbClr val="332974"/>
                </a:solidFill>
                <a:latin typeface="Montserrat SemiBold"/>
                <a:ea typeface="Times New Roman"/>
              </a:rPr>
              <a:t>Объект исследования</a:t>
            </a:r>
            <a:endParaRPr b="1" lang="ru-RU" sz="3600" spc="-1" strike="noStrike">
              <a:solidFill>
                <a:srgbClr val="000000"/>
              </a:solidFill>
              <a:latin typeface="Arial"/>
              <a:ea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0" y="3060000"/>
            <a:ext cx="10774080" cy="599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ru-RU" sz="2000" spc="-1" strike="noStrike">
                <a:solidFill>
                  <a:srgbClr val="332974"/>
                </a:solidFill>
                <a:latin typeface="Montserrat"/>
                <a:ea typeface="Times New Roman"/>
              </a:rPr>
              <a:t>Торговая организация АО "РТК".</a:t>
            </a:r>
            <a:endParaRPr b="0" lang="ru-RU" sz="2000" spc="-1" strike="noStrike">
              <a:solidFill>
                <a:srgbClr val="000000"/>
              </a:solidFill>
              <a:latin typeface="Arial"/>
              <a:ea typeface="Times New Roman"/>
            </a:endParaRPr>
          </a:p>
        </p:txBody>
      </p:sp>
      <p:sp>
        <p:nvSpPr>
          <p:cNvPr id="137" name="PlaceHolder 11"/>
          <p:cNvSpPr txBox="1"/>
          <p:nvPr/>
        </p:nvSpPr>
        <p:spPr>
          <a:xfrm>
            <a:off x="0" y="3834360"/>
            <a:ext cx="11228760" cy="921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r>
              <a:rPr b="0" lang="ru-RU" sz="3600" spc="-1" strike="noStrike">
                <a:solidFill>
                  <a:srgbClr val="332974"/>
                </a:solidFill>
                <a:latin typeface="Montserrat SemiBold"/>
                <a:ea typeface="Times New Roman"/>
              </a:rPr>
              <a:t>Предмет исследования</a:t>
            </a:r>
            <a:endParaRPr b="1" lang="ru-RU" sz="3600" spc="-1" strike="noStrike">
              <a:solidFill>
                <a:srgbClr val="000000"/>
              </a:solidFill>
              <a:latin typeface="Arial"/>
              <a:ea typeface="Times New Roman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454680" y="4602960"/>
            <a:ext cx="10774080" cy="68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ru-RU" sz="2000" spc="-1" strike="noStrike">
                <a:solidFill>
                  <a:srgbClr val="332974"/>
                </a:solidFill>
                <a:latin typeface="Montserrat"/>
              </a:rPr>
              <a:t>Закупочная деятельность организации, в частности процесс оценки благонадежности и выбора поставщика товаров</a:t>
            </a:r>
            <a:endParaRPr b="0" lang="ru-RU" sz="2000" spc="-1" strike="noStrike">
              <a:solidFill>
                <a:srgbClr val="332974"/>
              </a:solidFill>
              <a:latin typeface="Montserrat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260ED52-0B42-44FA-BF81-CF7F9A78826B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6"/>
          <p:cNvSpPr/>
          <p:nvPr/>
        </p:nvSpPr>
        <p:spPr>
          <a:xfrm>
            <a:off x="0" y="0"/>
            <a:ext cx="11159640" cy="12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Описание и анализ бизнес процесса закупки товаров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0" name="" descr=""/>
          <p:cNvPicPr/>
          <p:nvPr/>
        </p:nvPicPr>
        <p:blipFill>
          <a:blip r:embed="rId1"/>
          <a:stretch/>
        </p:blipFill>
        <p:spPr>
          <a:xfrm>
            <a:off x="6026760" y="1620000"/>
            <a:ext cx="5672880" cy="3959640"/>
          </a:xfrm>
          <a:prstGeom prst="rect">
            <a:avLst/>
          </a:prstGeom>
          <a:ln w="0">
            <a:noFill/>
          </a:ln>
        </p:spPr>
      </p:pic>
      <p:pic>
        <p:nvPicPr>
          <p:cNvPr id="141" name="" descr=""/>
          <p:cNvPicPr/>
          <p:nvPr/>
        </p:nvPicPr>
        <p:blipFill>
          <a:blip r:embed="rId2"/>
          <a:stretch/>
        </p:blipFill>
        <p:spPr>
          <a:xfrm>
            <a:off x="720000" y="1620000"/>
            <a:ext cx="5474520" cy="396000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71105F1-0461-4769-BB12-90B8EF190262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7"/>
          <p:cNvSpPr/>
          <p:nvPr/>
        </p:nvSpPr>
        <p:spPr>
          <a:xfrm>
            <a:off x="2160" y="0"/>
            <a:ext cx="12057480" cy="96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Декомпозиция блока «Выбор поставщика»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3" name="" descr=""/>
          <p:cNvPicPr/>
          <p:nvPr/>
        </p:nvPicPr>
        <p:blipFill>
          <a:blip r:embed="rId1"/>
          <a:stretch/>
        </p:blipFill>
        <p:spPr>
          <a:xfrm>
            <a:off x="2160000" y="1080000"/>
            <a:ext cx="7559640" cy="534564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9248AB6-B2A3-4C27-98FE-E646CE683012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1699640" cy="92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600" spc="-1" strike="noStrike">
                <a:solidFill>
                  <a:schemeClr val="dk1"/>
                </a:solidFill>
                <a:latin typeface="Montserrat SemiBold"/>
              </a:rPr>
              <a:t>Сравнительный анализ готовых решений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ftr" idx="46"/>
          </p:nvPr>
        </p:nvSpPr>
        <p:spPr>
          <a:xfrm>
            <a:off x="1333440" y="638640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graphicFrame>
        <p:nvGraphicFramePr>
          <p:cNvPr id="146" name="Объект 3"/>
          <p:cNvGraphicFramePr/>
          <p:nvPr/>
        </p:nvGraphicFramePr>
        <p:xfrm>
          <a:off x="1469520" y="972360"/>
          <a:ext cx="9148680" cy="5024160"/>
        </p:xfrm>
        <a:graphic>
          <a:graphicData uri="http://schemas.openxmlformats.org/drawingml/2006/table">
            <a:tbl>
              <a:tblPr/>
              <a:tblGrid>
                <a:gridCol w="1887120"/>
                <a:gridCol w="1884960"/>
                <a:gridCol w="1883160"/>
                <a:gridCol w="1622520"/>
                <a:gridCol w="1871280"/>
              </a:tblGrid>
              <a:tr h="821880"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Название системы \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Критерии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PLUSSELL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SAP Ariba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iTender SRM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Разработка собственной информационной системы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</a:tr>
              <a:tr h="274320"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1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2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3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4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5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  <a:tr h="45684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Стоимость поставки ПО, руб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62 100.00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128 800.00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17 260.00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Не требуется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63936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Масштабность внедрения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Крупные оптовые компании и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Оптовые компании и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Мелкие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Мелкие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  <a:tr h="45684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Решение поставленных задач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Среднее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Полное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Низкое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Полное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5684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Возможность оценки поставщиков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  <a:tr h="639360">
                <a:tc>
                  <a:txBody>
                    <a:bodyPr lIns="44640" rIns="44640" anchor="t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Эффективность и наполнение доступных отчётов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639360">
                <a:tc>
                  <a:txBody>
                    <a:bodyPr lIns="44640" rIns="44640" anchor="t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Многопользовательский режим и права доступа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</a:tbl>
          </a:graphicData>
        </a:graphic>
      </p:graphicFrame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F153F30-D7A1-43F2-BE58-97A1D6361A63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1228760" cy="92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600" spc="-1" strike="noStrike">
                <a:solidFill>
                  <a:srgbClr val="332974"/>
                </a:solidFill>
                <a:latin typeface="Montserrat SemiBold"/>
              </a:rPr>
              <a:t>Выбранные технические решения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ftr" idx="47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141480" y="1088640"/>
            <a:ext cx="5617800" cy="46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1800" spc="-1" strike="noStrike">
                <a:solidFill>
                  <a:srgbClr val="000000"/>
                </a:solidFill>
                <a:latin typeface="Arial"/>
              </a:rPr>
              <a:t>1. Платформа клиентского приложения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Выбрано: 1С:Предприятие 8.3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Обоснование: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Интеграция с существующей учетной системой предприятия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Русскоязычный язык программирования, упрощающий разработку и поддержку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Встроенные механизмы работы с табличными документами и отчетами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Гибкая система разграничения прав доступа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Возможность работы как в файловом, так и в клиент-серверном режиме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6120000" y="1062360"/>
            <a:ext cx="4859280" cy="46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1800" spc="-1" strike="noStrike">
                <a:solidFill>
                  <a:srgbClr val="000000"/>
                </a:solidFill>
                <a:latin typeface="Arial"/>
              </a:rPr>
              <a:t>2. Язык и среда разработки ML-сервиса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Выбрано: Python 3.11+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Обоснование: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Богатая экосистема библиотек для машинного обучения и анализа данных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Простота интеграции с REST API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Кроссплатформенность и возможность развертывания в различных средах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Активное сообщество и обширная документация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BCA66BA-1B65-4E5A-AE38-90A26C05815F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"/>
          <p:cNvSpPr/>
          <p:nvPr/>
        </p:nvSpPr>
        <p:spPr>
          <a:xfrm>
            <a:off x="214560" y="360000"/>
            <a:ext cx="5364720" cy="520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1800" spc="-1" strike="noStrike">
                <a:solidFill>
                  <a:srgbClr val="000000"/>
                </a:solidFill>
                <a:latin typeface="Arial"/>
              </a:rPr>
              <a:t>3. Библиотеки машинного обучения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Выбраны: Scikit-learn, XGBoost, Imbalanced-learn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Обоснование: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Scikit-learn (базовые алгоритмы, предобработка, метрики) -стандарт де-факто для задач классификации с табличными данными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XGBoost (градиентный бустинг) - высокая производительность, устойчивость к переобучению, хорошая интерпретируемость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Imbalanced-learn (балансировка классов (SMOTE)) - решение проблемы дисбаланса классов в данных о рисках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Joblib (сериализация модели) - эффективное сохранение и загрузка обученных моделей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6351120" y="360000"/>
            <a:ext cx="4448160" cy="264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1800" spc="-1" strike="noStrike">
                <a:solidFill>
                  <a:srgbClr val="000000"/>
                </a:solidFill>
                <a:latin typeface="Arial"/>
              </a:rPr>
              <a:t>4. Фреймворк для создания API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Выбран: FastAP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Обоснование: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Высокая производительность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Автодокументация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Асинхронность из коробки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8E2964B-8287-4FA3-9216-5157352BBCE8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"/>
          <p:cNvSpPr/>
          <p:nvPr/>
        </p:nvSpPr>
        <p:spPr>
          <a:xfrm>
            <a:off x="266760" y="360000"/>
            <a:ext cx="4772520" cy="517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1800" spc="-1" strike="noStrike">
                <a:solidFill>
                  <a:srgbClr val="000000"/>
                </a:solidFill>
                <a:latin typeface="Arial"/>
              </a:rPr>
              <a:t>5. HTTP-клиент для внешних запросов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Выбрана: aiohttp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Обоснование: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Асинхронная работа, не блокирующая основной поток FastAPI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Удобная работа с заголовками и параметрами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Встроенная обработка таймаутов и повторных попыток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Поддержка сессий для переиспользования соединений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5580000" y="360000"/>
            <a:ext cx="5703480" cy="52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1800" spc="-1" strike="noStrike">
                <a:solidFill>
                  <a:srgbClr val="000000"/>
                </a:solidFill>
                <a:latin typeface="Arial"/>
              </a:rPr>
              <a:t>6. Внешний API-сервис для получения данных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Выбран: API "Репутация"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Обоснование: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Модель оплаты - 2,5 руб/запрос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Высокая экономическая эффективность для МСП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064B055-AF51-452E-A62D-00C3840F44D3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1228760" cy="92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600" spc="-1" strike="noStrike">
                <a:solidFill>
                  <a:srgbClr val="332974"/>
                </a:solidFill>
                <a:latin typeface="Montserrat SemiBold"/>
              </a:rPr>
              <a:t>Архитектурное проектирование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type="ftr" idx="48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57" name="" descr=""/>
          <p:cNvPicPr/>
          <p:nvPr/>
        </p:nvPicPr>
        <p:blipFill>
          <a:blip r:embed="rId1"/>
          <a:stretch/>
        </p:blipFill>
        <p:spPr>
          <a:xfrm>
            <a:off x="2340360" y="1611720"/>
            <a:ext cx="7556760" cy="414504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5A50AF0-9FCD-4600-9295-0732C3DB9FBF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5"/>
          <p:cNvSpPr/>
          <p:nvPr/>
        </p:nvSpPr>
        <p:spPr>
          <a:xfrm>
            <a:off x="0" y="0"/>
            <a:ext cx="7739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8000"/>
              </a:lnSpc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  <a:ea typeface="Microsoft YaHei"/>
              </a:rPr>
              <a:t>Архитектура Python-сервиса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9" name="" descr=""/>
          <p:cNvPicPr/>
          <p:nvPr/>
        </p:nvPicPr>
        <p:blipFill>
          <a:blip r:embed="rId1"/>
          <a:stretch/>
        </p:blipFill>
        <p:spPr>
          <a:xfrm>
            <a:off x="4140360" y="1620360"/>
            <a:ext cx="4136760" cy="464940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087C502-4DF7-4366-AD7D-B0EEC0135465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" descr=""/>
          <p:cNvPicPr/>
          <p:nvPr/>
        </p:nvPicPr>
        <p:blipFill>
          <a:blip r:embed="rId1"/>
          <a:stretch/>
        </p:blipFill>
        <p:spPr>
          <a:xfrm>
            <a:off x="3060000" y="985320"/>
            <a:ext cx="6299640" cy="5674320"/>
          </a:xfrm>
          <a:prstGeom prst="rect">
            <a:avLst/>
          </a:prstGeom>
          <a:ln w="0">
            <a:noFill/>
          </a:ln>
        </p:spPr>
      </p:pic>
      <p:sp>
        <p:nvSpPr>
          <p:cNvPr id="161" name="Заголовок 8"/>
          <p:cNvSpPr/>
          <p:nvPr/>
        </p:nvSpPr>
        <p:spPr>
          <a:xfrm>
            <a:off x="0" y="0"/>
            <a:ext cx="11228760" cy="92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ru-RU" sz="3600" spc="-1" strike="noStrike">
                <a:solidFill>
                  <a:srgbClr val="332974"/>
                </a:solidFill>
                <a:latin typeface="Montserrat SemiBold"/>
                <a:ea typeface="Calibri"/>
              </a:rPr>
              <a:t>Инфологическая модель БД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95549B2-43CE-4166-810C-93A19E607F0F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1228760" cy="92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600" spc="-1" strike="noStrike">
                <a:solidFill>
                  <a:srgbClr val="332974"/>
                </a:solidFill>
                <a:latin typeface="Montserrat SemiBold"/>
              </a:rPr>
              <a:t>Программная реализация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 type="ftr" idx="49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0" y="900000"/>
            <a:ext cx="115801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Структура метаданных информационной системы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5" name="" descr=""/>
          <p:cNvPicPr/>
          <p:nvPr/>
        </p:nvPicPr>
        <p:blipFill>
          <a:blip r:embed="rId1"/>
          <a:stretch/>
        </p:blipFill>
        <p:spPr>
          <a:xfrm>
            <a:off x="1605960" y="2246760"/>
            <a:ext cx="8114040" cy="405324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84BC631-2E23-46A3-AD8F-DAF42DAE6460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/>
          <p:nvPr/>
        </p:nvSpPr>
        <p:spPr>
          <a:xfrm>
            <a:off x="0" y="0"/>
            <a:ext cx="11159640" cy="81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Добавление поставщиков и групп товаров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7" name="" descr=""/>
          <p:cNvPicPr/>
          <p:nvPr/>
        </p:nvPicPr>
        <p:blipFill>
          <a:blip r:embed="rId1"/>
          <a:stretch/>
        </p:blipFill>
        <p:spPr>
          <a:xfrm>
            <a:off x="502200" y="3240000"/>
            <a:ext cx="11017800" cy="1715400"/>
          </a:xfrm>
          <a:prstGeom prst="rect">
            <a:avLst/>
          </a:prstGeom>
          <a:ln w="0">
            <a:noFill/>
          </a:ln>
        </p:spPr>
      </p:pic>
      <p:pic>
        <p:nvPicPr>
          <p:cNvPr id="168" name="" descr=""/>
          <p:cNvPicPr/>
          <p:nvPr/>
        </p:nvPicPr>
        <p:blipFill>
          <a:blip r:embed="rId2"/>
          <a:stretch/>
        </p:blipFill>
        <p:spPr>
          <a:xfrm>
            <a:off x="228240" y="1542600"/>
            <a:ext cx="11831760" cy="133740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6BD138D-8E31-475D-B8E9-8B5221ED033F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3"/>
          <p:cNvSpPr/>
          <p:nvPr/>
        </p:nvSpPr>
        <p:spPr>
          <a:xfrm>
            <a:off x="0" y="0"/>
            <a:ext cx="1007964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Формирование выборки поставщиков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0" name="" descr=""/>
          <p:cNvPicPr/>
          <p:nvPr/>
        </p:nvPicPr>
        <p:blipFill>
          <a:blip r:embed="rId1"/>
          <a:stretch/>
        </p:blipFill>
        <p:spPr>
          <a:xfrm>
            <a:off x="360" y="1577880"/>
            <a:ext cx="3971880" cy="4001760"/>
          </a:xfrm>
          <a:prstGeom prst="rect">
            <a:avLst/>
          </a:prstGeom>
          <a:ln w="0">
            <a:noFill/>
          </a:ln>
        </p:spPr>
      </p:pic>
      <p:pic>
        <p:nvPicPr>
          <p:cNvPr id="171" name="" descr=""/>
          <p:cNvPicPr/>
          <p:nvPr/>
        </p:nvPicPr>
        <p:blipFill>
          <a:blip r:embed="rId2"/>
          <a:stretch/>
        </p:blipFill>
        <p:spPr>
          <a:xfrm>
            <a:off x="4500000" y="2009160"/>
            <a:ext cx="7403400" cy="321048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3261ABB-5A08-431D-9E69-2687FDAF7577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" descr=""/>
          <p:cNvPicPr/>
          <p:nvPr/>
        </p:nvPicPr>
        <p:blipFill>
          <a:blip r:embed="rId1"/>
          <a:stretch/>
        </p:blipFill>
        <p:spPr>
          <a:xfrm>
            <a:off x="3585240" y="1124640"/>
            <a:ext cx="7394760" cy="2650680"/>
          </a:xfrm>
          <a:prstGeom prst="rect">
            <a:avLst/>
          </a:prstGeom>
          <a:ln w="0">
            <a:noFill/>
          </a:ln>
        </p:spPr>
      </p:pic>
      <p:pic>
        <p:nvPicPr>
          <p:cNvPr id="173" name="" descr=""/>
          <p:cNvPicPr/>
          <p:nvPr/>
        </p:nvPicPr>
        <p:blipFill>
          <a:blip r:embed="rId2"/>
          <a:stretch/>
        </p:blipFill>
        <p:spPr>
          <a:xfrm>
            <a:off x="3602520" y="4007880"/>
            <a:ext cx="7355880" cy="2652120"/>
          </a:xfrm>
          <a:prstGeom prst="rect">
            <a:avLst/>
          </a:prstGeom>
          <a:ln w="0">
            <a:noFill/>
          </a:ln>
        </p:spPr>
      </p:pic>
      <p:sp>
        <p:nvSpPr>
          <p:cNvPr id="174" name="PlaceHolder 13"/>
          <p:cNvSpPr/>
          <p:nvPr/>
        </p:nvSpPr>
        <p:spPr>
          <a:xfrm>
            <a:off x="0" y="0"/>
            <a:ext cx="1007964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Анализ выборки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5" name="" descr=""/>
          <p:cNvPicPr/>
          <p:nvPr/>
        </p:nvPicPr>
        <p:blipFill>
          <a:blip r:embed="rId3"/>
          <a:stretch/>
        </p:blipFill>
        <p:spPr>
          <a:xfrm>
            <a:off x="77400" y="1165320"/>
            <a:ext cx="3342600" cy="315468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AD9E877-704D-4CAA-BA5B-51012DE6CA3A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4"/>
          <p:cNvSpPr/>
          <p:nvPr/>
        </p:nvSpPr>
        <p:spPr>
          <a:xfrm>
            <a:off x="643320" y="10080"/>
            <a:ext cx="10900080" cy="13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3600" spc="-1" strike="noStrike">
              <a:solidFill>
                <a:srgbClr val="332974"/>
              </a:solidFill>
              <a:latin typeface="Montserrat SemiBold"/>
            </a:endParaRPr>
          </a:p>
        </p:txBody>
      </p:sp>
      <p:pic>
        <p:nvPicPr>
          <p:cNvPr id="177" name="" descr=""/>
          <p:cNvPicPr/>
          <p:nvPr/>
        </p:nvPicPr>
        <p:blipFill>
          <a:blip r:embed="rId1"/>
          <a:stretch/>
        </p:blipFill>
        <p:spPr>
          <a:xfrm>
            <a:off x="3022200" y="1440000"/>
            <a:ext cx="7597800" cy="1235880"/>
          </a:xfrm>
          <a:prstGeom prst="rect">
            <a:avLst/>
          </a:prstGeom>
          <a:ln w="0">
            <a:noFill/>
          </a:ln>
        </p:spPr>
      </p:pic>
      <p:pic>
        <p:nvPicPr>
          <p:cNvPr id="178" name="" descr=""/>
          <p:cNvPicPr/>
          <p:nvPr/>
        </p:nvPicPr>
        <p:blipFill>
          <a:blip r:embed="rId2"/>
          <a:stretch/>
        </p:blipFill>
        <p:spPr>
          <a:xfrm>
            <a:off x="3022200" y="2880000"/>
            <a:ext cx="7448400" cy="2259360"/>
          </a:xfrm>
          <a:prstGeom prst="rect">
            <a:avLst/>
          </a:prstGeom>
          <a:ln w="0">
            <a:noFill/>
          </a:ln>
        </p:spPr>
      </p:pic>
      <p:sp>
        <p:nvSpPr>
          <p:cNvPr id="179" name=""/>
          <p:cNvSpPr/>
          <p:nvPr/>
        </p:nvSpPr>
        <p:spPr>
          <a:xfrm>
            <a:off x="0" y="0"/>
            <a:ext cx="8678160" cy="73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  <a:ea typeface="Microsoft YaHei"/>
              </a:rPr>
              <a:t>Сохранение результатов оценки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0" name="" descr=""/>
          <p:cNvPicPr/>
          <p:nvPr/>
        </p:nvPicPr>
        <p:blipFill>
          <a:blip r:embed="rId3"/>
          <a:stretch/>
        </p:blipFill>
        <p:spPr>
          <a:xfrm>
            <a:off x="0" y="1440000"/>
            <a:ext cx="2866320" cy="306000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44DC001-B9E7-45C4-86A8-CC2AE4C89B24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1228760" cy="92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600" spc="-1" strike="noStrike">
                <a:solidFill>
                  <a:schemeClr val="dk1"/>
                </a:solidFill>
                <a:latin typeface="Montserrat SemiBold"/>
              </a:rPr>
              <a:t>Практическая значимость работы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2"/>
          <p:cNvSpPr>
            <a:spLocks noGrp="1"/>
          </p:cNvSpPr>
          <p:nvPr>
            <p:ph type="ftr" idx="50"/>
          </p:nvPr>
        </p:nvSpPr>
        <p:spPr>
          <a:xfrm>
            <a:off x="1333440" y="6352560"/>
            <a:ext cx="747936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graphicFrame>
        <p:nvGraphicFramePr>
          <p:cNvPr id="183" name=""/>
          <p:cNvGraphicFramePr/>
          <p:nvPr/>
        </p:nvGraphicFramePr>
        <p:xfrm>
          <a:off x="313560" y="1138680"/>
          <a:ext cx="7919640" cy="2779560"/>
        </p:xfrm>
        <a:graphic>
          <a:graphicData uri="http://schemas.openxmlformats.org/drawingml/2006/table">
            <a:tbl>
              <a:tblPr/>
              <a:tblGrid>
                <a:gridCol w="3959280"/>
                <a:gridCol w="3960720"/>
              </a:tblGrid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Направление</a:t>
                      </a:r>
                      <a:endParaRPr b="0" lang="ru-RU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Эффект</a:t>
                      </a:r>
                      <a:endParaRPr b="0" lang="ru-RU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Автоматизация 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Сокращение времени проверки поставщика с нескольких часов до 1-2 минут 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Точность 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Прогнозирование рисков с точностью &gt;90% 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Экономия 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2,5 руб./запрос против 10 000 руб./год (экономия до 70%) 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Безопасность 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Снижение риска финансовых потерь на 40-50%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C35B95A-298C-4997-AF2E-01C0BDCE1995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/>
          </p:nvPr>
        </p:nvSpPr>
        <p:spPr>
          <a:xfrm>
            <a:off x="3759120" y="5218920"/>
            <a:ext cx="7822440" cy="745560"/>
          </a:xfrm>
          <a:prstGeom prst="rect">
            <a:avLst/>
          </a:prstGeom>
          <a:solidFill>
            <a:schemeClr val="lt1">
              <a:alpha val="80000"/>
            </a:schemeClr>
          </a:solidFill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6"/>
                </a:solidFill>
                <a:latin typeface="Montserrat"/>
              </a:rPr>
              <a:t>Научный руководитель: Андреев Илья Александрович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3759120" y="4242240"/>
            <a:ext cx="7822440" cy="772920"/>
          </a:xfrm>
          <a:prstGeom prst="rect">
            <a:avLst/>
          </a:prstGeom>
          <a:solidFill>
            <a:schemeClr val="lt1">
              <a:alpha val="80000"/>
            </a:schemeClr>
          </a:solidFill>
          <a:ln w="0">
            <a:noFill/>
          </a:ln>
        </p:spPr>
        <p:txBody>
          <a:bodyPr lIns="91440" rIns="91440" tIns="45720" bIns="45720" anchor="t">
            <a:normAutofit fontScale="83888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dk1"/>
                </a:solidFill>
                <a:latin typeface="Montserrat"/>
              </a:rPr>
              <a:t>Студент: Альвицов Данил Сергеевич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dk1"/>
                </a:solidFill>
                <a:latin typeface="Montserrat"/>
              </a:rPr>
              <a:t>Группа: БВТ2104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/>
          </p:nvPr>
        </p:nvSpPr>
        <p:spPr>
          <a:xfrm>
            <a:off x="4776840" y="6168600"/>
            <a:ext cx="2637000" cy="33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spcBef>
                <a:spcPts val="1417"/>
              </a:spcBef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4"/>
          <p:cNvSpPr>
            <a:spLocks noGrp="1"/>
          </p:cNvSpPr>
          <p:nvPr>
            <p:ph type="title"/>
          </p:nvPr>
        </p:nvSpPr>
        <p:spPr>
          <a:xfrm>
            <a:off x="3759120" y="2007000"/>
            <a:ext cx="7822440" cy="2031480"/>
          </a:xfrm>
          <a:prstGeom prst="rect">
            <a:avLst/>
          </a:prstGeom>
          <a:solidFill>
            <a:schemeClr val="lt1">
              <a:alpha val="80000"/>
            </a:schemeClr>
          </a:solidFill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pc="-1" strike="noStrike">
                <a:solidFill>
                  <a:schemeClr val="dk1"/>
                </a:solidFill>
                <a:latin typeface="Montserrat SemiBold"/>
              </a:rPr>
              <a:t>Спасибо за внимание</a:t>
            </a:r>
            <a:endParaRPr b="0" lang="ru-RU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8161</TotalTime>
  <Application>LibreOffice/24.2.4.2$Windows_X86_64 LibreOffice_project/51a6219feb6075d9a4c46691dcfe0cd9c4fff3c2</Application>
  <AppVersion>15.0000</AppVersion>
  <Words>1381</Words>
  <Paragraphs>220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2023-04-19T21:39:12Z</dcterms:created>
  <dc:creator>user [v4]</dc:creator>
  <dc:description/>
  <dc:language>ru-RU</dc:language>
  <cp:lastModifiedBy/>
  <dcterms:modified xsi:type="dcterms:W3CDTF">2026-04-25T18:46:52Z</dcterms:modified>
  <cp:revision>65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Широкоэкранный</vt:lpwstr>
  </property>
  <property fmtid="{D5CDD505-2E9C-101B-9397-08002B2CF9AE}" pid="4" name="Slides">
    <vt:i4>47</vt:i4>
  </property>
</Properties>
</file>