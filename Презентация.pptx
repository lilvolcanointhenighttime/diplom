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9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notesSlides/notesSlide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19.xml.rels" ContentType="application/vnd.openxmlformats-package.relationships+xml"/>
  <Override PartName="/ppt/media/image1.png" ContentType="image/png"/>
  <Override PartName="/ppt/media/image2.svg" ContentType="image/svg"/>
  <Override PartName="/ppt/media/image5.png" ContentType="image/png"/>
  <Override PartName="/ppt/media/image3.png" ContentType="image/png"/>
  <Override PartName="/ppt/media/image15.png" ContentType="image/png"/>
  <Override PartName="/ppt/media/image8.svg" ContentType="image/svg"/>
  <Override PartName="/ppt/media/image4.svg" ContentType="image/svg"/>
  <Override PartName="/ppt/media/image11.png" ContentType="image/png"/>
  <Override PartName="/ppt/media/image7.png" ContentType="image/png"/>
  <Override PartName="/ppt/media/image6.png" ContentType="image/png"/>
  <Override PartName="/ppt/media/image9.png" ContentType="image/png"/>
  <Override PartName="/ppt/media/image10.svg" ContentType="image/svg"/>
  <Override PartName="/ppt/media/image12.png" ContentType="image/png"/>
  <Override PartName="/ppt/media/image13.png" ContentType="image/png"/>
  <Override PartName="/ppt/media/image14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</p:sldMasterIdLst>
  <p:notesMasterIdLst>
    <p:notesMasterId r:id="rId25"/>
  </p:notes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notesMaster" Target="notesMasters/notesMaster1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0" Type="http://schemas.openxmlformats.org/officeDocument/2006/relationships/slide" Target="slides/slide15.xml"/><Relationship Id="rId41" Type="http://schemas.openxmlformats.org/officeDocument/2006/relationships/slide" Target="slides/slide16.xml"/><Relationship Id="rId42" Type="http://schemas.openxmlformats.org/officeDocument/2006/relationships/slide" Target="slides/slide17.xml"/><Relationship Id="rId43" Type="http://schemas.openxmlformats.org/officeDocument/2006/relationships/slide" Target="slides/slide18.xml"/><Relationship Id="rId44" Type="http://schemas.openxmlformats.org/officeDocument/2006/relationships/slide" Target="slides/slide19.xml"/><Relationship Id="rId4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перемещения страницы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&lt;верхний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dt" idx="4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ftr" idx="4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 type="sldNum" idx="4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F8422A3-24B2-43CD-AED8-7CB66880806F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Уважаемый председатель и члены государственной экзаменационной комиссии!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Вашему вниманию представляю свою выпускную квалификационную работу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45CD0D-7EF1-4152-9003-DD84F89930E1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520" cy="308340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520" cy="35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Спасибо за внимание, готов ответить на ваши вопросы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68920" cy="455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31F1E7-86FA-4A27-BF78-EFF232B5F519}" type="slidenum">
              <a:rPr b="0" lang="ru-RU" sz="12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ТУСИ_Графическое изображение_вид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FAA896-C695-4E07-89B2-E60D6F22AD96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ТУСИ_Иллюстрация процесс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93984B9-8195-4A49-BD1E-26CD393D0174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ТУСИ_График_вид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60FB58-B5E5-4FD6-BF0A-4450A5C37CEC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ТУСИ_График_вид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E5F3CA8-0A08-42DC-952D-686C663D749A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ТУСИ_График_вид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3B3CC7E-BF38-4C9F-999C-A8054794DD41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ТУСИ_График_вид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DF8F557-618B-4ACF-B48B-17F4800BEB74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ТУСИ_Цифры для определения_вид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7133831-A43E-4E04-B8DA-3996FEE5FEBC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ТУСИ_Цифры для определения_вид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570D0438-F318-4053-9820-8864F4E3B835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ТУСИ_Текст_вид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8837AA72-C54E-496A-9A1D-DE11845C2A94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ТУСИ_Текст_вид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D29F847-6513-4998-B67C-F71A6DD4ED0A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ТУСИ_Таблица_вид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E1AE1369-3AA8-4823-90B7-EEF8DABB80A5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ТУСИ_Таблица_вид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1E3A616-56C1-4332-92D8-698B20A00F22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ТУСИ_вид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5B2274D-D661-4B4C-94AB-D167ED724F39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ТУСИ_Графическое изображение_вид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90257BF7-5208-4D81-B46B-2E8DA87271E8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ТУСИ_Графическое изображение_вид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B81EF3F-9EF0-45D4-82FB-935C9FAA97B1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ТУСИ_Графическое изображение_вид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511B05FA-EFC7-489D-848A-764558128B5E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ТУСИ_Графическое изображение_вид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D42BD790-7236-4DA4-8ABA-5150E5650772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ТУСИ_Графическое изображение_вид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57184803-7C3D-4C77-8AAD-783F4E77890D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МТУСИ_Графическое изображение_вид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F04AB7EC-B282-4360-873E-DFE3B88D0E8C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3512E404-C665-4EFD-91C1-A20B6F1128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5.png"/><Relationship Id="rId9" Type="http://schemas.openxmlformats.org/officeDocument/2006/relationships/image" Target="../media/image7.png"/><Relationship Id="rId10" Type="http://schemas.openxmlformats.org/officeDocument/2006/relationships/image" Target="../media/image8.svg"/><Relationship Id="rId11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5.png"/><Relationship Id="rId9" Type="http://schemas.openxmlformats.org/officeDocument/2006/relationships/image" Target="../media/image9.png"/><Relationship Id="rId10" Type="http://schemas.openxmlformats.org/officeDocument/2006/relationships/image" Target="../media/image10.svg"/><Relationship Id="rId11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1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2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3" name="Прямоугольник: скругленные углы 9"/>
          <p:cNvSpPr/>
          <p:nvPr/>
        </p:nvSpPr>
        <p:spPr>
          <a:xfrm>
            <a:off x="609120" y="240480"/>
            <a:ext cx="10970640" cy="6301440"/>
          </a:xfrm>
          <a:prstGeom prst="roundRect">
            <a:avLst>
              <a:gd name="adj" fmla="val 20444"/>
            </a:avLst>
          </a:prstGeom>
          <a:blipFill rotWithShape="0">
            <a:blip r:embed="rId8"/>
            <a:srcRect/>
            <a:stretch/>
          </a:blipFill>
          <a:ln w="38100">
            <a:noFill/>
          </a:ln>
          <a:effectLst>
            <a:glow rad="63360">
              <a:srgbClr val="352379">
                <a:alpha val="2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7000"/>
              </a:lnSpc>
              <a:spcAft>
                <a:spcPts val="799"/>
              </a:spcAft>
            </a:pPr>
            <a:endParaRPr b="0" lang="ru-RU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4" name="Рисунок 10" descr=""/>
          <p:cNvPicPr/>
          <p:nvPr/>
        </p:nvPicPr>
        <p:blipFill>
          <a:blip r:embed="rId9"/>
          <a:stretch/>
        </p:blipFill>
        <p:spPr>
          <a:xfrm>
            <a:off x="609120" y="240480"/>
            <a:ext cx="4125960" cy="20836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10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8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9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ftr" idx="1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2"/>
          </p:nvPr>
        </p:nvSpPr>
        <p:spPr>
          <a:xfrm>
            <a:off x="8966160" y="635256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C5427E-104C-4918-90DD-002922EB133C}" type="slidenum">
              <a: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8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13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14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ftr" idx="3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ldNum" idx="4"/>
          </p:nvPr>
        </p:nvSpPr>
        <p:spPr>
          <a:xfrm>
            <a:off x="8966160" y="635256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21C09A-5922-4F39-94D9-5B1BFFF0543D}" type="slidenum">
              <a: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8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18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19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ftr" idx="5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6"/>
          </p:nvPr>
        </p:nvSpPr>
        <p:spPr>
          <a:xfrm>
            <a:off x="8966160" y="635256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2B0C85A-7CC2-426D-911D-D7C01B25277D}" type="slidenum">
              <a: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8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23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24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ftr" idx="7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ldNum" idx="8"/>
          </p:nvPr>
        </p:nvSpPr>
        <p:spPr>
          <a:xfrm>
            <a:off x="8966160" y="635256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B97269-0CC4-4C2B-B655-2648CB6458AF}" type="slidenum">
              <a: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8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28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29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ftr" idx="9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10"/>
          </p:nvPr>
        </p:nvSpPr>
        <p:spPr>
          <a:xfrm>
            <a:off x="8966160" y="635256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F5D6AF-04E1-4242-B42A-DBC5FBEDD77D}" type="slidenum">
              <a: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8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33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34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ftr" idx="11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12"/>
          </p:nvPr>
        </p:nvSpPr>
        <p:spPr>
          <a:xfrm>
            <a:off x="8966160" y="635256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71A9C8-8DD1-4AE0-B951-8E68B5B0BCEB}" type="slidenum">
              <a: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8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38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39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ftr" idx="13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14"/>
          </p:nvPr>
        </p:nvSpPr>
        <p:spPr>
          <a:xfrm>
            <a:off x="8966160" y="635256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40EA68-1B75-4664-83D4-B7BF36AEA4A1}" type="slidenum">
              <a: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8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43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44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ftr" idx="15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16"/>
          </p:nvPr>
        </p:nvSpPr>
        <p:spPr>
          <a:xfrm>
            <a:off x="8966160" y="635256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70C8F35-431A-4775-908B-E5C178E7348D}" type="slidenum">
              <a: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8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48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49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ftr" idx="17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18"/>
          </p:nvPr>
        </p:nvSpPr>
        <p:spPr>
          <a:xfrm>
            <a:off x="8966160" y="635256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26E631-7794-4E5C-98D9-0684136F021E}" type="slidenum">
              <a: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8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53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54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ftr" idx="19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20"/>
          </p:nvPr>
        </p:nvSpPr>
        <p:spPr>
          <a:xfrm>
            <a:off x="8966160" y="635256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2146B0-1F60-4938-811B-E101CC347081}" type="slidenum">
              <a: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8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60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61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62" name="Прямоугольник: скругленные углы 9"/>
          <p:cNvSpPr/>
          <p:nvPr/>
        </p:nvSpPr>
        <p:spPr>
          <a:xfrm>
            <a:off x="609120" y="240480"/>
            <a:ext cx="10970640" cy="6301440"/>
          </a:xfrm>
          <a:prstGeom prst="roundRect">
            <a:avLst>
              <a:gd name="adj" fmla="val 20444"/>
            </a:avLst>
          </a:prstGeom>
          <a:blipFill rotWithShape="0">
            <a:blip r:embed="rId8"/>
            <a:srcRect/>
            <a:stretch/>
          </a:blipFill>
          <a:ln w="38100">
            <a:noFill/>
          </a:ln>
          <a:effectLst>
            <a:glow rad="63360">
              <a:srgbClr val="352379">
                <a:alpha val="2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7000"/>
              </a:lnSpc>
              <a:spcAft>
                <a:spcPts val="799"/>
              </a:spcAft>
            </a:pPr>
            <a:endParaRPr b="0" lang="ru-RU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63" name="Рисунок 8" descr="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265040" y="827640"/>
            <a:ext cx="2794680" cy="8589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11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65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66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67" name="PlaceHolder 1"/>
          <p:cNvSpPr>
            <a:spLocks noGrp="1"/>
          </p:cNvSpPr>
          <p:nvPr>
            <p:ph type="ftr" idx="21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ldNum" idx="22"/>
          </p:nvPr>
        </p:nvSpPr>
        <p:spPr>
          <a:xfrm>
            <a:off x="8966160" y="635256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F45335-D14D-40D8-91D6-787D1A58C254}" type="slidenum">
              <a: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8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70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71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72" name="PlaceHolder 1"/>
          <p:cNvSpPr>
            <a:spLocks noGrp="1"/>
          </p:cNvSpPr>
          <p:nvPr>
            <p:ph type="ftr" idx="23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24"/>
          </p:nvPr>
        </p:nvSpPr>
        <p:spPr>
          <a:xfrm>
            <a:off x="8966160" y="635256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E7B35A-134D-4986-BC49-E66694C3A126}" type="slidenum">
              <a: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8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75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76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77" name="PlaceHolder 1"/>
          <p:cNvSpPr>
            <a:spLocks noGrp="1"/>
          </p:cNvSpPr>
          <p:nvPr>
            <p:ph type="ftr" idx="25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ldNum" idx="26"/>
          </p:nvPr>
        </p:nvSpPr>
        <p:spPr>
          <a:xfrm>
            <a:off x="8966160" y="635256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BB1408-46F5-4A09-8641-C6431C5EF534}" type="slidenum">
              <a: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8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80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81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82" name="Прямоугольник: скругленные углы 9"/>
          <p:cNvSpPr/>
          <p:nvPr/>
        </p:nvSpPr>
        <p:spPr>
          <a:xfrm>
            <a:off x="609120" y="240480"/>
            <a:ext cx="10970640" cy="6301440"/>
          </a:xfrm>
          <a:prstGeom prst="roundRect">
            <a:avLst>
              <a:gd name="adj" fmla="val 20444"/>
            </a:avLst>
          </a:prstGeom>
          <a:blipFill rotWithShape="0">
            <a:blip r:embed="rId8"/>
            <a:srcRect/>
            <a:stretch/>
          </a:blipFill>
          <a:ln w="38100">
            <a:noFill/>
          </a:ln>
          <a:effectLst>
            <a:glow rad="63360">
              <a:srgbClr val="352379">
                <a:alpha val="2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7000"/>
              </a:lnSpc>
              <a:spcAft>
                <a:spcPts val="799"/>
              </a:spcAft>
            </a:pPr>
            <a:endParaRPr b="0" lang="ru-RU" sz="1800" spc="-1" strike="noStrike">
              <a:solidFill>
                <a:schemeClr val="lt1"/>
              </a:solidFill>
              <a:latin typeface="Calibri"/>
              <a:ea typeface="Calibri"/>
            </a:endParaRPr>
          </a:p>
        </p:txBody>
      </p:sp>
      <p:pic>
        <p:nvPicPr>
          <p:cNvPr id="83" name="Рисунок 2" descr="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820800" y="368280"/>
            <a:ext cx="3413160" cy="17398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11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85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86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87" name="PlaceHolder 1"/>
          <p:cNvSpPr>
            <a:spLocks noGrp="1"/>
          </p:cNvSpPr>
          <p:nvPr>
            <p:ph type="ftr" idx="27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8"/>
          </p:nvPr>
        </p:nvSpPr>
        <p:spPr>
          <a:xfrm>
            <a:off x="8966160" y="635256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40CAC7-9AB3-48E4-A8E7-D07D05399FB0}" type="slidenum">
              <a: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8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90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91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ftr" idx="29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30"/>
          </p:nvPr>
        </p:nvSpPr>
        <p:spPr>
          <a:xfrm>
            <a:off x="8966160" y="635256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154FD1-87EE-4A07-8312-895B9079287F}" type="slidenum">
              <a: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8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95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96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97" name="PlaceHolder 1"/>
          <p:cNvSpPr>
            <a:spLocks noGrp="1"/>
          </p:cNvSpPr>
          <p:nvPr>
            <p:ph type="ftr" idx="31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ldNum" idx="32"/>
          </p:nvPr>
        </p:nvSpPr>
        <p:spPr>
          <a:xfrm>
            <a:off x="8966160" y="635256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8CE20E-05CA-415F-BA55-D4A1AA044A4C}" type="slidenum">
              <a: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8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100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101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102" name="PlaceHolder 1"/>
          <p:cNvSpPr>
            <a:spLocks noGrp="1"/>
          </p:cNvSpPr>
          <p:nvPr>
            <p:ph type="ftr" idx="33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ldNum" idx="34"/>
          </p:nvPr>
        </p:nvSpPr>
        <p:spPr>
          <a:xfrm>
            <a:off x="8966160" y="635256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47721D-5B71-48C2-B17D-65C1F56F4F69}" type="slidenum">
              <a: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8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105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106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107" name="PlaceHolder 1"/>
          <p:cNvSpPr>
            <a:spLocks noGrp="1"/>
          </p:cNvSpPr>
          <p:nvPr>
            <p:ph type="ftr" idx="35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ldNum" idx="36"/>
          </p:nvPr>
        </p:nvSpPr>
        <p:spPr>
          <a:xfrm>
            <a:off x="8966160" y="635256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B3E4B2-CA5C-452F-91C4-7587D755D5C5}" type="slidenum">
              <a: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8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Рисунок 1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760040" y="142200"/>
            <a:ext cx="949680" cy="290520"/>
          </a:xfrm>
          <a:prstGeom prst="rect">
            <a:avLst/>
          </a:prstGeom>
          <a:ln w="0">
            <a:noFill/>
          </a:ln>
        </p:spPr>
      </p:pic>
      <p:pic>
        <p:nvPicPr>
          <p:cNvPr id="110" name="Рисунок 9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921320" y="0"/>
            <a:ext cx="1269360" cy="1370520"/>
          </a:xfrm>
          <a:prstGeom prst="rect">
            <a:avLst/>
          </a:prstGeom>
          <a:ln w="0">
            <a:noFill/>
          </a:ln>
        </p:spPr>
      </p:pic>
      <p:pic>
        <p:nvPicPr>
          <p:cNvPr id="111" name="Рисунок 10" descr="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 flipH="1" rot="16200000">
            <a:off x="47880" y="5535000"/>
            <a:ext cx="1269360" cy="1370520"/>
          </a:xfrm>
          <a:prstGeom prst="rect">
            <a:avLst/>
          </a:prstGeom>
          <a:ln w="0">
            <a:noFill/>
          </a:ln>
        </p:spPr>
      </p:pic>
      <p:sp>
        <p:nvSpPr>
          <p:cNvPr id="112" name="PlaceHolder 1"/>
          <p:cNvSpPr>
            <a:spLocks noGrp="1"/>
          </p:cNvSpPr>
          <p:nvPr>
            <p:ph type="ftr" idx="37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ldNum" idx="38"/>
          </p:nvPr>
        </p:nvSpPr>
        <p:spPr>
          <a:xfrm>
            <a:off x="8966160" y="635256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D68FB7E-2D2D-4F0E-9502-6AABEF9FD89F}" type="slidenum">
              <a:rPr b="1" lang="ru-RU" sz="1600" spc="-1" strike="noStrike">
                <a:solidFill>
                  <a:schemeClr val="dk1">
                    <a:tint val="75000"/>
                  </a:schemeClr>
                </a:solidFill>
                <a:latin typeface="Montserrat"/>
              </a:rPr>
              <a:t>&lt;номер&gt;</a:t>
            </a:fld>
            <a:endParaRPr b="0" lang="ru-RU" sz="1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8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08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ftr" idx="39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40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E26E10-40A9-4DD0-ABE9-0F3B5E3412D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dt" idx="41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1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1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/>
          </p:nvPr>
        </p:nvSpPr>
        <p:spPr>
          <a:xfrm>
            <a:off x="3759120" y="5218920"/>
            <a:ext cx="7820640" cy="743760"/>
          </a:xfrm>
          <a:prstGeom prst="rect">
            <a:avLst/>
          </a:prstGeom>
          <a:solidFill>
            <a:schemeClr val="lt1">
              <a:alpha val="80000"/>
            </a:schemeClr>
          </a:solidFill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6"/>
                </a:solidFill>
                <a:latin typeface="Montserrat"/>
              </a:rPr>
              <a:t>Научный руководитель: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6"/>
                </a:solidFill>
                <a:latin typeface="Montserrat"/>
              </a:rPr>
              <a:t>к.э.н, доц. кафедры «КИС», Андреев Илья Александрович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6"/>
                </a:solidFill>
                <a:latin typeface="Montserrat"/>
              </a:rPr>
              <a:t>Научный консультант: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516"/>
              </a:spcAft>
              <a:buNone/>
            </a:pPr>
            <a:r>
              <a:rPr b="1" lang="ru-RU" sz="1600" spc="-1" strike="noStrike">
                <a:solidFill>
                  <a:schemeClr val="accent6"/>
                </a:solidFill>
                <a:latin typeface="Montserrat"/>
                <a:ea typeface="Microsoft YaHei"/>
              </a:rPr>
              <a:t>ст. преподаватель Колобенина Дарья Сергеевна</a:t>
            </a:r>
            <a:endParaRPr b="0" lang="ru-RU" sz="1600" spc="-1" strike="noStrike" u="sng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3759120" y="4242240"/>
            <a:ext cx="7820640" cy="771120"/>
          </a:xfrm>
          <a:prstGeom prst="rect">
            <a:avLst/>
          </a:prstGeom>
          <a:solidFill>
            <a:schemeClr val="lt1">
              <a:alpha val="80000"/>
            </a:schemeClr>
          </a:solidFill>
          <a:ln w="0">
            <a:noFill/>
          </a:ln>
        </p:spPr>
        <p:txBody>
          <a:bodyPr lIns="91440" rIns="91440" tIns="45720" bIns="45720" anchor="t">
            <a:normAutofit fontScale="83888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Montserrat"/>
              </a:rPr>
              <a:t>Студент: Альвицов Данил Сергеевич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Montserrat"/>
              </a:rPr>
              <a:t>Группа: БВТ2204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title"/>
          </p:nvPr>
        </p:nvSpPr>
        <p:spPr>
          <a:xfrm>
            <a:off x="3600000" y="1620000"/>
            <a:ext cx="6920640" cy="1849680"/>
          </a:xfrm>
          <a:prstGeom prst="rect">
            <a:avLst/>
          </a:prstGeom>
          <a:solidFill>
            <a:schemeClr val="lt1">
              <a:alpha val="80000"/>
            </a:schemeClr>
          </a:solidFill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000" spc="-1" strike="noStrike">
                <a:solidFill>
                  <a:schemeClr val="dk1"/>
                </a:solidFill>
                <a:latin typeface="Montserrat SemiBold"/>
              </a:rPr>
              <a:t>Информационная система комплексной оценки надежности поставщиков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226960" cy="92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332974"/>
                </a:solidFill>
                <a:latin typeface="Montserrat SemiBold"/>
              </a:rPr>
              <a:t>Актуальность темы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180000" y="920520"/>
            <a:ext cx="8459640" cy="39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1800" spc="-1" strike="noStrike">
                <a:solidFill>
                  <a:srgbClr val="332974"/>
                </a:solidFill>
                <a:latin typeface="Montserrat"/>
              </a:rPr>
              <a:t>Основные проблемы в компании АО «РТК»: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332974"/>
                </a:solidFill>
                <a:latin typeface="Montserrat"/>
              </a:rPr>
              <a:t>Проверка одного поставщика в компании занимает часы или дни (ручной сбор данных)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332974"/>
                </a:solidFill>
                <a:latin typeface="Montserrat"/>
              </a:rPr>
              <a:t>Субъективность оценки — каждый сотрудник оценивает по-своему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332974"/>
                </a:solidFill>
                <a:latin typeface="Montserrat"/>
              </a:rPr>
              <a:t>Риск ошибок → выбор ненадёжного поставщика → финансовые потери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800" spc="-1" strike="noStrike">
                <a:solidFill>
                  <a:srgbClr val="332974"/>
                </a:solidFill>
                <a:latin typeface="Montserrat"/>
              </a:rPr>
              <a:t>Моё приложение: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332974"/>
                </a:solidFill>
                <a:latin typeface="Montserrat"/>
              </a:rPr>
              <a:t>Сокращает время проверки до 1-2 минут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332974"/>
                </a:solidFill>
                <a:latin typeface="Montserrat"/>
              </a:rPr>
              <a:t>Даёт объективную оценку на основе ML-модели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332974"/>
                </a:solidFill>
                <a:latin typeface="Montserrat"/>
              </a:rPr>
              <a:t>Обеспечивает единый стандарт для всех поставщиков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1A607EF-0CF5-45D5-A2F4-46BA4610CC1A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8"/>
          <p:cNvSpPr/>
          <p:nvPr/>
        </p:nvSpPr>
        <p:spPr>
          <a:xfrm>
            <a:off x="360" y="360"/>
            <a:ext cx="11226960" cy="92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332974"/>
                </a:solidFill>
                <a:latin typeface="Montserrat SemiBold"/>
              </a:rPr>
              <a:t>Цель работы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360000" y="1002960"/>
            <a:ext cx="10772280" cy="97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332974"/>
                </a:solidFill>
                <a:latin typeface="Montserrat"/>
                <a:ea typeface="DejaVu Sans"/>
              </a:rPr>
              <a:t>Разработка информационной системы оценки благонадежности поставщика товаров </a:t>
            </a:r>
            <a:r>
              <a:rPr b="0" lang="ru-RU" sz="2000" spc="-1" strike="noStrike">
                <a:solidFill>
                  <a:srgbClr val="332974"/>
                </a:solidFill>
                <a:latin typeface="Montserrat"/>
                <a:ea typeface="Times New Roman"/>
              </a:rPr>
              <a:t>для повышения качества и эффективности труда сотрудников </a:t>
            </a:r>
            <a:r>
              <a:rPr b="0" lang="ru-RU" sz="2000" spc="-1" strike="noStrike">
                <a:solidFill>
                  <a:srgbClr val="332974"/>
                </a:solidFill>
                <a:latin typeface="Montserrat"/>
                <a:ea typeface="DejaVu Sans"/>
              </a:rPr>
              <a:t>организации АО «РТК»</a:t>
            </a:r>
            <a:r>
              <a:rPr b="0" lang="ru-RU" sz="2000" spc="-1" strike="noStrike">
                <a:solidFill>
                  <a:srgbClr val="332974"/>
                </a:solidFill>
                <a:latin typeface="Montserrat"/>
                <a:ea typeface="Times New Roman"/>
              </a:rPr>
              <a:t>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10"/>
          <p:cNvSpPr/>
          <p:nvPr/>
        </p:nvSpPr>
        <p:spPr>
          <a:xfrm>
            <a:off x="0" y="2318040"/>
            <a:ext cx="6726960" cy="92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3600" spc="-1" strike="noStrike">
                <a:solidFill>
                  <a:srgbClr val="332974"/>
                </a:solidFill>
                <a:latin typeface="Montserrat SemiBold"/>
                <a:ea typeface="Times New Roman"/>
              </a:rPr>
              <a:t>Объект исследования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387360" y="3060000"/>
            <a:ext cx="10772280" cy="59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332974"/>
                </a:solidFill>
                <a:latin typeface="Montserrat"/>
                <a:ea typeface="Times New Roman"/>
              </a:rPr>
              <a:t>Торговая организация АО "РТК".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11"/>
          <p:cNvSpPr/>
          <p:nvPr/>
        </p:nvSpPr>
        <p:spPr>
          <a:xfrm>
            <a:off x="0" y="3834360"/>
            <a:ext cx="11226960" cy="92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3600" spc="-1" strike="noStrike">
                <a:solidFill>
                  <a:srgbClr val="332974"/>
                </a:solidFill>
                <a:latin typeface="Montserrat SemiBold"/>
                <a:ea typeface="Times New Roman"/>
              </a:rPr>
              <a:t>Предмет исследования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454680" y="4602960"/>
            <a:ext cx="1077228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ru-RU" sz="2000" spc="-1" strike="noStrike">
                <a:solidFill>
                  <a:srgbClr val="332974"/>
                </a:solidFill>
                <a:latin typeface="Montserrat"/>
              </a:rPr>
              <a:t>Закупочная деятельность организации, в частности процесс оценки благонадежности и выбора поставщика товаров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8756F6C-3FD9-4ECF-8618-AAD774E54E6D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6"/>
          <p:cNvSpPr/>
          <p:nvPr/>
        </p:nvSpPr>
        <p:spPr>
          <a:xfrm>
            <a:off x="0" y="0"/>
            <a:ext cx="11157840" cy="125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332974"/>
                </a:solidFill>
                <a:latin typeface="Montserrat SemiBold"/>
              </a:rPr>
              <a:t>Описание и анализ бизнес процесса закупки товаров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1"/>
          <a:stretch/>
        </p:blipFill>
        <p:spPr>
          <a:xfrm>
            <a:off x="6026760" y="1620000"/>
            <a:ext cx="5671080" cy="3957840"/>
          </a:xfrm>
          <a:prstGeom prst="rect">
            <a:avLst/>
          </a:prstGeom>
          <a:ln w="0">
            <a:noFill/>
          </a:ln>
        </p:spPr>
      </p:pic>
      <p:pic>
        <p:nvPicPr>
          <p:cNvPr id="139" name="" descr=""/>
          <p:cNvPicPr/>
          <p:nvPr/>
        </p:nvPicPr>
        <p:blipFill>
          <a:blip r:embed="rId2"/>
          <a:stretch/>
        </p:blipFill>
        <p:spPr>
          <a:xfrm>
            <a:off x="720000" y="1620000"/>
            <a:ext cx="5472720" cy="395820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42184D2-C6B1-47DA-ACCC-F6B78006278B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7"/>
          <p:cNvSpPr/>
          <p:nvPr/>
        </p:nvSpPr>
        <p:spPr>
          <a:xfrm>
            <a:off x="3960" y="-180000"/>
            <a:ext cx="12055680" cy="96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332974"/>
                </a:solidFill>
                <a:latin typeface="Montserrat SemiBold"/>
              </a:rPr>
              <a:t>Декомпозиция блока «Выбор поставщика»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2160000" y="1080000"/>
            <a:ext cx="7557840" cy="534384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547D84A-1FB1-4A35-82ED-978D593ADFD3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697840" cy="92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chemeClr val="dk1"/>
                </a:solidFill>
                <a:latin typeface="Montserrat SemiBold"/>
              </a:rPr>
              <a:t>Сравнительный анализ готовых решений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ftr" idx="45"/>
          </p:nvPr>
        </p:nvSpPr>
        <p:spPr>
          <a:xfrm>
            <a:off x="1333440" y="638640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44" name="Объект 3"/>
          <p:cNvGraphicFramePr/>
          <p:nvPr/>
        </p:nvGraphicFramePr>
        <p:xfrm>
          <a:off x="1469520" y="972360"/>
          <a:ext cx="9148680" cy="4384800"/>
        </p:xfrm>
        <a:graphic>
          <a:graphicData uri="http://schemas.openxmlformats.org/drawingml/2006/table">
            <a:tbl>
              <a:tblPr/>
              <a:tblGrid>
                <a:gridCol w="1887120"/>
                <a:gridCol w="1884960"/>
                <a:gridCol w="1883160"/>
                <a:gridCol w="1622520"/>
                <a:gridCol w="1871280"/>
              </a:tblGrid>
              <a:tr h="821880">
                <a:tc>
                  <a:txBody>
                    <a:bodyPr lIns="44640" rIns="4464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Название системы \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Критерии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PLUSSELL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SAP Ariba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iTender SRM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Разработка собственной информационной системы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</a:tr>
              <a:tr h="274320">
                <a:tc>
                  <a:txBody>
                    <a:bodyPr lIns="44640" rIns="4464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1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2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3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4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algn="ctr"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5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</a:tr>
              <a:tr h="456840"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Стоимость поставки ПО, руб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62 100.00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128 800.00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17 260.00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Не требуется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639360"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Масштабность внедрения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Крупные оптовые компании и розничные магазины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Оптовые компании и розничные магазины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Мелкие розничные магазины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Мелкие розничные магазины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</a:tr>
              <a:tr h="456840"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Решение поставленных задач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Среднее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Полное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Низкое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Полное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56840"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Возможность оценки поставщиков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-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-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+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+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</a:tr>
              <a:tr h="639360">
                <a:tc>
                  <a:txBody>
                    <a:bodyPr lIns="44640" rIns="44640" anchor="t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Эффективность и наполнение доступных отчётов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-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-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+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+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639360">
                <a:tc>
                  <a:txBody>
                    <a:bodyPr lIns="44640" rIns="44640" anchor="t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1" lang="ru-RU" sz="1200" spc="-1" strike="noStrike">
                          <a:solidFill>
                            <a:schemeClr val="lt1"/>
                          </a:solidFill>
                          <a:latin typeface="Century Gothic"/>
                        </a:rPr>
                        <a:t>Многопользовательский режим и права доступа</a:t>
                      </a:r>
                      <a:endParaRPr b="0" lang="ru-RU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+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+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-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  <a:tc>
                  <a:txBody>
                    <a:bodyPr lIns="44640" rIns="44640" anchor="ctr">
                      <a:noAutofit/>
                    </a:bodyPr>
                    <a:p>
                      <a:pPr defTabSz="457200">
                        <a:lnSpc>
                          <a:spcPct val="107000"/>
                        </a:lnSpc>
                        <a:tabLst>
                          <a:tab algn="l" pos="630720"/>
                        </a:tabLst>
                      </a:pPr>
                      <a:r>
                        <a:rPr b="0" lang="ru-RU" sz="1200" spc="-1" strike="noStrike">
                          <a:solidFill>
                            <a:schemeClr val="dk1"/>
                          </a:solidFill>
                          <a:latin typeface="Century Gothic"/>
                        </a:rPr>
                        <a:t>+</a:t>
                      </a:r>
                      <a:endParaRPr b="0" lang="ru-RU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4640" marR="446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edce6"/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5C9B01F-784D-42ED-8660-97480F61E3E2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226960" cy="92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332974"/>
                </a:solidFill>
                <a:latin typeface="Montserrat SemiBold"/>
              </a:rPr>
              <a:t>Выбранные технические решения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141480" y="1088640"/>
            <a:ext cx="561600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1800" spc="-1" strike="noStrike">
                <a:solidFill>
                  <a:srgbClr val="332974"/>
                </a:solidFill>
                <a:latin typeface="Montserrat"/>
              </a:rPr>
              <a:t>1. Платформа клиентского приложения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332974"/>
                </a:solidFill>
                <a:latin typeface="Montserrat"/>
              </a:rPr>
              <a:t>    </a:t>
            </a:r>
            <a:r>
              <a:rPr b="0" lang="ru-RU" sz="1800" spc="-1" strike="noStrike">
                <a:solidFill>
                  <a:srgbClr val="332974"/>
                </a:solidFill>
                <a:latin typeface="Montserrat"/>
              </a:rPr>
              <a:t>1С:Предприятие 8.3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800" spc="-1" strike="noStrike">
                <a:solidFill>
                  <a:srgbClr val="332974"/>
                </a:solidFill>
                <a:latin typeface="Montserrat"/>
              </a:rPr>
              <a:t>2. Язык и среда разработки ML-сервиса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332974"/>
                </a:solidFill>
                <a:latin typeface="Montserrat"/>
              </a:rPr>
              <a:t>    </a:t>
            </a:r>
            <a:r>
              <a:rPr b="0" lang="ru-RU" sz="1800" spc="-1" strike="noStrike">
                <a:solidFill>
                  <a:srgbClr val="332974"/>
                </a:solidFill>
                <a:latin typeface="Montserrat"/>
              </a:rPr>
              <a:t>Python 3.11+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800" spc="-1" strike="noStrike">
                <a:solidFill>
                  <a:srgbClr val="332974"/>
                </a:solidFill>
                <a:latin typeface="Montserrat"/>
              </a:rPr>
              <a:t>3. Библиотеки машинного обучения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332974"/>
                </a:solidFill>
                <a:latin typeface="Montserrat"/>
              </a:rPr>
              <a:t>    </a:t>
            </a:r>
            <a:r>
              <a:rPr b="0" lang="ru-RU" sz="1800" spc="-1" strike="noStrike">
                <a:solidFill>
                  <a:srgbClr val="332974"/>
                </a:solidFill>
                <a:latin typeface="Montserrat"/>
              </a:rPr>
              <a:t>Scikit-learn, XGBoost, Imbalanced-learn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5940000" y="1080000"/>
            <a:ext cx="561600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1800" spc="-1" strike="noStrike">
                <a:solidFill>
                  <a:srgbClr val="332974"/>
                </a:solidFill>
                <a:latin typeface="Montserrat"/>
              </a:rPr>
              <a:t>4. Фреймворк для создания API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332974"/>
                </a:solidFill>
                <a:latin typeface="Montserrat"/>
              </a:rPr>
              <a:t>    </a:t>
            </a:r>
            <a:r>
              <a:rPr b="0" lang="ru-RU" sz="1800" spc="-1" strike="noStrike">
                <a:solidFill>
                  <a:srgbClr val="332974"/>
                </a:solidFill>
                <a:latin typeface="Montserrat"/>
              </a:rPr>
              <a:t>FastAP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800" spc="-1" strike="noStrike">
                <a:solidFill>
                  <a:srgbClr val="332974"/>
                </a:solidFill>
                <a:latin typeface="Montserrat"/>
              </a:rPr>
              <a:t>5. HTTP-клиент для внешних запросов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332974"/>
                </a:solidFill>
                <a:latin typeface="Montserrat"/>
              </a:rPr>
              <a:t>    </a:t>
            </a:r>
            <a:r>
              <a:rPr b="0" lang="ru-RU" sz="1800" spc="-1" strike="noStrike">
                <a:solidFill>
                  <a:srgbClr val="332974"/>
                </a:solidFill>
                <a:latin typeface="Montserrat"/>
              </a:rPr>
              <a:t>aiohttp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800" spc="-1" strike="noStrike">
                <a:solidFill>
                  <a:srgbClr val="332974"/>
                </a:solidFill>
                <a:latin typeface="Montserrat"/>
              </a:rPr>
              <a:t>6. Внешний API-сервис для получения данных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rgbClr val="332974"/>
                </a:solidFill>
                <a:latin typeface="Montserrat"/>
              </a:rPr>
              <a:t>    </a:t>
            </a:r>
            <a:r>
              <a:rPr b="0" lang="ru-RU" sz="1800" spc="-1" strike="noStrike">
                <a:solidFill>
                  <a:srgbClr val="332974"/>
                </a:solidFill>
                <a:latin typeface="Montserrat"/>
              </a:rPr>
              <a:t>API "Репутация"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E9EB8D9-2085-4595-A901-A2CBE0B53618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226960" cy="92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332974"/>
                </a:solidFill>
                <a:latin typeface="Montserrat SemiBold"/>
              </a:rPr>
              <a:t>Архитектурное проектирование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ftr" idx="46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1"/>
          <a:stretch/>
        </p:blipFill>
        <p:spPr>
          <a:xfrm>
            <a:off x="2340360" y="1611720"/>
            <a:ext cx="7554960" cy="41432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CFBAD07-F329-41AA-B97B-CA7C2D84C0D1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5"/>
          <p:cNvSpPr/>
          <p:nvPr/>
        </p:nvSpPr>
        <p:spPr>
          <a:xfrm>
            <a:off x="-76320" y="0"/>
            <a:ext cx="7737840" cy="7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8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332974"/>
                </a:solidFill>
                <a:latin typeface="Montserrat SemiBold"/>
                <a:ea typeface="Microsoft YaHei"/>
              </a:rPr>
              <a:t>Архитектура Python-сервиса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2" name="" descr=""/>
          <p:cNvPicPr/>
          <p:nvPr/>
        </p:nvPicPr>
        <p:blipFill>
          <a:blip r:embed="rId1"/>
          <a:stretch/>
        </p:blipFill>
        <p:spPr>
          <a:xfrm>
            <a:off x="4140360" y="1620360"/>
            <a:ext cx="4134960" cy="464760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945CE1AD-4691-4930-BBD8-9180F5E67D05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180000" y="936360"/>
            <a:ext cx="10517400" cy="3203280"/>
          </a:xfrm>
          <a:prstGeom prst="rect">
            <a:avLst/>
          </a:prstGeom>
          <a:ln w="0">
            <a:noFill/>
          </a:ln>
        </p:spPr>
      </p:pic>
      <p:sp>
        <p:nvSpPr>
          <p:cNvPr id="154" name="PlaceHolder 9"/>
          <p:cNvSpPr/>
          <p:nvPr/>
        </p:nvSpPr>
        <p:spPr>
          <a:xfrm>
            <a:off x="0" y="-36000"/>
            <a:ext cx="7559640" cy="7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8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332974"/>
                </a:solidFill>
                <a:latin typeface="Montserrat SemiBold"/>
                <a:ea typeface="Microsoft YaHei"/>
              </a:rPr>
              <a:t>Архитектура модуля FastAPI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80ACE20-FDD2-4AEE-A0C9-B27E1D1D37DE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4"/>
          <p:cNvSpPr/>
          <p:nvPr/>
        </p:nvSpPr>
        <p:spPr>
          <a:xfrm>
            <a:off x="0" y="0"/>
            <a:ext cx="6479640" cy="7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8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332974"/>
                </a:solidFill>
                <a:latin typeface="Montserrat SemiBold"/>
                <a:ea typeface="Microsoft YaHei"/>
              </a:rPr>
              <a:t>Архитектура ИИ модели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360000" y="867240"/>
            <a:ext cx="5939640" cy="58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b="0" lang="ru-RU" sz="1400" spc="-1" strike="noStrike">
                <a:solidFill>
                  <a:srgbClr val="000000"/>
                </a:solidFill>
                <a:latin typeface="Montserrat SemiBold"/>
              </a:rPr>
              <a:t>1. Главный класс – SupplierRiskModel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</a:rPr>
              <a:t>    </a:t>
            </a:r>
            <a:r>
              <a:rPr b="0" lang="ru-RU" sz="1400" spc="-1" strike="noStrike">
                <a:solidFill>
                  <a:srgbClr val="000000"/>
                </a:solidFill>
                <a:latin typeface="Montserrat"/>
              </a:rPr>
              <a:t>train_high_accuracy_model() – обучить модель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</a:rPr>
              <a:t>    </a:t>
            </a:r>
            <a:r>
              <a:rPr b="0" lang="ru-RU" sz="1400" spc="-1" strike="noStrike">
                <a:solidFill>
                  <a:srgbClr val="000000"/>
                </a:solidFill>
                <a:latin typeface="Montserrat"/>
              </a:rPr>
              <a:t>predict_risk() – предсказать риск для нового поставщика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</a:rPr>
              <a:t>    </a:t>
            </a:r>
            <a:r>
              <a:rPr b="0" lang="ru-RU" sz="1400" spc="-1" strike="noStrike">
                <a:solidFill>
                  <a:srgbClr val="000000"/>
                </a:solidFill>
                <a:latin typeface="Montserrat"/>
              </a:rPr>
              <a:t>save_model() / load_model() – сохранить и загрузить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b="0" lang="ru-RU" sz="1400" spc="-1" strike="noStrike">
                <a:solidFill>
                  <a:srgbClr val="000000"/>
                </a:solidFill>
                <a:latin typeface="Montserrat SemiBold"/>
                <a:ea typeface="Microsoft YaHei"/>
              </a:rPr>
              <a:t>2. Тип модели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icrosoft YaHei"/>
              </a:rPr>
              <a:t>    </a:t>
            </a: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icrosoft YaHei"/>
              </a:rPr>
              <a:t>Ансамблевый классификатор (StackingClassifier)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icrosoft YaHei"/>
              </a:rPr>
              <a:t>    </a:t>
            </a: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icrosoft YaHei"/>
              </a:rPr>
              <a:t>Объединяет 4 алгоритма машинного обучения в один комплексный-алгоритм: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icrosoft YaHei"/>
              </a:rPr>
              <a:t>RandomForest (300 деревьев)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icrosoft YaHei"/>
              </a:rPr>
              <a:t>BalancedRandomForest (200 деревьев)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icrosoft YaHei"/>
              </a:rPr>
              <a:t>XGBoost (300 итераций)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icrosoft YaHei"/>
              </a:rPr>
              <a:t>GradientBoosting (300 итераций)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  <a:ea typeface="Microsoft YaHei"/>
              </a:rPr>
              <a:t>Далее данные попадают в Мета-модель LogisticRegression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6300000" y="867240"/>
            <a:ext cx="5399640" cy="522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</a:pPr>
            <a:r>
              <a:rPr b="0" lang="ru-RU" sz="1400" spc="-1" strike="noStrike">
                <a:solidFill>
                  <a:srgbClr val="000000"/>
                </a:solidFill>
                <a:latin typeface="Montserrat SemiBold"/>
              </a:rPr>
              <a:t>3. Анализируемые признаки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</a:rPr>
              <a:t>Финансовые - Убытки, нулевая выручка, отсутствие прибыли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</a:rPr>
              <a:t>Юридические - Дела о банкротстве, исполнительные производства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</a:rPr>
              <a:t>Репутационные - Массовый адрес, массовый руководитель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</a:rPr>
              <a:t>Операционные - Налоговая задолженность, отсутствие отчетности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Montserrat"/>
              </a:rPr>
              <a:t>Временные - Возраст компании, недавняя активность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85FEB48-2C84-4CFE-89FA-A3D41CF7235F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" descr=""/>
          <p:cNvPicPr/>
          <p:nvPr/>
        </p:nvPicPr>
        <p:blipFill>
          <a:blip r:embed="rId1"/>
          <a:stretch/>
        </p:blipFill>
        <p:spPr>
          <a:xfrm>
            <a:off x="3060000" y="985320"/>
            <a:ext cx="6297840" cy="5672520"/>
          </a:xfrm>
          <a:prstGeom prst="rect">
            <a:avLst/>
          </a:prstGeom>
          <a:ln w="0">
            <a:noFill/>
          </a:ln>
        </p:spPr>
      </p:pic>
      <p:sp>
        <p:nvSpPr>
          <p:cNvPr id="159" name="Заголовок 8"/>
          <p:cNvSpPr/>
          <p:nvPr/>
        </p:nvSpPr>
        <p:spPr>
          <a:xfrm>
            <a:off x="0" y="0"/>
            <a:ext cx="11226960" cy="92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3600" spc="-1" strike="noStrike">
                <a:solidFill>
                  <a:srgbClr val="332974"/>
                </a:solidFill>
                <a:latin typeface="Montserrat SemiBold"/>
                <a:ea typeface="Calibri"/>
              </a:rPr>
              <a:t>Инфологическая модель БД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0DF463A-FE4C-48AF-A4B8-F26F6926A567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226960" cy="92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rgbClr val="332974"/>
                </a:solidFill>
                <a:latin typeface="Montserrat SemiBold"/>
              </a:rPr>
              <a:t>Программная реализация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ftr" idx="47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0" y="921600"/>
            <a:ext cx="11578320" cy="5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3600" spc="-1" strike="noStrike">
                <a:solidFill>
                  <a:srgbClr val="332974"/>
                </a:solidFill>
                <a:latin typeface="Montserrat SemiBold"/>
              </a:rPr>
              <a:t>Структура метаданных информационной системы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1605960" y="2246760"/>
            <a:ext cx="8112240" cy="40514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37D8A05-E1F0-48FF-8779-2112F448188A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/>
          <p:nvPr/>
        </p:nvSpPr>
        <p:spPr>
          <a:xfrm>
            <a:off x="0" y="0"/>
            <a:ext cx="11157840" cy="8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332974"/>
                </a:solidFill>
                <a:latin typeface="Montserrat SemiBold"/>
              </a:rPr>
              <a:t>Добавление поставщиков и групп товаров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502200" y="3240000"/>
            <a:ext cx="11016000" cy="1713600"/>
          </a:xfrm>
          <a:prstGeom prst="rect">
            <a:avLst/>
          </a:prstGeom>
          <a:ln w="0">
            <a:noFill/>
          </a:ln>
        </p:spPr>
      </p:pic>
      <p:pic>
        <p:nvPicPr>
          <p:cNvPr id="166" name="" descr=""/>
          <p:cNvPicPr/>
          <p:nvPr/>
        </p:nvPicPr>
        <p:blipFill>
          <a:blip r:embed="rId2"/>
          <a:stretch/>
        </p:blipFill>
        <p:spPr>
          <a:xfrm>
            <a:off x="228240" y="1542600"/>
            <a:ext cx="11829960" cy="133560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0F69D52-C2D8-4B2C-92F6-DA0D778BF22A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3"/>
          <p:cNvSpPr/>
          <p:nvPr/>
        </p:nvSpPr>
        <p:spPr>
          <a:xfrm>
            <a:off x="0" y="0"/>
            <a:ext cx="10077840" cy="6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332974"/>
                </a:solidFill>
                <a:latin typeface="Montserrat SemiBold"/>
              </a:rPr>
              <a:t>Формирование выборки поставщиков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8" name="" descr=""/>
          <p:cNvPicPr/>
          <p:nvPr/>
        </p:nvPicPr>
        <p:blipFill>
          <a:blip r:embed="rId1"/>
          <a:stretch/>
        </p:blipFill>
        <p:spPr>
          <a:xfrm>
            <a:off x="360" y="1577880"/>
            <a:ext cx="3970080" cy="3999960"/>
          </a:xfrm>
          <a:prstGeom prst="rect">
            <a:avLst/>
          </a:prstGeom>
          <a:ln w="0">
            <a:noFill/>
          </a:ln>
        </p:spPr>
      </p:pic>
      <p:pic>
        <p:nvPicPr>
          <p:cNvPr id="169" name="" descr=""/>
          <p:cNvPicPr/>
          <p:nvPr/>
        </p:nvPicPr>
        <p:blipFill>
          <a:blip r:embed="rId2"/>
          <a:stretch/>
        </p:blipFill>
        <p:spPr>
          <a:xfrm>
            <a:off x="4500000" y="2009160"/>
            <a:ext cx="7401600" cy="320868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CEFE118-4FF7-401E-B85A-47A345EE9E53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" descr=""/>
          <p:cNvPicPr/>
          <p:nvPr/>
        </p:nvPicPr>
        <p:blipFill>
          <a:blip r:embed="rId1"/>
          <a:stretch/>
        </p:blipFill>
        <p:spPr>
          <a:xfrm>
            <a:off x="3585240" y="1124640"/>
            <a:ext cx="7392960" cy="2648880"/>
          </a:xfrm>
          <a:prstGeom prst="rect">
            <a:avLst/>
          </a:prstGeom>
          <a:ln w="0">
            <a:noFill/>
          </a:ln>
        </p:spPr>
      </p:pic>
      <p:pic>
        <p:nvPicPr>
          <p:cNvPr id="171" name="" descr=""/>
          <p:cNvPicPr/>
          <p:nvPr/>
        </p:nvPicPr>
        <p:blipFill>
          <a:blip r:embed="rId2"/>
          <a:stretch/>
        </p:blipFill>
        <p:spPr>
          <a:xfrm>
            <a:off x="3602520" y="4007880"/>
            <a:ext cx="7354080" cy="2650320"/>
          </a:xfrm>
          <a:prstGeom prst="rect">
            <a:avLst/>
          </a:prstGeom>
          <a:ln w="0">
            <a:noFill/>
          </a:ln>
        </p:spPr>
      </p:pic>
      <p:sp>
        <p:nvSpPr>
          <p:cNvPr id="172" name="PlaceHolder 13"/>
          <p:cNvSpPr/>
          <p:nvPr/>
        </p:nvSpPr>
        <p:spPr>
          <a:xfrm>
            <a:off x="0" y="0"/>
            <a:ext cx="10077840" cy="6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ru-RU" sz="3600" spc="-1" strike="noStrike">
                <a:solidFill>
                  <a:srgbClr val="332974"/>
                </a:solidFill>
                <a:latin typeface="Montserrat SemiBold"/>
              </a:rPr>
              <a:t>Анализ выборки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" name="" descr=""/>
          <p:cNvPicPr/>
          <p:nvPr/>
        </p:nvPicPr>
        <p:blipFill>
          <a:blip r:embed="rId3"/>
          <a:stretch/>
        </p:blipFill>
        <p:spPr>
          <a:xfrm>
            <a:off x="77400" y="1165320"/>
            <a:ext cx="3340800" cy="315288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0F0E10B-403D-4061-A08E-E45039550298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4"/>
          <p:cNvSpPr/>
          <p:nvPr/>
        </p:nvSpPr>
        <p:spPr>
          <a:xfrm>
            <a:off x="643320" y="10080"/>
            <a:ext cx="10898280" cy="13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3600" spc="-1" strike="noStrike">
              <a:solidFill>
                <a:srgbClr val="332974"/>
              </a:solidFill>
              <a:latin typeface="Montserrat SemiBold"/>
            </a:endParaRPr>
          </a:p>
        </p:txBody>
      </p:sp>
      <p:pic>
        <p:nvPicPr>
          <p:cNvPr id="175" name="" descr=""/>
          <p:cNvPicPr/>
          <p:nvPr/>
        </p:nvPicPr>
        <p:blipFill>
          <a:blip r:embed="rId1"/>
          <a:stretch/>
        </p:blipFill>
        <p:spPr>
          <a:xfrm>
            <a:off x="3022200" y="1440000"/>
            <a:ext cx="7596000" cy="1234080"/>
          </a:xfrm>
          <a:prstGeom prst="rect">
            <a:avLst/>
          </a:prstGeom>
          <a:ln w="0">
            <a:noFill/>
          </a:ln>
        </p:spPr>
      </p:pic>
      <p:pic>
        <p:nvPicPr>
          <p:cNvPr id="176" name="" descr=""/>
          <p:cNvPicPr/>
          <p:nvPr/>
        </p:nvPicPr>
        <p:blipFill>
          <a:blip r:embed="rId2"/>
          <a:stretch/>
        </p:blipFill>
        <p:spPr>
          <a:xfrm>
            <a:off x="3022200" y="2880000"/>
            <a:ext cx="7446600" cy="2257560"/>
          </a:xfrm>
          <a:prstGeom prst="rect">
            <a:avLst/>
          </a:prstGeom>
          <a:ln w="0">
            <a:noFill/>
          </a:ln>
        </p:spPr>
      </p:pic>
      <p:sp>
        <p:nvSpPr>
          <p:cNvPr id="177" name=""/>
          <p:cNvSpPr/>
          <p:nvPr/>
        </p:nvSpPr>
        <p:spPr>
          <a:xfrm>
            <a:off x="0" y="0"/>
            <a:ext cx="8676360" cy="73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ru-RU" sz="3600" spc="-1" strike="noStrike">
                <a:solidFill>
                  <a:srgbClr val="332974"/>
                </a:solidFill>
                <a:latin typeface="Montserrat SemiBold"/>
                <a:ea typeface="Microsoft YaHei"/>
              </a:rPr>
              <a:t>Сохранение результатов оценки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8" name="" descr=""/>
          <p:cNvPicPr/>
          <p:nvPr/>
        </p:nvPicPr>
        <p:blipFill>
          <a:blip r:embed="rId3"/>
          <a:stretch/>
        </p:blipFill>
        <p:spPr>
          <a:xfrm>
            <a:off x="0" y="1440000"/>
            <a:ext cx="2864520" cy="305820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1435CB20-1CB7-46B0-954A-C26A400BA6B1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1226960" cy="92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pc="-1" strike="noStrike">
                <a:solidFill>
                  <a:schemeClr val="dk1"/>
                </a:solidFill>
                <a:latin typeface="Montserrat SemiBold"/>
              </a:rPr>
              <a:t>Практическая значимость работы</a:t>
            </a:r>
            <a:endParaRPr b="0" lang="ru-RU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ftr" idx="48"/>
          </p:nvPr>
        </p:nvSpPr>
        <p:spPr>
          <a:xfrm>
            <a:off x="1333440" y="6352560"/>
            <a:ext cx="747756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81" name=""/>
          <p:cNvGraphicFramePr/>
          <p:nvPr/>
        </p:nvGraphicFramePr>
        <p:xfrm>
          <a:off x="313560" y="1138680"/>
          <a:ext cx="7919640" cy="3035520"/>
        </p:xfrm>
        <a:graphic>
          <a:graphicData uri="http://schemas.openxmlformats.org/drawingml/2006/table">
            <a:tbl>
              <a:tblPr/>
              <a:tblGrid>
                <a:gridCol w="3959280"/>
                <a:gridCol w="3960720"/>
              </a:tblGrid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Направление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ru-RU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Эффект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332974"/>
                    </a:solidFill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Автоматизация 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Сокращение времени проверки поставщика с нескольких часов до 1-2 минут 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2240">
                      <a:noFill/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Точность 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Прогнозирование рисков с точностью &gt;90% 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Экономия 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2,5 руб./запрос против 10 000 руб./год (экономия до 70%) 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Безопасность 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Снижение риска финансовых потерь на 40-50%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564857BD-7442-4A08-96FF-BE647ABF06B0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/>
          </p:nvPr>
        </p:nvSpPr>
        <p:spPr>
          <a:xfrm>
            <a:off x="3759120" y="5218920"/>
            <a:ext cx="7820640" cy="743760"/>
          </a:xfrm>
          <a:prstGeom prst="rect">
            <a:avLst/>
          </a:prstGeom>
          <a:solidFill>
            <a:schemeClr val="lt1">
              <a:alpha val="80000"/>
            </a:schemeClr>
          </a:solidFill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1600" spc="-1" strike="noStrike">
                <a:solidFill>
                  <a:schemeClr val="accent6"/>
                </a:solidFill>
                <a:latin typeface="Montserrat"/>
              </a:rPr>
              <a:t>Научный руководитель: Андреев Илья Александрович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3759120" y="4242240"/>
            <a:ext cx="7820640" cy="771120"/>
          </a:xfrm>
          <a:prstGeom prst="rect">
            <a:avLst/>
          </a:prstGeom>
          <a:solidFill>
            <a:schemeClr val="lt1">
              <a:alpha val="80000"/>
            </a:schemeClr>
          </a:solidFill>
          <a:ln w="0">
            <a:noFill/>
          </a:ln>
        </p:spPr>
        <p:txBody>
          <a:bodyPr lIns="91440" rIns="91440" tIns="45720" bIns="45720" anchor="t">
            <a:normAutofit fontScale="83888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Montserrat"/>
              </a:rPr>
              <a:t>Студент: Альвицов Данил Сергеевич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Montserrat"/>
              </a:rPr>
              <a:t>Группа: БВТ2104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4776840" y="6168600"/>
            <a:ext cx="2635200" cy="33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spcBef>
                <a:spcPts val="1417"/>
              </a:spcBef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title"/>
          </p:nvPr>
        </p:nvSpPr>
        <p:spPr>
          <a:xfrm>
            <a:off x="3759120" y="2007000"/>
            <a:ext cx="7820640" cy="2029680"/>
          </a:xfrm>
          <a:prstGeom prst="rect">
            <a:avLst/>
          </a:prstGeom>
          <a:solidFill>
            <a:schemeClr val="lt1">
              <a:alpha val="80000"/>
            </a:schemeClr>
          </a:solidFill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000" spc="-1" strike="noStrike">
                <a:solidFill>
                  <a:schemeClr val="dk1"/>
                </a:solidFill>
                <a:latin typeface="Montserrat SemiBold"/>
              </a:rPr>
              <a:t>Спасибо за внимание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Тема Office">
  <a:themeElements>
    <a:clrScheme name="МТУСИ">
      <a:dk1>
        <a:srgbClr val="352379"/>
      </a:dk1>
      <a:lt1>
        <a:srgbClr val="ffffff"/>
      </a:lt1>
      <a:dk2>
        <a:srgbClr val="352379"/>
      </a:dk2>
      <a:lt2>
        <a:srgbClr val="ffffff"/>
      </a:lt2>
      <a:accent1>
        <a:srgbClr val="352379"/>
      </a:accent1>
      <a:accent2>
        <a:srgbClr val="c7adeb"/>
      </a:accent2>
      <a:accent3>
        <a:srgbClr val="532494"/>
      </a:accent3>
      <a:accent4>
        <a:srgbClr val="e3d6f5"/>
      </a:accent4>
      <a:accent5>
        <a:srgbClr val="8c64d8"/>
      </a:accent5>
      <a:accent6>
        <a:srgbClr val="000000"/>
      </a:accent6>
      <a:hlink>
        <a:srgbClr val="8c64d8"/>
      </a:hlink>
      <a:folHlink>
        <a:srgbClr val="352379"/>
      </a:folHlink>
    </a:clrScheme>
    <a:fontScheme name="МТУСИ">
      <a:majorFont>
        <a:latin typeface="Montserrat SemiBold" pitchFamily="0" charset="1"/>
        <a:ea typeface=""/>
        <a:cs typeface=""/>
      </a:majorFont>
      <a:minorFont>
        <a:latin typeface="Montserrat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8190</TotalTime>
  <Application>LibreOffice/24.2.4.2$Windows_X86_64 LibreOffice_project/51a6219feb6075d9a4c46691dcfe0cd9c4fff3c2</Application>
  <AppVersion>15.0000</AppVersion>
  <Words>1381</Words>
  <Paragraphs>220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2023-04-19T21:39:12Z</dcterms:created>
  <dc:creator>user [v4]</dc:creator>
  <dc:description/>
  <dc:language>ru-RU</dc:language>
  <cp:lastModifiedBy/>
  <dcterms:modified xsi:type="dcterms:W3CDTF">2026-05-25T21:22:15Z</dcterms:modified>
  <cp:revision>79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47</vt:i4>
  </property>
</Properties>
</file>