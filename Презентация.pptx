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19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notesSlides/notesSlide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19.xml.rels" ContentType="application/vnd.openxmlformats-package.relationships+xml"/>
  <Override PartName="/ppt/media/image1.png" ContentType="image/png"/>
  <Override PartName="/ppt/media/image2.svg" ContentType="image/svg"/>
  <Override PartName="/ppt/media/image5.png" ContentType="image/png"/>
  <Override PartName="/ppt/media/image3.png" ContentType="image/png"/>
  <Override PartName="/ppt/media/image15.png" ContentType="image/png"/>
  <Override PartName="/ppt/media/image8.svg" ContentType="image/svg"/>
  <Override PartName="/ppt/media/image4.svg" ContentType="image/svg"/>
  <Override PartName="/ppt/media/image11.png" ContentType="image/png"/>
  <Override PartName="/ppt/media/image7.png" ContentType="image/png"/>
  <Override PartName="/ppt/media/image6.png" ContentType="image/png"/>
  <Override PartName="/ppt/media/image9.png" ContentType="image/png"/>
  <Override PartName="/ppt/media/image10.svg" ContentType="image/svg"/>
  <Override PartName="/ppt/media/image12.png" ContentType="image/png"/>
  <Override PartName="/ppt/media/image13.png" ContentType="image/png"/>
  <Override PartName="/ppt/media/image14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</p:sldMasterIdLst>
  <p:notesMasterIdLst>
    <p:notesMasterId r:id="rId25"/>
  </p:notesMasterIdLst>
  <p:sldIdLst>
    <p:sldId id="256" r:id="rId26"/>
    <p:sldId id="257" r:id="rId27"/>
    <p:sldId id="258" r:id="rId28"/>
    <p:sldId id="259" r:id="rId29"/>
    <p:sldId id="260" r:id="rId30"/>
    <p:sldId id="261" r:id="rId31"/>
    <p:sldId id="262" r:id="rId32"/>
    <p:sldId id="263" r:id="rId33"/>
    <p:sldId id="264" r:id="rId34"/>
    <p:sldId id="265" r:id="rId35"/>
    <p:sldId id="266" r:id="rId36"/>
    <p:sldId id="267" r:id="rId37"/>
    <p:sldId id="268" r:id="rId38"/>
    <p:sldId id="269" r:id="rId39"/>
    <p:sldId id="270" r:id="rId40"/>
    <p:sldId id="271" r:id="rId41"/>
    <p:sldId id="272" r:id="rId42"/>
    <p:sldId id="273" r:id="rId43"/>
    <p:sldId id="274" r:id="rId4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notesMaster" Target="notesMasters/notesMaster1.xml"/><Relationship Id="rId26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slide" Target="slides/slide3.xml"/><Relationship Id="rId29" Type="http://schemas.openxmlformats.org/officeDocument/2006/relationships/slide" Target="slides/slide4.xml"/><Relationship Id="rId30" Type="http://schemas.openxmlformats.org/officeDocument/2006/relationships/slide" Target="slides/slide5.xml"/><Relationship Id="rId31" Type="http://schemas.openxmlformats.org/officeDocument/2006/relationships/slide" Target="slides/slide6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15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перемещения страницы щёлкните 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 type="dt" idx="4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 type="ftr" idx="4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6"/>
          <p:cNvSpPr>
            <a:spLocks noGrp="1"/>
          </p:cNvSpPr>
          <p:nvPr>
            <p:ph type="sldNum" idx="4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6EC5D58-59B1-4982-A401-EDDBF79925C3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Уважаемый председатель и члены государственной экзаменационной комиссии!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Вашему вниманию представляю свою выпускную квалификационную работу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55F734-8E56-4F4E-B846-028769AD92F8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Спасибо за внимание, готов ответить на ваши вопросы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C5F84B2-B5B0-4CA4-95F8-DABA7EE5A5A1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CB1EC3-8329-41EC-B3BA-7446E9F9131F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Иллюстрация процесс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BE70719B-A27A-4501-8AE2-DFDAAAFEED00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к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B8DA761-F452-499D-A510-A1F849B5239B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к_вид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881B1B9-3782-4AFD-B04B-B7EAD832BCBD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к_вид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A6A48FAD-F255-4C90-AA0E-F7C9190E0BC6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к_вид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C203389-17F3-4809-8A74-033AD6D2F013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Цифры для определения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8BAA534-5644-4547-91D3-C3AB4A933A54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Цифры для определения_вид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D3BDD5AA-F064-4655-A7F8-4E588AF633D9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Текст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C8505B25-A0BE-4F43-8EE8-4AB4039E27B0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Текст_вид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734CE7E-597E-4739-80A9-1AC62FF79E3C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Таблица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CFB34A69-9508-4B5E-9897-72AC70C30991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Таблица_вид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B07E7DD2-1A49-4AFA-964D-2379B5D04E59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F958E0E-B883-4969-813C-BC7517BC5ECC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p>
            <a:fld id="{C587285E-562B-4E35-88FA-1C65ACA53565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3285D2D3-E657-4723-A3D8-430F5670A9FA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A9698BD-63E1-4B7C-8516-F73C398B4601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4"/>
          </p:nvPr>
        </p:nvSpPr>
        <p:spPr/>
        <p:txBody>
          <a:bodyPr/>
          <a:p>
            <a:fld id="{5663F22C-72BE-4B74-8A7F-F779B8B687B8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A5ED9E5A-600C-4039-BC6E-F32B08B3BFBE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1718EFC4-7927-4346-83A1-CA9644DF4CA9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9D890573-8BF3-4395-A256-508B8B11D79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5.png"/><Relationship Id="rId9" Type="http://schemas.openxmlformats.org/officeDocument/2006/relationships/image" Target="../media/image6.png"/><Relationship Id="rId10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5.pn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5.png"/><Relationship Id="rId9" Type="http://schemas.openxmlformats.org/officeDocument/2006/relationships/image" Target="../media/image9.png"/><Relationship Id="rId10" Type="http://schemas.openxmlformats.org/officeDocument/2006/relationships/image" Target="../media/image10.svg"/><Relationship Id="rId11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1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2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3" name="Прямоугольник: скругленные углы 9"/>
          <p:cNvSpPr/>
          <p:nvPr/>
        </p:nvSpPr>
        <p:spPr>
          <a:xfrm>
            <a:off x="609120" y="240480"/>
            <a:ext cx="10971360" cy="6302160"/>
          </a:xfrm>
          <a:prstGeom prst="roundRect">
            <a:avLst>
              <a:gd name="adj" fmla="val 20444"/>
            </a:avLst>
          </a:prstGeom>
          <a:blipFill rotWithShape="0">
            <a:blip r:embed="rId8"/>
            <a:srcRect/>
            <a:stretch/>
          </a:blipFill>
          <a:ln w="38100">
            <a:noFill/>
          </a:ln>
          <a:effectLst>
            <a:glow rad="63360">
              <a:srgbClr val="352379">
                <a:alpha val="2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7000"/>
              </a:lnSpc>
              <a:spcAft>
                <a:spcPts val="799"/>
              </a:spcAft>
            </a:pPr>
            <a:endParaRPr b="0" lang="ru-RU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4" name="Рисунок 10" descr=""/>
          <p:cNvPicPr/>
          <p:nvPr/>
        </p:nvPicPr>
        <p:blipFill>
          <a:blip r:embed="rId9"/>
          <a:stretch/>
        </p:blipFill>
        <p:spPr>
          <a:xfrm>
            <a:off x="609120" y="240480"/>
            <a:ext cx="4126680" cy="20844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10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8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9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ftr" idx="1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2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0AF06F-F244-464C-8EEF-09F1DCAB985A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8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13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14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ftr" idx="3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ldNum" idx="4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40D2F26-CAF8-4C0C-842F-B575D3525C71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8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18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19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20" name="PlaceHolder 1"/>
          <p:cNvSpPr>
            <a:spLocks noGrp="1"/>
          </p:cNvSpPr>
          <p:nvPr>
            <p:ph type="ftr" idx="5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ldNum" idx="6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433103F-5681-4AF5-9F91-8E2A98773C59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8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23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24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25" name="PlaceHolder 1"/>
          <p:cNvSpPr>
            <a:spLocks noGrp="1"/>
          </p:cNvSpPr>
          <p:nvPr>
            <p:ph type="ftr" idx="7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ldNum" idx="8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6B6EE0-0833-45A8-AE08-0C05E5F6CA99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8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28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29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30" name="PlaceHolder 1"/>
          <p:cNvSpPr>
            <a:spLocks noGrp="1"/>
          </p:cNvSpPr>
          <p:nvPr>
            <p:ph type="ftr" idx="9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ldNum" idx="10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82763F-3048-4EED-A931-A64D148F0E31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8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33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34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ftr" idx="11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12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CCFA92-4E1D-45CF-8C3A-AC6C8529DAF8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8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38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39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ftr" idx="13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14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DE46A9-9ECC-44F0-A7DC-8284B75AC3B6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8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43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44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45" name="PlaceHolder 1"/>
          <p:cNvSpPr>
            <a:spLocks noGrp="1"/>
          </p:cNvSpPr>
          <p:nvPr>
            <p:ph type="ftr" idx="15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16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4D7913-24E6-4B6C-9D64-EC5878B15891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8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48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49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ftr" idx="17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ldNum" idx="18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5B24D1-D9DF-4905-934E-25FD5A68EAA2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8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53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54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55" name="PlaceHolder 1"/>
          <p:cNvSpPr>
            <a:spLocks noGrp="1"/>
          </p:cNvSpPr>
          <p:nvPr>
            <p:ph type="ftr" idx="19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ldNum" idx="20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5669CB-802C-4D99-A61C-1198A6D91134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8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6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6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62" name="Прямоугольник: скругленные углы 9"/>
          <p:cNvSpPr/>
          <p:nvPr/>
        </p:nvSpPr>
        <p:spPr>
          <a:xfrm>
            <a:off x="609120" y="240480"/>
            <a:ext cx="10971360" cy="6302160"/>
          </a:xfrm>
          <a:prstGeom prst="roundRect">
            <a:avLst>
              <a:gd name="adj" fmla="val 20444"/>
            </a:avLst>
          </a:prstGeom>
          <a:blipFill rotWithShape="0">
            <a:blip r:embed="rId8"/>
            <a:srcRect/>
            <a:stretch/>
          </a:blipFill>
          <a:ln w="38100">
            <a:noFill/>
          </a:ln>
          <a:effectLst>
            <a:glow rad="63360">
              <a:srgbClr val="352379">
                <a:alpha val="2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7000"/>
              </a:lnSpc>
              <a:spcAft>
                <a:spcPts val="799"/>
              </a:spcAft>
            </a:pPr>
            <a:endParaRPr b="0" lang="ru-RU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63" name="Рисунок 8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265040" y="827640"/>
            <a:ext cx="2795400" cy="85968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11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65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66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67" name="PlaceHolder 1"/>
          <p:cNvSpPr>
            <a:spLocks noGrp="1"/>
          </p:cNvSpPr>
          <p:nvPr>
            <p:ph type="ftr" idx="21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sldNum" idx="22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FA2F63-30A3-48F1-8ECC-888B7E2CEDEF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8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7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7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72" name="PlaceHolder 1"/>
          <p:cNvSpPr>
            <a:spLocks noGrp="1"/>
          </p:cNvSpPr>
          <p:nvPr>
            <p:ph type="ftr" idx="23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ldNum" idx="24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798F5A-8DCB-4B40-9078-9EB8BDB52066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8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75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76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77" name="PlaceHolder 1"/>
          <p:cNvSpPr>
            <a:spLocks noGrp="1"/>
          </p:cNvSpPr>
          <p:nvPr>
            <p:ph type="ftr" idx="25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sldNum" idx="26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D9FC91A-4310-4B62-A1BE-A5F44D84D137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8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8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8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82" name="Прямоугольник: скругленные углы 9"/>
          <p:cNvSpPr/>
          <p:nvPr/>
        </p:nvSpPr>
        <p:spPr>
          <a:xfrm>
            <a:off x="609120" y="240480"/>
            <a:ext cx="10971360" cy="6302160"/>
          </a:xfrm>
          <a:prstGeom prst="roundRect">
            <a:avLst>
              <a:gd name="adj" fmla="val 20444"/>
            </a:avLst>
          </a:prstGeom>
          <a:blipFill rotWithShape="0">
            <a:blip r:embed="rId8"/>
            <a:srcRect/>
            <a:stretch/>
          </a:blipFill>
          <a:ln w="38100">
            <a:noFill/>
          </a:ln>
          <a:effectLst>
            <a:glow rad="63360">
              <a:srgbClr val="352379">
                <a:alpha val="2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7000"/>
              </a:lnSpc>
              <a:spcAft>
                <a:spcPts val="799"/>
              </a:spcAft>
            </a:pPr>
            <a:endParaRPr b="0" lang="ru-RU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83" name="Рисунок 2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820800" y="368280"/>
            <a:ext cx="3413880" cy="174060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11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85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86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ftr" idx="27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28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D2EBEC-A884-41EA-8FBF-F8322548BBB1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8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9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9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92" name="PlaceHolder 1"/>
          <p:cNvSpPr>
            <a:spLocks noGrp="1"/>
          </p:cNvSpPr>
          <p:nvPr>
            <p:ph type="ftr" idx="29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sldNum" idx="30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0CB1F1-1516-4048-ACB6-77CB92C9251A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8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95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96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97" name="PlaceHolder 1"/>
          <p:cNvSpPr>
            <a:spLocks noGrp="1"/>
          </p:cNvSpPr>
          <p:nvPr>
            <p:ph type="ftr" idx="31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ldNum" idx="32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DC6B07-AAB4-4C80-8565-8202FA2EADEC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8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10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10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102" name="PlaceHolder 1"/>
          <p:cNvSpPr>
            <a:spLocks noGrp="1"/>
          </p:cNvSpPr>
          <p:nvPr>
            <p:ph type="ftr" idx="33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34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31122CA-A1D4-40CB-9E77-0097E6127EFC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8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105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106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107" name="PlaceHolder 1"/>
          <p:cNvSpPr>
            <a:spLocks noGrp="1"/>
          </p:cNvSpPr>
          <p:nvPr>
            <p:ph type="ftr" idx="35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sldNum" idx="36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CC6330-8E03-46E6-A9A7-F378E304FE51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8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0400" cy="291240"/>
          </a:xfrm>
          <a:prstGeom prst="rect">
            <a:avLst/>
          </a:prstGeom>
          <a:ln w="0">
            <a:noFill/>
          </a:ln>
        </p:spPr>
      </p:pic>
      <p:pic>
        <p:nvPicPr>
          <p:cNvPr id="11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0080" cy="1371240"/>
          </a:xfrm>
          <a:prstGeom prst="rect">
            <a:avLst/>
          </a:prstGeom>
          <a:ln w="0">
            <a:noFill/>
          </a:ln>
        </p:spPr>
      </p:pic>
      <p:pic>
        <p:nvPicPr>
          <p:cNvPr id="11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8600" y="5535000"/>
            <a:ext cx="1270080" cy="1371240"/>
          </a:xfrm>
          <a:prstGeom prst="rect">
            <a:avLst/>
          </a:prstGeom>
          <a:ln w="0">
            <a:noFill/>
          </a:ln>
        </p:spPr>
      </p:pic>
      <p:sp>
        <p:nvSpPr>
          <p:cNvPr id="112" name="PlaceHolder 1"/>
          <p:cNvSpPr>
            <a:spLocks noGrp="1"/>
          </p:cNvSpPr>
          <p:nvPr>
            <p:ph type="ftr" idx="37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sldNum" idx="38"/>
          </p:nvPr>
        </p:nvSpPr>
        <p:spPr>
          <a:xfrm>
            <a:off x="8966160" y="635256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3D07C96-6B66-4B76-92E1-13746396D0A0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8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080" cy="124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ftr" idx="39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40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A75E014-78A9-4FCE-832D-E1D8EEAE3BD5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dt" idx="41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1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1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1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/>
          </p:nvPr>
        </p:nvSpPr>
        <p:spPr>
          <a:xfrm>
            <a:off x="3759120" y="5218920"/>
            <a:ext cx="7821360" cy="74448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6"/>
                </a:solidFill>
                <a:latin typeface="Montserrat"/>
              </a:rPr>
              <a:t>Научный руководитель: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6"/>
                </a:solidFill>
                <a:latin typeface="Montserrat"/>
              </a:rPr>
              <a:t>к.э.н, доц. кафедры «КИС», Андреев Илья Александрович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3759120" y="4242240"/>
            <a:ext cx="7821360" cy="77184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rmAutofit fontScale="83888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dk1"/>
                </a:solidFill>
                <a:latin typeface="Montserrat"/>
              </a:rPr>
              <a:t>Студент: Альвицов Данил Сергеевич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dk1"/>
                </a:solidFill>
                <a:latin typeface="Montserrat"/>
              </a:rPr>
              <a:t>Группа: БВТ2204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4776840" y="6168600"/>
            <a:ext cx="2635920" cy="33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spcBef>
                <a:spcPts val="1417"/>
              </a:spcBef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 type="title"/>
          </p:nvPr>
        </p:nvSpPr>
        <p:spPr>
          <a:xfrm>
            <a:off x="3600000" y="1620000"/>
            <a:ext cx="6921360" cy="185040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4000" spc="-1" strike="noStrike">
                <a:solidFill>
                  <a:schemeClr val="dk1"/>
                </a:solidFill>
                <a:latin typeface="Montserrat SemiBold"/>
              </a:rPr>
              <a:t>Информационная система комплексной оценки надежности поставщиков</a:t>
            </a:r>
            <a:endParaRPr b="1" lang="ru-RU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2276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Актуальность темы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ftr" idx="45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PlaceHolder 2"/>
          <p:cNvSpPr/>
          <p:nvPr/>
        </p:nvSpPr>
        <p:spPr>
          <a:xfrm>
            <a:off x="277560" y="921960"/>
            <a:ext cx="11241360" cy="47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2222" lnSpcReduction="10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-RU" sz="4200" spc="-1" strike="noStrike">
                <a:solidFill>
                  <a:schemeClr val="dk1"/>
                </a:solidFill>
                <a:latin typeface="Montserrat"/>
                <a:ea typeface="Times New Roman"/>
              </a:rPr>
              <a:t>Актуальность темы исследования обусловлена критической важностью выбора надежных поставщиков для обеспечения бесперебойной деятельности торговых предприятий в условиях современной рыночной нестабильности. Основная проблема заключается в противоречии между необходимостью быстрого принятия решений о закупках и трудоемкостью традиционных методов сбора и верификации информации о контрагентах, которая часто разрозненна и труднодоступна. . В связи с этим разработка программного модуля на основе интеллектуального анализа данных, позволяющего оперативно и объективно оценивать благонадежность поставщиков, является своевременным и практически значимым решением.</a:t>
            </a:r>
            <a:endParaRPr b="0" lang="ru-RU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A668F5B-0CFF-46B4-A968-2C78E61CEDDC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8"/>
          <p:cNvSpPr/>
          <p:nvPr/>
        </p:nvSpPr>
        <p:spPr>
          <a:xfrm>
            <a:off x="360" y="360"/>
            <a:ext cx="11227680" cy="92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Цель работы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360000" y="1002960"/>
            <a:ext cx="10773000" cy="9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ru-RU" sz="2000" spc="-1" strike="noStrike">
                <a:solidFill>
                  <a:srgbClr val="332974"/>
                </a:solidFill>
                <a:latin typeface="Montserrat"/>
                <a:ea typeface="DejaVu Sans"/>
              </a:rPr>
              <a:t>Разработка информационной системы оценки благонадежности поставщика товаров </a:t>
            </a:r>
            <a:r>
              <a:rPr b="0" lang="ru-RU" sz="2000" spc="-1" strike="noStrike">
                <a:solidFill>
                  <a:srgbClr val="332974"/>
                </a:solidFill>
                <a:latin typeface="Montserrat"/>
                <a:ea typeface="Times New Roman"/>
              </a:rPr>
              <a:t>для повышения качества и эффективности труда сотрудников </a:t>
            </a:r>
            <a:r>
              <a:rPr b="0" lang="ru-RU" sz="2000" spc="-1" strike="noStrike">
                <a:solidFill>
                  <a:srgbClr val="332974"/>
                </a:solidFill>
                <a:latin typeface="Montserrat"/>
                <a:ea typeface="DejaVu Sans"/>
              </a:rPr>
              <a:t>организации АО «РТК»</a:t>
            </a:r>
            <a:r>
              <a:rPr b="0" lang="ru-RU" sz="2000" spc="-1" strike="noStrike">
                <a:solidFill>
                  <a:srgbClr val="332974"/>
                </a:solidFill>
                <a:latin typeface="Montserrat"/>
                <a:ea typeface="Times New Roman"/>
              </a:rPr>
              <a:t>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10"/>
          <p:cNvSpPr/>
          <p:nvPr/>
        </p:nvSpPr>
        <p:spPr>
          <a:xfrm>
            <a:off x="0" y="2318040"/>
            <a:ext cx="6727680" cy="92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  <a:ea typeface="Times New Roman"/>
              </a:rPr>
              <a:t>Объект исследования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0" y="3060000"/>
            <a:ext cx="10773000" cy="5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ru-RU" sz="2000" spc="-1" strike="noStrike">
                <a:solidFill>
                  <a:srgbClr val="332974"/>
                </a:solidFill>
                <a:latin typeface="Montserrat"/>
                <a:ea typeface="Times New Roman"/>
              </a:rPr>
              <a:t>Торговая организация АО "РТК".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11"/>
          <p:cNvSpPr/>
          <p:nvPr/>
        </p:nvSpPr>
        <p:spPr>
          <a:xfrm>
            <a:off x="0" y="3834360"/>
            <a:ext cx="11227680" cy="92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  <a:ea typeface="Times New Roman"/>
              </a:rPr>
              <a:t>Предмет исследования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454680" y="4602960"/>
            <a:ext cx="1077300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ru-RU" sz="2000" spc="-1" strike="noStrike">
                <a:solidFill>
                  <a:srgbClr val="332974"/>
                </a:solidFill>
                <a:latin typeface="Montserrat"/>
              </a:rPr>
              <a:t>Закупочная деятельность организации, в частности процесс оценки благонадежности и выбора поставщика товаров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3F0C389-A6DE-484D-AE4B-7B4E6CD9C39A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6"/>
          <p:cNvSpPr/>
          <p:nvPr/>
        </p:nvSpPr>
        <p:spPr>
          <a:xfrm>
            <a:off x="0" y="0"/>
            <a:ext cx="11158560" cy="12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Описание и анализ бизнес процесса закупки товаров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0" name="" descr=""/>
          <p:cNvPicPr/>
          <p:nvPr/>
        </p:nvPicPr>
        <p:blipFill>
          <a:blip r:embed="rId1"/>
          <a:stretch/>
        </p:blipFill>
        <p:spPr>
          <a:xfrm>
            <a:off x="6026760" y="1620000"/>
            <a:ext cx="5671800" cy="3958560"/>
          </a:xfrm>
          <a:prstGeom prst="rect">
            <a:avLst/>
          </a:prstGeom>
          <a:ln w="0">
            <a:noFill/>
          </a:ln>
        </p:spPr>
      </p:pic>
      <p:pic>
        <p:nvPicPr>
          <p:cNvPr id="141" name="" descr=""/>
          <p:cNvPicPr/>
          <p:nvPr/>
        </p:nvPicPr>
        <p:blipFill>
          <a:blip r:embed="rId2"/>
          <a:stretch/>
        </p:blipFill>
        <p:spPr>
          <a:xfrm>
            <a:off x="720000" y="1620000"/>
            <a:ext cx="5473440" cy="395892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D1661C6-7A23-463F-A1B3-418541F3F309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7"/>
          <p:cNvSpPr/>
          <p:nvPr/>
        </p:nvSpPr>
        <p:spPr>
          <a:xfrm>
            <a:off x="2160" y="0"/>
            <a:ext cx="12056400" cy="96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Декомпозиция блока «Выбор поставщика»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3" name="" descr=""/>
          <p:cNvPicPr/>
          <p:nvPr/>
        </p:nvPicPr>
        <p:blipFill>
          <a:blip r:embed="rId1"/>
          <a:stretch/>
        </p:blipFill>
        <p:spPr>
          <a:xfrm>
            <a:off x="2160000" y="1080000"/>
            <a:ext cx="7558560" cy="534456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C68B574-134D-4112-BE2A-3615041CA473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69856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/>
                </a:solidFill>
                <a:latin typeface="Montserrat SemiBold"/>
              </a:rPr>
              <a:t>Сравнительный анализ готовых решений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ftr" idx="46"/>
          </p:nvPr>
        </p:nvSpPr>
        <p:spPr>
          <a:xfrm>
            <a:off x="1333440" y="638640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146" name="Объект 3"/>
          <p:cNvGraphicFramePr/>
          <p:nvPr/>
        </p:nvGraphicFramePr>
        <p:xfrm>
          <a:off x="1469520" y="972360"/>
          <a:ext cx="9148680" cy="4384800"/>
        </p:xfrm>
        <a:graphic>
          <a:graphicData uri="http://schemas.openxmlformats.org/drawingml/2006/table">
            <a:tbl>
              <a:tblPr/>
              <a:tblGrid>
                <a:gridCol w="1887120"/>
                <a:gridCol w="1884960"/>
                <a:gridCol w="1883160"/>
                <a:gridCol w="1622520"/>
                <a:gridCol w="1871280"/>
              </a:tblGrid>
              <a:tr h="821880"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Название системы \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Критерии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PLUSSELL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SAP Ariba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iTender SRM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Разработка собственной информационной системы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</a:tr>
              <a:tr h="274320"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1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2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3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4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5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45684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Стоимость поставки ПО, руб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62 100.00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128 800.00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17 260.00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Не требуется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3936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Масштабность внедрения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Крупные оптовые компании и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Оптовые компании и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Мелкие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Мелкие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45684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Решение поставленных задач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Среднее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Полное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Низкое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Полное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684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Возможность оценки поставщиков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639360">
                <a:tc>
                  <a:txBody>
                    <a:bodyPr lIns="44640" rIns="44640" anchor="t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Эффективность и наполнение доступных отчётов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39360">
                <a:tc>
                  <a:txBody>
                    <a:bodyPr lIns="44640" rIns="44640" anchor="t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Многопользовательский режим и права доступа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</a:tbl>
          </a:graphicData>
        </a:graphic>
      </p:graphicFrame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FD1F968-69E7-4426-8790-B3F21F4BFEA5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2276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Выбранные технические решения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ftr" idx="47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141480" y="1088640"/>
            <a:ext cx="5616720" cy="46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000000"/>
                </a:solidFill>
                <a:latin typeface="Arial"/>
              </a:rPr>
              <a:t>1. Платформа клиентского приложения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Выбрано: 1С:Предприятие 8.3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Обоснование: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Интеграция с существующей учетной системой предприятия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Русскоязычный язык программирования, упрощающий разработку и поддержку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Встроенные механизмы работы с табличными документами и отчетами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Гибкая система разграничения прав доступа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Возможность работы как в файловом, так и в клиент-серверном режиме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6120000" y="1062360"/>
            <a:ext cx="4858200" cy="46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000000"/>
                </a:solidFill>
                <a:latin typeface="Arial"/>
              </a:rPr>
              <a:t>2. Язык и среда разработки ML-сервиса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Выбрано: Python 3.11+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Обоснование: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Богатая экосистема библиотек для машинного обучения и анализа данных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Простота интеграции с REST API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Кроссплатформенность и возможность развертывания в различных средах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Активное сообщество и обширная документация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4A10015-B558-4F01-834B-903273752C84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"/>
          <p:cNvSpPr/>
          <p:nvPr/>
        </p:nvSpPr>
        <p:spPr>
          <a:xfrm>
            <a:off x="214560" y="360000"/>
            <a:ext cx="5363640" cy="520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000000"/>
                </a:solidFill>
                <a:latin typeface="Arial"/>
              </a:rPr>
              <a:t>3. Библиотеки машинного обучения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Выбраны: Scikit-learn, XGBoost, Imbalanced-learn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Обоснование: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Scikit-learn (базовые алгоритмы, предобработка, метрики) -стандарт де-факто для задач классификации с табличными данными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XGBoost (градиентный бустинг) - высокая производительность, устойчивость к переобучению, хорошая интерпретируемость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Imbalanced-learn (балансировка классов (SMOTE)) - решение проблемы дисбаланса классов в данных о рисках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Joblib (сериализация модели) - эффективное сохранение и загрузка обученных моделей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6351120" y="360000"/>
            <a:ext cx="4447080" cy="264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000000"/>
                </a:solidFill>
                <a:latin typeface="Arial"/>
              </a:rPr>
              <a:t>4. Фреймворк для создания API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Выбран: FastAP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Обоснование: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Высокая производительность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Автодокументация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Асинхронность из коробки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0172B82-2FA1-464E-8E59-6170B6524344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"/>
          <p:cNvSpPr/>
          <p:nvPr/>
        </p:nvSpPr>
        <p:spPr>
          <a:xfrm>
            <a:off x="266760" y="360000"/>
            <a:ext cx="4771440" cy="517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000000"/>
                </a:solidFill>
                <a:latin typeface="Arial"/>
              </a:rPr>
              <a:t>5. HTTP-клиент для внешних запросов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Выбрана: aiohttp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Обоснование: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Асинхронная работа, не блокирующая основной поток FastAPI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Удобная работа с заголовками и параметрами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Встроенная обработка таймаутов и повторных попыток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Поддержка сессий для переиспользования соединений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5580000" y="360000"/>
            <a:ext cx="5702400" cy="52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000000"/>
                </a:solidFill>
                <a:latin typeface="Arial"/>
              </a:rPr>
              <a:t>6. Внешний API-сервис для получения данных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Выбран: API "Репутация"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Обоснование: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Модель оплаты - 2,5 руб/запрос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Высокая экономическая эффективность для МСП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A1DA40D-3662-4647-B668-1E3E97C3D579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2276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Архитектурное проектирование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ftr" idx="48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57" name="" descr=""/>
          <p:cNvPicPr/>
          <p:nvPr/>
        </p:nvPicPr>
        <p:blipFill>
          <a:blip r:embed="rId1"/>
          <a:stretch/>
        </p:blipFill>
        <p:spPr>
          <a:xfrm>
            <a:off x="2340360" y="1611720"/>
            <a:ext cx="7555680" cy="414396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31519F7-CBB4-443B-83BF-C75C14F76D51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5"/>
          <p:cNvSpPr/>
          <p:nvPr/>
        </p:nvSpPr>
        <p:spPr>
          <a:xfrm>
            <a:off x="0" y="0"/>
            <a:ext cx="7738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8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  <a:ea typeface="Microsoft YaHei"/>
              </a:rPr>
              <a:t>Архитектура Python-сервиса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9" name="" descr=""/>
          <p:cNvPicPr/>
          <p:nvPr/>
        </p:nvPicPr>
        <p:blipFill>
          <a:blip r:embed="rId1"/>
          <a:stretch/>
        </p:blipFill>
        <p:spPr>
          <a:xfrm>
            <a:off x="4140360" y="1620360"/>
            <a:ext cx="4135680" cy="464832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DE61B0C-08E8-49F5-8A84-45F436119218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" descr=""/>
          <p:cNvPicPr/>
          <p:nvPr/>
        </p:nvPicPr>
        <p:blipFill>
          <a:blip r:embed="rId1"/>
          <a:stretch/>
        </p:blipFill>
        <p:spPr>
          <a:xfrm>
            <a:off x="3060000" y="985320"/>
            <a:ext cx="6298560" cy="5673240"/>
          </a:xfrm>
          <a:prstGeom prst="rect">
            <a:avLst/>
          </a:prstGeom>
          <a:ln w="0">
            <a:noFill/>
          </a:ln>
        </p:spPr>
      </p:pic>
      <p:sp>
        <p:nvSpPr>
          <p:cNvPr id="161" name="Заголовок 8"/>
          <p:cNvSpPr/>
          <p:nvPr/>
        </p:nvSpPr>
        <p:spPr>
          <a:xfrm>
            <a:off x="0" y="0"/>
            <a:ext cx="11227680" cy="92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  <a:ea typeface="Calibri"/>
              </a:rPr>
              <a:t>Инфологическая модель БД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5501F62-4D55-45DF-A18B-E7E652942E2B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2276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Программная реализация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ftr" idx="49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0" y="921600"/>
            <a:ext cx="115790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Структура метаданных информационной системы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5" name="" descr=""/>
          <p:cNvPicPr/>
          <p:nvPr/>
        </p:nvPicPr>
        <p:blipFill>
          <a:blip r:embed="rId1"/>
          <a:stretch/>
        </p:blipFill>
        <p:spPr>
          <a:xfrm>
            <a:off x="1605960" y="2246760"/>
            <a:ext cx="8112960" cy="405216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58FB8A1-F5FC-4075-9B01-0754548710A8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/>
          <p:nvPr/>
        </p:nvSpPr>
        <p:spPr>
          <a:xfrm>
            <a:off x="0" y="0"/>
            <a:ext cx="11158560" cy="81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Добавление поставщиков и групп товаров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7" name="" descr=""/>
          <p:cNvPicPr/>
          <p:nvPr/>
        </p:nvPicPr>
        <p:blipFill>
          <a:blip r:embed="rId1"/>
          <a:stretch/>
        </p:blipFill>
        <p:spPr>
          <a:xfrm>
            <a:off x="502200" y="3240000"/>
            <a:ext cx="11016720" cy="1714320"/>
          </a:xfrm>
          <a:prstGeom prst="rect">
            <a:avLst/>
          </a:prstGeom>
          <a:ln w="0">
            <a:noFill/>
          </a:ln>
        </p:spPr>
      </p:pic>
      <p:pic>
        <p:nvPicPr>
          <p:cNvPr id="168" name="" descr=""/>
          <p:cNvPicPr/>
          <p:nvPr/>
        </p:nvPicPr>
        <p:blipFill>
          <a:blip r:embed="rId2"/>
          <a:stretch/>
        </p:blipFill>
        <p:spPr>
          <a:xfrm>
            <a:off x="228240" y="1542600"/>
            <a:ext cx="11830680" cy="133632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0F79812-EF97-4D94-899D-971015F96B50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3"/>
          <p:cNvSpPr/>
          <p:nvPr/>
        </p:nvSpPr>
        <p:spPr>
          <a:xfrm>
            <a:off x="0" y="0"/>
            <a:ext cx="10078560" cy="6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Формирование выборки поставщиков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0" name="" descr=""/>
          <p:cNvPicPr/>
          <p:nvPr/>
        </p:nvPicPr>
        <p:blipFill>
          <a:blip r:embed="rId1"/>
          <a:stretch/>
        </p:blipFill>
        <p:spPr>
          <a:xfrm>
            <a:off x="360" y="1577880"/>
            <a:ext cx="3970800" cy="4000680"/>
          </a:xfrm>
          <a:prstGeom prst="rect">
            <a:avLst/>
          </a:prstGeom>
          <a:ln w="0">
            <a:noFill/>
          </a:ln>
        </p:spPr>
      </p:pic>
      <p:pic>
        <p:nvPicPr>
          <p:cNvPr id="171" name="" descr=""/>
          <p:cNvPicPr/>
          <p:nvPr/>
        </p:nvPicPr>
        <p:blipFill>
          <a:blip r:embed="rId2"/>
          <a:stretch/>
        </p:blipFill>
        <p:spPr>
          <a:xfrm>
            <a:off x="4500000" y="2009160"/>
            <a:ext cx="7402320" cy="320940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6681F90-24C7-470B-A35D-97B2181F18DD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" descr=""/>
          <p:cNvPicPr/>
          <p:nvPr/>
        </p:nvPicPr>
        <p:blipFill>
          <a:blip r:embed="rId1"/>
          <a:stretch/>
        </p:blipFill>
        <p:spPr>
          <a:xfrm>
            <a:off x="3585240" y="1124640"/>
            <a:ext cx="7393680" cy="2649600"/>
          </a:xfrm>
          <a:prstGeom prst="rect">
            <a:avLst/>
          </a:prstGeom>
          <a:ln w="0">
            <a:noFill/>
          </a:ln>
        </p:spPr>
      </p:pic>
      <p:pic>
        <p:nvPicPr>
          <p:cNvPr id="173" name="" descr=""/>
          <p:cNvPicPr/>
          <p:nvPr/>
        </p:nvPicPr>
        <p:blipFill>
          <a:blip r:embed="rId2"/>
          <a:stretch/>
        </p:blipFill>
        <p:spPr>
          <a:xfrm>
            <a:off x="3602520" y="4007880"/>
            <a:ext cx="7354800" cy="2651040"/>
          </a:xfrm>
          <a:prstGeom prst="rect">
            <a:avLst/>
          </a:prstGeom>
          <a:ln w="0">
            <a:noFill/>
          </a:ln>
        </p:spPr>
      </p:pic>
      <p:sp>
        <p:nvSpPr>
          <p:cNvPr id="174" name="PlaceHolder 13"/>
          <p:cNvSpPr/>
          <p:nvPr/>
        </p:nvSpPr>
        <p:spPr>
          <a:xfrm>
            <a:off x="0" y="0"/>
            <a:ext cx="10078560" cy="6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Анализ выборки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5" name="" descr=""/>
          <p:cNvPicPr/>
          <p:nvPr/>
        </p:nvPicPr>
        <p:blipFill>
          <a:blip r:embed="rId3"/>
          <a:stretch/>
        </p:blipFill>
        <p:spPr>
          <a:xfrm>
            <a:off x="77400" y="1165320"/>
            <a:ext cx="3341520" cy="315360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A702851-677F-48AF-89ED-007E108F89D9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4"/>
          <p:cNvSpPr/>
          <p:nvPr/>
        </p:nvSpPr>
        <p:spPr>
          <a:xfrm>
            <a:off x="643320" y="10080"/>
            <a:ext cx="10899000" cy="132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3600" spc="-1" strike="noStrike">
              <a:solidFill>
                <a:srgbClr val="332974"/>
              </a:solidFill>
              <a:latin typeface="Montserrat SemiBold"/>
            </a:endParaRPr>
          </a:p>
        </p:txBody>
      </p:sp>
      <p:pic>
        <p:nvPicPr>
          <p:cNvPr id="177" name="" descr=""/>
          <p:cNvPicPr/>
          <p:nvPr/>
        </p:nvPicPr>
        <p:blipFill>
          <a:blip r:embed="rId1"/>
          <a:stretch/>
        </p:blipFill>
        <p:spPr>
          <a:xfrm>
            <a:off x="3022200" y="1440000"/>
            <a:ext cx="7596720" cy="1234800"/>
          </a:xfrm>
          <a:prstGeom prst="rect">
            <a:avLst/>
          </a:prstGeom>
          <a:ln w="0">
            <a:noFill/>
          </a:ln>
        </p:spPr>
      </p:pic>
      <p:pic>
        <p:nvPicPr>
          <p:cNvPr id="178" name="" descr=""/>
          <p:cNvPicPr/>
          <p:nvPr/>
        </p:nvPicPr>
        <p:blipFill>
          <a:blip r:embed="rId2"/>
          <a:stretch/>
        </p:blipFill>
        <p:spPr>
          <a:xfrm>
            <a:off x="3022200" y="2880000"/>
            <a:ext cx="7447320" cy="2258280"/>
          </a:xfrm>
          <a:prstGeom prst="rect">
            <a:avLst/>
          </a:prstGeom>
          <a:ln w="0">
            <a:noFill/>
          </a:ln>
        </p:spPr>
      </p:pic>
      <p:sp>
        <p:nvSpPr>
          <p:cNvPr id="179" name=""/>
          <p:cNvSpPr/>
          <p:nvPr/>
        </p:nvSpPr>
        <p:spPr>
          <a:xfrm>
            <a:off x="0" y="0"/>
            <a:ext cx="8677080" cy="73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  <a:ea typeface="Microsoft YaHei"/>
              </a:rPr>
              <a:t>Сохранение результатов оценки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0" name="" descr=""/>
          <p:cNvPicPr/>
          <p:nvPr/>
        </p:nvPicPr>
        <p:blipFill>
          <a:blip r:embed="rId3"/>
          <a:stretch/>
        </p:blipFill>
        <p:spPr>
          <a:xfrm>
            <a:off x="0" y="1440000"/>
            <a:ext cx="2865240" cy="305892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F7B7E12-060E-4E99-B9C4-5D8FEDEE5B8C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2276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/>
                </a:solidFill>
                <a:latin typeface="Montserrat SemiBold"/>
              </a:rPr>
              <a:t>Практическая значимость работы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 type="ftr" idx="50"/>
          </p:nvPr>
        </p:nvSpPr>
        <p:spPr>
          <a:xfrm>
            <a:off x="1333440" y="6352560"/>
            <a:ext cx="747828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183" name=""/>
          <p:cNvGraphicFramePr/>
          <p:nvPr/>
        </p:nvGraphicFramePr>
        <p:xfrm>
          <a:off x="313560" y="1138680"/>
          <a:ext cx="7919640" cy="3035520"/>
        </p:xfrm>
        <a:graphic>
          <a:graphicData uri="http://schemas.openxmlformats.org/drawingml/2006/table">
            <a:tbl>
              <a:tblPr/>
              <a:tblGrid>
                <a:gridCol w="3959280"/>
                <a:gridCol w="3960720"/>
              </a:tblGrid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Направление</a:t>
                      </a:r>
                      <a:endParaRPr b="0" lang="ru-RU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Эффект</a:t>
                      </a:r>
                      <a:endParaRPr b="0" lang="ru-RU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Автоматизация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Сокращение времени проверки поставщика с нескольких часов до 1-2 минут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Точность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Прогнозирование рисков с точностью &gt;90%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Экономия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2,5 руб./запрос против 10 000 руб./год (экономия до 70%)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Безопасность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Снижение риска финансовых потерь на 40-50%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A9D8CCA-79A4-4E91-814B-4FD80D8CBB8C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/>
          </p:nvPr>
        </p:nvSpPr>
        <p:spPr>
          <a:xfrm>
            <a:off x="3759120" y="5218920"/>
            <a:ext cx="7821360" cy="74448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6"/>
                </a:solidFill>
                <a:latin typeface="Montserrat"/>
              </a:rPr>
              <a:t>Научный руководитель: Андреев Илья Александрович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3759120" y="4242240"/>
            <a:ext cx="7821360" cy="77184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rmAutofit fontScale="83888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dk1"/>
                </a:solidFill>
                <a:latin typeface="Montserrat"/>
              </a:rPr>
              <a:t>Студент: Альвицов Данил Сергеевич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dk1"/>
                </a:solidFill>
                <a:latin typeface="Montserrat"/>
              </a:rPr>
              <a:t>Группа: БВТ2104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/>
          </p:nvPr>
        </p:nvSpPr>
        <p:spPr>
          <a:xfrm>
            <a:off x="4776840" y="6168600"/>
            <a:ext cx="2635920" cy="33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spcBef>
                <a:spcPts val="1417"/>
              </a:spcBef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 type="title"/>
          </p:nvPr>
        </p:nvSpPr>
        <p:spPr>
          <a:xfrm>
            <a:off x="3759120" y="2007000"/>
            <a:ext cx="7821360" cy="203040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4000" spc="-1" strike="noStrike">
                <a:solidFill>
                  <a:schemeClr val="dk1"/>
                </a:solidFill>
                <a:latin typeface="Montserrat SemiBold"/>
              </a:rPr>
              <a:t>Спасибо за внимание</a:t>
            </a:r>
            <a:endParaRPr b="1" lang="ru-RU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8161</TotalTime>
  <Application>LibreOffice/24.2.4.2$Windows_X86_64 LibreOffice_project/51a6219feb6075d9a4c46691dcfe0cd9c4fff3c2</Application>
  <AppVersion>15.0000</AppVersion>
  <Words>1381</Words>
  <Paragraphs>220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2023-04-19T21:39:12Z</dcterms:created>
  <dc:creator>user [v4]</dc:creator>
  <dc:description/>
  <dc:language>ru-RU</dc:language>
  <cp:lastModifiedBy/>
  <dcterms:modified xsi:type="dcterms:W3CDTF">2026-04-26T12:36:26Z</dcterms:modified>
  <cp:revision>69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47</vt:i4>
  </property>
</Properties>
</file>