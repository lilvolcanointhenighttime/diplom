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svg" ContentType="image/sv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E91D209-2415-404E-BA1F-D45F467A98E8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951D12-F639-414B-AC03-493FD93CAEFC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B7BDE0-4888-4824-9C1D-4BB7A749748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1EE9D62-1CAE-4DCA-BF65-9A4F7FDCAE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5109CC1-76B0-4CEB-B399-2D9C2048DB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A3BFFE9-9415-4C13-AE1E-F402E441879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A331DF2-B463-40A9-8E9F-DA5BDC09C1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BCF021-ECCD-4E84-9771-C92BC7D5CFEB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B3B6F3-344C-4AAC-A95C-075818B282BF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ED5257-D9FA-4AC4-9FA7-ED28BBB7B55F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vert="eaVert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vert="eaVer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7A09FD-2643-44E4-A709-4937FA7851FA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39A12F-9015-4661-8A62-BE5B8D157112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0.png"/><Relationship Id="rId3" Type="http://schemas.openxmlformats.org/officeDocument/2006/relationships/image" Target="../media/image20.png"/><Relationship Id="rId4" Type="http://schemas.openxmlformats.org/officeDocument/2006/relationships/image" Target="../media/image20.png"/><Relationship Id="rId5" Type="http://schemas.openxmlformats.org/officeDocument/2006/relationships/image" Target="../media/image20.png"/><Relationship Id="rId6" Type="http://schemas.openxmlformats.org/officeDocument/2006/relationships/image" Target="../media/image20.png"/><Relationship Id="rId7" Type="http://schemas.openxmlformats.org/officeDocument/2006/relationships/image" Target="../media/image20.png"/><Relationship Id="rId8" Type="http://schemas.openxmlformats.org/officeDocument/2006/relationships/image" Target="../media/image1.png"/><Relationship Id="rId9" Type="http://schemas.openxmlformats.org/officeDocument/2006/relationships/image" Target="../media/image1.png"/><Relationship Id="rId10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987840" y="2975400"/>
            <a:ext cx="10393200" cy="185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26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Выпускная квалификационная работа </a:t>
            </a:r>
            <a:br>
              <a:rPr sz="2600"/>
            </a:br>
            <a:r>
              <a:rPr b="1" lang="ru-RU" sz="2600" spc="-1" strike="noStrike">
                <a:solidFill>
                  <a:srgbClr val="000000"/>
                </a:solidFill>
                <a:latin typeface="Calibri Light"/>
                <a:ea typeface="Microsoft YaHei"/>
              </a:rPr>
              <a:t>на тему:</a:t>
            </a:r>
            <a:br>
              <a:rPr sz="2600"/>
            </a:br>
            <a:r>
              <a:rPr b="1" lang="ru-RU" sz="26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 Информационная система комплексной оценки надежности поставщиков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6185160" y="5002920"/>
            <a:ext cx="6005160" cy="185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Выполнил студент группы БВТ2204: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Альвицов Д.С.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Научный руководитель: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к.э.н., доцент кафедры КИС Андреев И.А.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" name="Рисунок 4" descr=""/>
          <p:cNvPicPr/>
          <p:nvPr/>
        </p:nvPicPr>
        <p:blipFill>
          <a:blip r:embed="rId1"/>
          <a:stretch/>
        </p:blipFill>
        <p:spPr>
          <a:xfrm>
            <a:off x="11070720" y="-3229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44" name="Рисунок 5" descr=""/>
          <p:cNvPicPr/>
          <p:nvPr/>
        </p:nvPicPr>
        <p:blipFill>
          <a:blip r:embed="rId2"/>
          <a:stretch/>
        </p:blipFill>
        <p:spPr>
          <a:xfrm>
            <a:off x="-885240" y="73260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10800000" dist="38160" rotWithShape="0">
              <a:srgbClr val="000000">
                <a:alpha val="40000"/>
              </a:srgbClr>
            </a:outerShdw>
          </a:effectLst>
        </p:spPr>
      </p:pic>
      <p:sp>
        <p:nvSpPr>
          <p:cNvPr id="45" name="Заголовок 1"/>
          <p:cNvSpPr/>
          <p:nvPr/>
        </p:nvSpPr>
        <p:spPr>
          <a:xfrm>
            <a:off x="1772640" y="148320"/>
            <a:ext cx="8822880" cy="270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 fontScale="68333"/>
          </a:bodyPr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МИНИСТЕРСТВО ЦИФРОВОГО РАЗВИТИЯ, СВЯЗИ И МАССОВЫХ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КОММУНИКАЦИЙ РОССИЙСКОЙ ФЕДЕРАЦИИ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Ордена Трудового Красного Знамени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 </a:t>
            </a: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федеральное государственное бюджетное 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образовательное учреждение высшего образования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«Московский технический университет связи и информатики»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(МТУСИ)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20000"/>
              </a:lnSpc>
            </a:pPr>
            <a:r>
              <a:rPr b="0" lang="ru-RU" sz="2400" spc="-1" strike="noStrike">
                <a:solidFill>
                  <a:schemeClr val="dk1"/>
                </a:solidFill>
                <a:latin typeface="Calibri Light"/>
                <a:ea typeface="DejaVu Sans"/>
              </a:rPr>
              <a:t>Кафедра «Корпоративные информационные системы»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Подзаголовок 2"/>
          <p:cNvSpPr/>
          <p:nvPr/>
        </p:nvSpPr>
        <p:spPr>
          <a:xfrm>
            <a:off x="5326920" y="6444720"/>
            <a:ext cx="1674000" cy="3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90000"/>
              </a:lnSpc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Москва, 2026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295080" y="255960"/>
            <a:ext cx="6078240" cy="53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</a:rPr>
              <a:t>Актуальность выбранной темы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35040" y="820800"/>
            <a:ext cx="11244240" cy="16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19444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8000" spc="-1" strike="noStrike">
                <a:solidFill>
                  <a:schemeClr val="dk1"/>
                </a:solidFill>
                <a:latin typeface="Calibri"/>
                <a:ea typeface="Times New Roman"/>
              </a:rPr>
              <a:t>Актуальность темы исследования обусловлена критической важностью выбора надежных поставщиков для обеспечения бесперебойной деятельности торговых предприятий в условиях современной рыночной нестабильности. Основная проблема заключается в противоречии между необходимостью быстрого принятия решений о закупках и трудоемкостью традиционных методов сбора и верификации информации о контрагентах, которая часто разрозненна и труднодоступна. . В связи с этим разработка программного модуля на основе интеллектуального анализа данных, позволяющего оперативно и объективно оценивать благонадежность поставщиков, является своевременным и практически значимым решением.</a:t>
            </a:r>
            <a:endParaRPr b="0" lang="ru-RU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Box 5"/>
          <p:cNvSpPr/>
          <p:nvPr/>
        </p:nvSpPr>
        <p:spPr>
          <a:xfrm>
            <a:off x="5947920" y="6308280"/>
            <a:ext cx="3823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2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Заголовок 1"/>
          <p:cNvSpPr/>
          <p:nvPr/>
        </p:nvSpPr>
        <p:spPr>
          <a:xfrm>
            <a:off x="4656960" y="2533320"/>
            <a:ext cx="2876400" cy="5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  <a:ea typeface="DejaVu Sans"/>
              </a:rPr>
              <a:t>Цель работы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Объект 2"/>
          <p:cNvSpPr/>
          <p:nvPr/>
        </p:nvSpPr>
        <p:spPr>
          <a:xfrm>
            <a:off x="1513800" y="2600280"/>
            <a:ext cx="9765000" cy="17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100000"/>
              </a:lnSpc>
            </a:pPr>
            <a:endParaRPr b="0" lang="ru-RU" sz="2400" spc="-1" strike="noStrike">
              <a:solidFill>
                <a:srgbClr val="61298c"/>
              </a:solidFill>
              <a:latin typeface="Calibri"/>
              <a:ea typeface="DejaVu Sans"/>
            </a:endParaRPr>
          </a:p>
        </p:txBody>
      </p:sp>
      <p:sp>
        <p:nvSpPr>
          <p:cNvPr id="52" name="Заголовок 1"/>
          <p:cNvSpPr/>
          <p:nvPr/>
        </p:nvSpPr>
        <p:spPr>
          <a:xfrm>
            <a:off x="5308560" y="3819240"/>
            <a:ext cx="1573200" cy="5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  <a:ea typeface="DejaVu Sans"/>
              </a:rPr>
              <a:t>Задачи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Объект 2"/>
          <p:cNvSpPr/>
          <p:nvPr/>
        </p:nvSpPr>
        <p:spPr>
          <a:xfrm>
            <a:off x="635040" y="4508640"/>
            <a:ext cx="1109304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изучить методы и модели анализа данных для оценки благонадежности поставщика товаров;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описать характеристика деятельности и организационную структуру управления ООО «Авангард»;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провести анализ бизнес процесса закупки товаров и выбора поставщика и сформировать предложения по автоматизации;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провести сравнительный анализ рынка аналогичного ПО;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разработать информационную системы для рассматриваемого бизнес процесса;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Courier New"/>
              <a:buChar char="o"/>
              <a:tabLst>
                <a:tab algn="l" pos="0"/>
              </a:tabLst>
            </a:pPr>
            <a:r>
              <a:rPr b="0" lang="ru-RU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entury Gothic"/>
                <a:ea typeface="DejaVu Sans"/>
              </a:rPr>
              <a:t>оценить экономическую эффективность проекта.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Box 8"/>
          <p:cNvSpPr/>
          <p:nvPr/>
        </p:nvSpPr>
        <p:spPr>
          <a:xfrm>
            <a:off x="635040" y="3117600"/>
            <a:ext cx="1131912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Разработка информационной системы оценки благонадежности поставщика товаров 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для повышения качества и эффективности труда сотрудников </a:t>
            </a:r>
            <a:r>
              <a:rPr b="0" lang="ru-RU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организации ООО «Авангард»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Рисунок 9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56" name="Рисунок 10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056120" y="136440"/>
            <a:ext cx="4077720" cy="53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</a:rPr>
              <a:t>Постановка задачи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0" y="668520"/>
            <a:ext cx="12190320" cy="105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just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	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Задачей на данную работу является разработка приложения для лабораторных работ по курсу «Мультимедийные информационные системы» на тему «Распределение мультимедийной информации между участниками аудио-видео конференций»</a:t>
            </a:r>
            <a:r>
              <a:rPr b="0" lang="en-US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.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Times New Roman"/>
              </a:rPr>
              <a:t> 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5"/>
          <p:cNvSpPr/>
          <p:nvPr/>
        </p:nvSpPr>
        <p:spPr>
          <a:xfrm>
            <a:off x="5947920" y="6308280"/>
            <a:ext cx="3823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3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Заголовок 1"/>
          <p:cNvSpPr/>
          <p:nvPr/>
        </p:nvSpPr>
        <p:spPr>
          <a:xfrm>
            <a:off x="4843800" y="1729440"/>
            <a:ext cx="2738880" cy="5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9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Calibri"/>
                <a:ea typeface="DejaVu Sans"/>
              </a:rPr>
              <a:t>Требования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Объект 2"/>
          <p:cNvSpPr/>
          <p:nvPr/>
        </p:nvSpPr>
        <p:spPr>
          <a:xfrm>
            <a:off x="424080" y="2395080"/>
            <a:ext cx="6240600" cy="38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Приложение для студентов должно выполнять следующие функции: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Решение задачи поиска компонент сильной связности с использованием алгоритма Косарайю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Решение задачи кластеризации с использованием алгоритма </a:t>
            </a:r>
            <a:r>
              <a:rPr b="0" lang="en" sz="2000" spc="-1" strike="noStrike">
                <a:solidFill>
                  <a:schemeClr val="dk1"/>
                </a:solidFill>
                <a:latin typeface="Calibri"/>
                <a:ea typeface="DejaVu Sans"/>
              </a:rPr>
              <a:t>K-</a:t>
            </a: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средних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Генерация случайных входных данных для обоих алгоритмов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Проверку корректности формата и логики ввода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Отправку результата преподавателю с фиксацией в БД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Объект 2"/>
          <p:cNvSpPr/>
          <p:nvPr/>
        </p:nvSpPr>
        <p:spPr>
          <a:xfrm>
            <a:off x="6849360" y="2399400"/>
            <a:ext cx="4916880" cy="38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Приложение для преподавателей должно выполнять следующие функции: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Просмотр результатов выполнения лабораторных работ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Отображение успеваемости всех студентов в виде журнала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678960" indent="-216000" defTabSz="9144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Синхронизацию данных с базой без перезапуска приложения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28600"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28600" defTabSz="914400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" name="Рисунок 6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64" name="Рисунок 7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1080000" y="307080"/>
            <a:ext cx="9718560" cy="71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Описание и анализ бизнес процесса закупки товаров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" name="Рисунок 1" descr=""/>
          <p:cNvPicPr/>
          <p:nvPr/>
        </p:nvPicPr>
        <p:blipFill>
          <a:blip r:embed="rId1"/>
          <a:stretch/>
        </p:blipFill>
        <p:spPr>
          <a:xfrm>
            <a:off x="11070720" y="-843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67" name="Рисунок 2" descr=""/>
          <p:cNvPicPr/>
          <p:nvPr/>
        </p:nvPicPr>
        <p:blipFill>
          <a:blip r:embed="rId2"/>
          <a:stretch/>
        </p:blipFill>
        <p:spPr>
          <a:xfrm>
            <a:off x="-994680" y="5556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68" name="TextBox 1"/>
          <p:cNvSpPr/>
          <p:nvPr/>
        </p:nvSpPr>
        <p:spPr>
          <a:xfrm>
            <a:off x="5947920" y="6308280"/>
            <a:ext cx="3823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4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" name="" descr=""/>
          <p:cNvPicPr/>
          <p:nvPr/>
        </p:nvPicPr>
        <p:blipFill>
          <a:blip r:embed="rId3"/>
          <a:stretch/>
        </p:blipFill>
        <p:spPr>
          <a:xfrm>
            <a:off x="720000" y="1620000"/>
            <a:ext cx="5313240" cy="3712320"/>
          </a:xfrm>
          <a:prstGeom prst="rect">
            <a:avLst/>
          </a:prstGeom>
          <a:ln w="0">
            <a:noFill/>
          </a:ln>
        </p:spPr>
      </p:pic>
      <p:pic>
        <p:nvPicPr>
          <p:cNvPr id="70" name="" descr=""/>
          <p:cNvPicPr/>
          <p:nvPr/>
        </p:nvPicPr>
        <p:blipFill>
          <a:blip r:embed="rId4"/>
          <a:stretch/>
        </p:blipFill>
        <p:spPr>
          <a:xfrm>
            <a:off x="6278040" y="1620000"/>
            <a:ext cx="5240880" cy="3669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40000" y="180360"/>
            <a:ext cx="1151856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Декомпозиция блока А2 </a:t>
            </a:r>
            <a:br>
              <a:rPr sz="3600"/>
            </a:b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«Выбор поставщика»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2"/>
          <p:cNvSpPr/>
          <p:nvPr/>
        </p:nvSpPr>
        <p:spPr>
          <a:xfrm>
            <a:off x="5947920" y="6308280"/>
            <a:ext cx="3823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5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" name="" descr=""/>
          <p:cNvPicPr/>
          <p:nvPr/>
        </p:nvPicPr>
        <p:blipFill>
          <a:blip r:embed="rId1"/>
          <a:stretch/>
        </p:blipFill>
        <p:spPr>
          <a:xfrm>
            <a:off x="3242880" y="1786680"/>
            <a:ext cx="6476040" cy="4512240"/>
          </a:xfrm>
          <a:prstGeom prst="rect">
            <a:avLst/>
          </a:prstGeom>
          <a:ln w="0">
            <a:noFill/>
          </a:ln>
        </p:spPr>
      </p:pic>
      <p:pic>
        <p:nvPicPr>
          <p:cNvPr id="74" name="Рисунок 11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75" name="Рисунок 12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342360" y="369360"/>
            <a:ext cx="11503800" cy="75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Сравнительный анализ готовых решений 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Rectangle 2"/>
          <p:cNvSpPr/>
          <p:nvPr/>
        </p:nvSpPr>
        <p:spPr>
          <a:xfrm>
            <a:off x="0" y="0"/>
            <a:ext cx="1219032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360" bIns="360" anchor="ctr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5947920" y="6308280"/>
            <a:ext cx="3823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6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9" name="Объект 1"/>
          <p:cNvGraphicFramePr/>
          <p:nvPr/>
        </p:nvGraphicFramePr>
        <p:xfrm>
          <a:off x="2769480" y="1467360"/>
          <a:ext cx="8910720" cy="5517720"/>
        </p:xfrm>
        <a:graphic>
          <a:graphicData uri="http://schemas.openxmlformats.org/drawingml/2006/table">
            <a:tbl>
              <a:tblPr/>
              <a:tblGrid>
                <a:gridCol w="1837440"/>
                <a:gridCol w="1835640"/>
                <a:gridCol w="1833840"/>
                <a:gridCol w="1579680"/>
                <a:gridCol w="1824480"/>
              </a:tblGrid>
              <a:tr h="78228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Название системы \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Критерии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PLUSSELL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SAP Ariba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iTender SRM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Разработка собственной информационной системы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</a:tr>
              <a:tr h="195840"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1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2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3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4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algn="ctr"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5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Стоимость поставки ПО, руб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62 100.00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128 800.00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17 260.00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Не требуется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8680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Масштабность внедрения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Крупные 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Оптовые компании и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Мелкие розничные магазины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Решение поставленных задач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Среднее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Низкое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Полное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9132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Возможность оценки поставщиков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58680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Эффективность и наполнение доступных отчётов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86800">
                <a:tc>
                  <a:txBody>
                    <a:bodyPr lIns="44640" rIns="44640" anchor="t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Многопользовательский режим и права доступа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-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+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edce6"/>
                    </a:solidFill>
                  </a:tcPr>
                </a:tc>
              </a:tr>
              <a:tr h="782280"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1" lang="ru-RU" sz="1200" spc="-1" strike="noStrike">
                          <a:solidFill>
                            <a:schemeClr val="lt1"/>
                          </a:solidFill>
                          <a:latin typeface="Century Gothic"/>
                        </a:rPr>
                        <a:t>Возможность добавления программных модулей</a:t>
                      </a:r>
                      <a:endParaRPr b="0" lang="ru-RU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Да, как администратор, так и пользователь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Только администратор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Нет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640" rIns="44640" anchor="ctr">
                      <a:noAutofit/>
                    </a:bodyPr>
                    <a:p>
                      <a:pPr defTabSz="457200">
                        <a:lnSpc>
                          <a:spcPct val="107000"/>
                        </a:lnSpc>
                        <a:tabLst>
                          <a:tab algn="l" pos="630720"/>
                        </a:tabLst>
                      </a:pPr>
                      <a:r>
                        <a:rPr b="0" lang="ru-RU" sz="1200" spc="-1" strike="noStrike">
                          <a:solidFill>
                            <a:schemeClr val="dk1"/>
                          </a:solidFill>
                          <a:latin typeface="Century Gothic"/>
                        </a:rPr>
                        <a:t>Только администратор</a:t>
                      </a:r>
                      <a:endParaRPr b="0" lang="ru-RU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4640" marR="446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80" name="Рисунок 13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81" name="Рисунок 14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218240" y="270000"/>
            <a:ext cx="975384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</a:rPr>
              <a:t>Архитектура приложения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1371600" y="3519000"/>
            <a:ext cx="18288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6050160" y="6308280"/>
            <a:ext cx="3823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7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" name="" descr=""/>
          <p:cNvPicPr/>
          <p:nvPr/>
        </p:nvPicPr>
        <p:blipFill>
          <a:blip r:embed="rId1"/>
          <a:stretch/>
        </p:blipFill>
        <p:spPr>
          <a:xfrm>
            <a:off x="2340000" y="1611720"/>
            <a:ext cx="7558560" cy="4146840"/>
          </a:xfrm>
          <a:prstGeom prst="rect">
            <a:avLst/>
          </a:prstGeom>
          <a:ln w="0">
            <a:noFill/>
          </a:ln>
        </p:spPr>
      </p:pic>
      <p:pic>
        <p:nvPicPr>
          <p:cNvPr id="86" name="Рисунок 15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87" name="Рисунок 16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2674080" y="0"/>
            <a:ext cx="7764480" cy="71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Инфологическая модель БД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Рисунок 3" descr=""/>
          <p:cNvPicPr/>
          <p:nvPr/>
        </p:nvPicPr>
        <p:blipFill>
          <a:blip r:embed="rId1"/>
          <a:stretch/>
        </p:blipFill>
        <p:spPr>
          <a:xfrm>
            <a:off x="11070720" y="-58536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90" name="TextBox 5"/>
          <p:cNvSpPr/>
          <p:nvPr/>
        </p:nvSpPr>
        <p:spPr>
          <a:xfrm>
            <a:off x="5947920" y="6308280"/>
            <a:ext cx="3823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8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Рисунок 4" descr=""/>
          <p:cNvPicPr/>
          <p:nvPr/>
        </p:nvPicPr>
        <p:blipFill>
          <a:blip r:embed="rId2"/>
          <a:stretch/>
        </p:blipFill>
        <p:spPr>
          <a:xfrm>
            <a:off x="-994680" y="5556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92" name="" descr=""/>
          <p:cNvPicPr/>
          <p:nvPr/>
        </p:nvPicPr>
        <p:blipFill>
          <a:blip r:embed="rId3"/>
          <a:stretch/>
        </p:blipFill>
        <p:spPr>
          <a:xfrm>
            <a:off x="3060000" y="837360"/>
            <a:ext cx="6262560" cy="5641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1620000" y="0"/>
            <a:ext cx="8818560" cy="70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3888"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Структура метаданных информационной системы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Рисунок 3" descr=""/>
          <p:cNvPicPr/>
          <p:nvPr/>
        </p:nvPicPr>
        <p:blipFill>
          <a:blip r:embed="rId1"/>
          <a:stretch/>
        </p:blipFill>
        <p:spPr>
          <a:xfrm>
            <a:off x="10845720" y="-127836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95" name="Рисунок 4" descr=""/>
          <p:cNvPicPr/>
          <p:nvPr/>
        </p:nvPicPr>
        <p:blipFill>
          <a:blip r:embed="rId2"/>
          <a:stretch/>
        </p:blipFill>
        <p:spPr>
          <a:xfrm>
            <a:off x="-966240" y="559080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96" name="TextBox 5"/>
          <p:cNvSpPr/>
          <p:nvPr/>
        </p:nvSpPr>
        <p:spPr>
          <a:xfrm>
            <a:off x="5925960" y="6273360"/>
            <a:ext cx="3823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9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" name="" descr=""/>
          <p:cNvPicPr/>
          <p:nvPr/>
        </p:nvPicPr>
        <p:blipFill>
          <a:blip r:embed="rId3"/>
          <a:stretch/>
        </p:blipFill>
        <p:spPr>
          <a:xfrm>
            <a:off x="1986480" y="1162800"/>
            <a:ext cx="8632080" cy="4235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2323080" y="102960"/>
            <a:ext cx="7935480" cy="82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1111"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Добавление поставщиков и групп товаров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" name="Рисунок 4" descr=""/>
          <p:cNvPicPr/>
          <p:nvPr/>
        </p:nvPicPr>
        <p:blipFill>
          <a:blip r:embed="rId1"/>
          <a:stretch/>
        </p:blipFill>
        <p:spPr>
          <a:xfrm>
            <a:off x="-966240" y="559080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100" name="TextBox 2"/>
          <p:cNvSpPr/>
          <p:nvPr/>
        </p:nvSpPr>
        <p:spPr>
          <a:xfrm>
            <a:off x="1371600" y="3519000"/>
            <a:ext cx="18288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01" name="TextBox 5"/>
          <p:cNvSpPr/>
          <p:nvPr/>
        </p:nvSpPr>
        <p:spPr>
          <a:xfrm>
            <a:off x="5866560" y="627336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10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Рисунок 3" descr=""/>
          <p:cNvPicPr/>
          <p:nvPr/>
        </p:nvPicPr>
        <p:blipFill>
          <a:blip r:embed="rId2"/>
          <a:stretch/>
        </p:blipFill>
        <p:spPr>
          <a:xfrm>
            <a:off x="10699200" y="-112140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189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03" name="" descr=""/>
          <p:cNvPicPr/>
          <p:nvPr/>
        </p:nvPicPr>
        <p:blipFill>
          <a:blip r:embed="rId3"/>
          <a:stretch/>
        </p:blipFill>
        <p:spPr>
          <a:xfrm>
            <a:off x="540000" y="1341360"/>
            <a:ext cx="11019600" cy="1717200"/>
          </a:xfrm>
          <a:prstGeom prst="rect">
            <a:avLst/>
          </a:prstGeom>
          <a:ln w="0">
            <a:noFill/>
          </a:ln>
        </p:spPr>
      </p:pic>
      <p:pic>
        <p:nvPicPr>
          <p:cNvPr id="104" name="" descr=""/>
          <p:cNvPicPr/>
          <p:nvPr/>
        </p:nvPicPr>
        <p:blipFill>
          <a:blip r:embed="rId4"/>
          <a:stretch/>
        </p:blipFill>
        <p:spPr>
          <a:xfrm>
            <a:off x="180000" y="3673440"/>
            <a:ext cx="12061440" cy="1365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495080" y="145800"/>
            <a:ext cx="9199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"/>
              </a:rPr>
              <a:t>Формирование выборки поставщиков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" name="Рисунок 3" descr=""/>
          <p:cNvPicPr/>
          <p:nvPr/>
        </p:nvPicPr>
        <p:blipFill>
          <a:blip r:embed="rId1"/>
          <a:stretch/>
        </p:blipFill>
        <p:spPr>
          <a:xfrm>
            <a:off x="10862640" y="-77148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sp>
        <p:nvSpPr>
          <p:cNvPr id="107" name="TextBox 2"/>
          <p:cNvSpPr/>
          <p:nvPr/>
        </p:nvSpPr>
        <p:spPr>
          <a:xfrm>
            <a:off x="5960160" y="6342840"/>
            <a:ext cx="5637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11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" name="Рисунок 4" descr=""/>
          <p:cNvPicPr/>
          <p:nvPr/>
        </p:nvPicPr>
        <p:blipFill>
          <a:blip r:embed="rId2"/>
          <a:stretch/>
        </p:blipFill>
        <p:spPr>
          <a:xfrm>
            <a:off x="-819000" y="52214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09" name="" descr=""/>
          <p:cNvPicPr/>
          <p:nvPr/>
        </p:nvPicPr>
        <p:blipFill>
          <a:blip r:embed="rId3"/>
          <a:stretch/>
        </p:blipFill>
        <p:spPr>
          <a:xfrm>
            <a:off x="0" y="1216440"/>
            <a:ext cx="3973680" cy="4003560"/>
          </a:xfrm>
          <a:prstGeom prst="rect">
            <a:avLst/>
          </a:prstGeom>
          <a:ln w="0">
            <a:noFill/>
          </a:ln>
        </p:spPr>
      </p:pic>
      <p:pic>
        <p:nvPicPr>
          <p:cNvPr id="110" name="" descr=""/>
          <p:cNvPicPr/>
          <p:nvPr/>
        </p:nvPicPr>
        <p:blipFill>
          <a:blip r:embed="rId4"/>
          <a:stretch/>
        </p:blipFill>
        <p:spPr>
          <a:xfrm>
            <a:off x="4500000" y="1800000"/>
            <a:ext cx="7405200" cy="3212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43320" y="10080"/>
            <a:ext cx="1090188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  <a:ea typeface="Microsoft YaHei"/>
              </a:rPr>
              <a:t>Сохранение результатов оценки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2"/>
          <p:cNvSpPr/>
          <p:nvPr/>
        </p:nvSpPr>
        <p:spPr>
          <a:xfrm>
            <a:off x="1371600" y="3519000"/>
            <a:ext cx="18288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13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12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" descr=""/>
          <p:cNvPicPr/>
          <p:nvPr/>
        </p:nvPicPr>
        <p:blipFill>
          <a:blip r:embed="rId1"/>
          <a:stretch/>
        </p:blipFill>
        <p:spPr>
          <a:xfrm>
            <a:off x="358920" y="1800000"/>
            <a:ext cx="2519640" cy="2878560"/>
          </a:xfrm>
          <a:prstGeom prst="rect">
            <a:avLst/>
          </a:prstGeom>
          <a:ln w="0">
            <a:noFill/>
          </a:ln>
        </p:spPr>
      </p:pic>
      <p:pic>
        <p:nvPicPr>
          <p:cNvPr id="115" name="" descr=""/>
          <p:cNvPicPr/>
          <p:nvPr/>
        </p:nvPicPr>
        <p:blipFill>
          <a:blip r:embed="rId2"/>
          <a:stretch/>
        </p:blipFill>
        <p:spPr>
          <a:xfrm>
            <a:off x="2880000" y="1800000"/>
            <a:ext cx="7599600" cy="1237680"/>
          </a:xfrm>
          <a:prstGeom prst="rect">
            <a:avLst/>
          </a:prstGeom>
          <a:ln w="0">
            <a:noFill/>
          </a:ln>
        </p:spPr>
      </p:pic>
      <p:pic>
        <p:nvPicPr>
          <p:cNvPr id="116" name="" descr=""/>
          <p:cNvPicPr/>
          <p:nvPr/>
        </p:nvPicPr>
        <p:blipFill>
          <a:blip r:embed="rId3"/>
          <a:stretch/>
        </p:blipFill>
        <p:spPr>
          <a:xfrm>
            <a:off x="2880000" y="3240000"/>
            <a:ext cx="7450200" cy="2261160"/>
          </a:xfrm>
          <a:prstGeom prst="rect">
            <a:avLst/>
          </a:prstGeom>
          <a:ln w="0">
            <a:noFill/>
          </a:ln>
        </p:spPr>
      </p:pic>
      <p:pic>
        <p:nvPicPr>
          <p:cNvPr id="117" name="Рисунок 17" descr=""/>
          <p:cNvPicPr/>
          <p:nvPr/>
        </p:nvPicPr>
        <p:blipFill>
          <a:blip r:embed="rId4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18" name="Рисунок 18" descr=""/>
          <p:cNvPicPr/>
          <p:nvPr/>
        </p:nvPicPr>
        <p:blipFill>
          <a:blip r:embed="rId5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547560" y="10080"/>
            <a:ext cx="1120896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  <a:ea typeface="Microsoft YaHei"/>
              </a:rPr>
              <a:t>Архитектура Python-сервиса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2"/>
          <p:cNvSpPr/>
          <p:nvPr/>
        </p:nvSpPr>
        <p:spPr>
          <a:xfrm>
            <a:off x="1371600" y="3519000"/>
            <a:ext cx="18288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21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13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2" name="" descr=""/>
          <p:cNvPicPr/>
          <p:nvPr/>
        </p:nvPicPr>
        <p:blipFill>
          <a:blip r:embed="rId1"/>
          <a:stretch/>
        </p:blipFill>
        <p:spPr>
          <a:xfrm>
            <a:off x="4140000" y="1620000"/>
            <a:ext cx="4138560" cy="4651200"/>
          </a:xfrm>
          <a:prstGeom prst="rect">
            <a:avLst/>
          </a:prstGeom>
          <a:ln w="0">
            <a:noFill/>
          </a:ln>
        </p:spPr>
      </p:pic>
      <p:pic>
        <p:nvPicPr>
          <p:cNvPr id="123" name="Рисунок 19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24" name="Рисунок 24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Box 2"/>
          <p:cNvSpPr/>
          <p:nvPr/>
        </p:nvSpPr>
        <p:spPr>
          <a:xfrm>
            <a:off x="1371600" y="3519000"/>
            <a:ext cx="18288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26" name="TextBox 7"/>
          <p:cNvSpPr/>
          <p:nvPr/>
        </p:nvSpPr>
        <p:spPr>
          <a:xfrm>
            <a:off x="593784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14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" name="" descr=""/>
          <p:cNvPicPr/>
          <p:nvPr/>
        </p:nvPicPr>
        <p:blipFill>
          <a:blip r:embed="rId1"/>
          <a:stretch/>
        </p:blipFill>
        <p:spPr>
          <a:xfrm>
            <a:off x="2340000" y="1222560"/>
            <a:ext cx="8052120" cy="2196000"/>
          </a:xfrm>
          <a:prstGeom prst="rect">
            <a:avLst/>
          </a:prstGeom>
          <a:ln w="0">
            <a:noFill/>
          </a:ln>
        </p:spPr>
      </p:pic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720000" y="-245160"/>
            <a:ext cx="1090188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  <a:ea typeface="Microsoft YaHei"/>
              </a:rPr>
              <a:t>Демонстрация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9" name="Рисунок 28" descr=""/>
          <p:cNvPicPr/>
          <p:nvPr/>
        </p:nvPicPr>
        <p:blipFill>
          <a:blip r:embed="rId2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30" name="Рисунок 29" descr=""/>
          <p:cNvPicPr/>
          <p:nvPr/>
        </p:nvPicPr>
        <p:blipFill>
          <a:blip r:embed="rId3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2"/>
          <p:cNvSpPr/>
          <p:nvPr/>
        </p:nvSpPr>
        <p:spPr>
          <a:xfrm>
            <a:off x="1371600" y="3519000"/>
            <a:ext cx="18288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32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15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3" name="" descr=""/>
          <p:cNvPicPr/>
          <p:nvPr/>
        </p:nvPicPr>
        <p:blipFill>
          <a:blip r:embed="rId1"/>
          <a:stretch/>
        </p:blipFill>
        <p:spPr>
          <a:xfrm>
            <a:off x="2502720" y="586800"/>
            <a:ext cx="7395840" cy="2651760"/>
          </a:xfrm>
          <a:prstGeom prst="rect">
            <a:avLst/>
          </a:prstGeom>
          <a:ln w="0">
            <a:noFill/>
          </a:ln>
        </p:spPr>
      </p:pic>
      <p:pic>
        <p:nvPicPr>
          <p:cNvPr id="134" name="" descr=""/>
          <p:cNvPicPr/>
          <p:nvPr/>
        </p:nvPicPr>
        <p:blipFill>
          <a:blip r:embed="rId2"/>
          <a:stretch/>
        </p:blipFill>
        <p:spPr>
          <a:xfrm>
            <a:off x="2520000" y="3470040"/>
            <a:ext cx="7356960" cy="2653200"/>
          </a:xfrm>
          <a:prstGeom prst="rect">
            <a:avLst/>
          </a:prstGeom>
          <a:ln w="0">
            <a:noFill/>
          </a:ln>
        </p:spPr>
      </p:pic>
      <p:pic>
        <p:nvPicPr>
          <p:cNvPr id="135" name="Рисунок 30" descr=""/>
          <p:cNvPicPr/>
          <p:nvPr/>
        </p:nvPicPr>
        <p:blipFill>
          <a:blip r:embed="rId3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36" name="Рисунок 31" descr=""/>
          <p:cNvPicPr/>
          <p:nvPr/>
        </p:nvPicPr>
        <p:blipFill>
          <a:blip r:embed="rId4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Box 3"/>
          <p:cNvSpPr/>
          <p:nvPr/>
        </p:nvSpPr>
        <p:spPr>
          <a:xfrm>
            <a:off x="594828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16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8" name="Рисунок 32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39" name="Рисунок 33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40" name="" descr=""/>
          <p:cNvPicPr/>
          <p:nvPr/>
        </p:nvPicPr>
        <p:blipFill>
          <a:blip r:embed="rId3"/>
          <a:stretch/>
        </p:blipFill>
        <p:spPr>
          <a:xfrm>
            <a:off x="1030320" y="1260000"/>
            <a:ext cx="10128960" cy="395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40000" y="-244440"/>
            <a:ext cx="1120896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</a:rPr>
              <a:t>Тестирование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2"/>
          <p:cNvSpPr/>
          <p:nvPr/>
        </p:nvSpPr>
        <p:spPr>
          <a:xfrm>
            <a:off x="1371600" y="3519000"/>
            <a:ext cx="18288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43" name="TextBox 7"/>
          <p:cNvSpPr/>
          <p:nvPr/>
        </p:nvSpPr>
        <p:spPr>
          <a:xfrm>
            <a:off x="594900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17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2"/>
          <p:cNvSpPr/>
          <p:nvPr/>
        </p:nvSpPr>
        <p:spPr>
          <a:xfrm>
            <a:off x="1697400" y="2512080"/>
            <a:ext cx="1219032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360" bIns="360" anchor="ctr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pic>
        <p:nvPicPr>
          <p:cNvPr id="145" name="Рисунок 20" descr=""/>
          <p:cNvPicPr/>
          <p:nvPr/>
        </p:nvPicPr>
        <p:blipFill>
          <a:blip r:embed="rId1"/>
          <a:stretch/>
        </p:blipFill>
        <p:spPr>
          <a:xfrm>
            <a:off x="1234080" y="1439640"/>
            <a:ext cx="366120" cy="349920"/>
          </a:xfrm>
          <a:prstGeom prst="rect">
            <a:avLst/>
          </a:prstGeom>
          <a:ln w="0">
            <a:noFill/>
          </a:ln>
        </p:spPr>
      </p:pic>
      <p:pic>
        <p:nvPicPr>
          <p:cNvPr id="146" name="Рисунок 21" descr=""/>
          <p:cNvPicPr/>
          <p:nvPr/>
        </p:nvPicPr>
        <p:blipFill>
          <a:blip r:embed="rId2"/>
          <a:stretch/>
        </p:blipFill>
        <p:spPr>
          <a:xfrm>
            <a:off x="1173240" y="2284200"/>
            <a:ext cx="366120" cy="349920"/>
          </a:xfrm>
          <a:prstGeom prst="rect">
            <a:avLst/>
          </a:prstGeom>
          <a:ln w="0">
            <a:noFill/>
          </a:ln>
        </p:spPr>
      </p:pic>
      <p:pic>
        <p:nvPicPr>
          <p:cNvPr id="147" name="Рисунок 22" descr=""/>
          <p:cNvPicPr/>
          <p:nvPr/>
        </p:nvPicPr>
        <p:blipFill>
          <a:blip r:embed="rId3"/>
          <a:stretch/>
        </p:blipFill>
        <p:spPr>
          <a:xfrm>
            <a:off x="1137960" y="4331160"/>
            <a:ext cx="366120" cy="349920"/>
          </a:xfrm>
          <a:prstGeom prst="rect">
            <a:avLst/>
          </a:prstGeom>
          <a:ln w="0">
            <a:noFill/>
          </a:ln>
        </p:spPr>
      </p:pic>
      <p:pic>
        <p:nvPicPr>
          <p:cNvPr id="148" name="Рисунок 23" descr=""/>
          <p:cNvPicPr/>
          <p:nvPr/>
        </p:nvPicPr>
        <p:blipFill>
          <a:blip r:embed="rId4"/>
          <a:stretch/>
        </p:blipFill>
        <p:spPr>
          <a:xfrm>
            <a:off x="1173240" y="5139360"/>
            <a:ext cx="366120" cy="349920"/>
          </a:xfrm>
          <a:prstGeom prst="rect">
            <a:avLst/>
          </a:prstGeom>
          <a:ln w="0">
            <a:noFill/>
          </a:ln>
        </p:spPr>
      </p:pic>
      <p:pic>
        <p:nvPicPr>
          <p:cNvPr id="149" name="Рисунок 25" descr=""/>
          <p:cNvPicPr/>
          <p:nvPr/>
        </p:nvPicPr>
        <p:blipFill>
          <a:blip r:embed="rId5"/>
          <a:stretch/>
        </p:blipFill>
        <p:spPr>
          <a:xfrm>
            <a:off x="1173240" y="3522960"/>
            <a:ext cx="366120" cy="349920"/>
          </a:xfrm>
          <a:prstGeom prst="rect">
            <a:avLst/>
          </a:prstGeom>
          <a:ln w="0">
            <a:noFill/>
          </a:ln>
        </p:spPr>
      </p:pic>
      <p:pic>
        <p:nvPicPr>
          <p:cNvPr id="150" name="Рисунок 26" descr=""/>
          <p:cNvPicPr/>
          <p:nvPr/>
        </p:nvPicPr>
        <p:blipFill>
          <a:blip r:embed="rId6"/>
          <a:stretch/>
        </p:blipFill>
        <p:spPr>
          <a:xfrm>
            <a:off x="1173240" y="2887560"/>
            <a:ext cx="366120" cy="349920"/>
          </a:xfrm>
          <a:prstGeom prst="rect">
            <a:avLst/>
          </a:prstGeom>
          <a:ln w="0">
            <a:noFill/>
          </a:ln>
        </p:spPr>
      </p:pic>
      <p:pic>
        <p:nvPicPr>
          <p:cNvPr id="151" name="Рисунок 27" descr=""/>
          <p:cNvPicPr/>
          <p:nvPr/>
        </p:nvPicPr>
        <p:blipFill>
          <a:blip r:embed="rId7"/>
          <a:stretch/>
        </p:blipFill>
        <p:spPr>
          <a:xfrm>
            <a:off x="1143360" y="5933880"/>
            <a:ext cx="366120" cy="34992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52" name="Таблица 8"/>
          <p:cNvGraphicFramePr/>
          <p:nvPr/>
        </p:nvGraphicFramePr>
        <p:xfrm>
          <a:off x="1760400" y="988560"/>
          <a:ext cx="9629280" cy="5703120"/>
        </p:xfrm>
        <a:graphic>
          <a:graphicData uri="http://schemas.openxmlformats.org/drawingml/2006/table">
            <a:tbl>
              <a:tblPr/>
              <a:tblGrid>
                <a:gridCol w="3562920"/>
                <a:gridCol w="6066720"/>
              </a:tblGrid>
              <a:tr h="2937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  <a:tabLst>
                          <a:tab algn="l" pos="0"/>
                        </a:tabLst>
                      </a:pPr>
                      <a:r>
                        <a:rPr b="1" lang="ru-RU" sz="18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Проверка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Ожидаемый результат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5b9bd5"/>
                    </a:solidFill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Загрузка программы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загружается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871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пустого поля ИНН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не позволяет отправить пустой ИНН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871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пустого поля КПП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не позволяет отправить пустой КПП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7876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Ввод ИНН несуществующей компании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Программа не позволяет отправить ИНН несуществующей компании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Попытка провести анализ при пустой выборке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Программа не позволяет провести анализ при пустой выборке поставщиков и выводит сообщение об ошибке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866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Анализ сформированной выборки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производит анализ выборки поставщиков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6480">
                      <a:solidFill>
                        <a:srgbClr val="5b9bd5"/>
                      </a:solidFill>
                      <a:prstDash val="solid"/>
                    </a:lnT>
                    <a:lnB w="6480">
                      <a:solidFill>
                        <a:srgbClr val="5b9bd5"/>
                      </a:solidFill>
                      <a:prstDash val="solid"/>
                    </a:lnB>
                    <a:noFill/>
                  </a:tcPr>
                </a:tc>
              </a:tr>
              <a:tr h="57240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1" lang="ru-RU" sz="1800" spc="-1" strike="noStrike">
                          <a:solidFill>
                            <a:schemeClr val="dk1"/>
                          </a:solidFill>
                          <a:latin typeface="Calibri"/>
                          <a:ea typeface="Microsoft YaHei"/>
                        </a:rPr>
                        <a:t>Выход из программы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6480">
                      <a:solidFill>
                        <a:srgbClr val="5b9bd5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b="0" lang="ru-RU" sz="18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Программа корректно завершает свою работу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noFill/>
                      <a:prstDash val="solid"/>
                    </a:lnL>
                    <a:lnR w="6480">
                      <a:solidFill>
                        <a:srgbClr val="5b9bd5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53" name="Рисунок 34" descr=""/>
          <p:cNvPicPr/>
          <p:nvPr/>
        </p:nvPicPr>
        <p:blipFill>
          <a:blip r:embed="rId8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54" name="Рисунок 35" descr=""/>
          <p:cNvPicPr/>
          <p:nvPr/>
        </p:nvPicPr>
        <p:blipFill>
          <a:blip r:embed="rId9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272480" y="313560"/>
            <a:ext cx="3645000" cy="62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4400" spc="-1" strike="noStrike">
                <a:solidFill>
                  <a:schemeClr val="dk1"/>
                </a:solidFill>
                <a:latin typeface="Calibri"/>
              </a:rPr>
              <a:t>Заключение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1371600" y="3519000"/>
            <a:ext cx="18288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sp>
        <p:nvSpPr>
          <p:cNvPr id="157" name="TextBox 6"/>
          <p:cNvSpPr/>
          <p:nvPr/>
        </p:nvSpPr>
        <p:spPr>
          <a:xfrm>
            <a:off x="720000" y="1273680"/>
            <a:ext cx="11159280" cy="436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Проведён анализ теоретических основ  и выявлена проблема: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 Изучена деятельность ООО «Авангард», в результате чего детально исследован и описан (с помощью модели IDEF0) неэффективный процесс оценки надёжности поставщиков, требующий автоматизации. Были сформулированы функциональные требования к будущему решению.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Выполнен анализ деятельности и организационной структуры ООО «Авангард»: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 Анализ выявил ключевую проблему ― отсутствие формализованной методики и программного инструмента для объективной оценки поставщиков, что приводит к высоким временным затратам и субъективности решений.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Разработана и информационная система: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DejaVu Sans"/>
              </a:rPr>
              <a:t> Спроектирована инфологическая модель, разработана архитектура, интерфейс и основные объекты системы. Готовое решение было отлажено и успешно протестировано, подтвердив свою стабильность.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ru-RU" sz="1600" spc="-1" strike="noStrike">
                <a:solidFill>
                  <a:srgbClr val="000000"/>
                </a:solidFill>
                <a:latin typeface="Calibri"/>
                <a:ea typeface="DejaVu Sans"/>
              </a:rPr>
              <a:t>Проведено тестирование и опытная эксплуатация разработанной информационной системы: </a:t>
            </a:r>
            <a:r>
              <a:rPr b="0" lang="ru-RU" sz="1600" spc="-1" strike="noStrike">
                <a:solidFill>
                  <a:srgbClr val="000000"/>
                </a:solidFill>
                <a:latin typeface="Calibri"/>
                <a:ea typeface="DejaVu Sans"/>
              </a:rPr>
              <a:t>Ошибок в работе системы не обнаружено, что подтверждает стабильность и корректность функционирования разработанного модуля.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eriod"/>
            </a:pPr>
            <a:r>
              <a:rPr b="1" lang="ru-RU" sz="1600" spc="-1" strike="noStrike">
                <a:solidFill>
                  <a:srgbClr val="000000"/>
                </a:solidFill>
                <a:latin typeface="Calibri"/>
                <a:ea typeface="DejaVu Sans"/>
              </a:rPr>
              <a:t>Оценена экономическая эффективность внедрения разработанного проектного решения:</a:t>
            </a:r>
            <a:r>
              <a:rPr b="0" lang="ru-RU" sz="1600" spc="-1" strike="noStrike">
                <a:solidFill>
                  <a:srgbClr val="000000"/>
                </a:solidFill>
                <a:latin typeface="Calibri"/>
                <a:ea typeface="DejaVu Sans"/>
              </a:rPr>
              <a:t> Расчетный срок окупаемости проекта составил 4 месяца, что подтверждает экономическую целесообразность и практическую значимость разработанной системы.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3"/>
          <p:cNvSpPr/>
          <p:nvPr/>
        </p:nvSpPr>
        <p:spPr>
          <a:xfrm>
            <a:off x="5948280" y="6308280"/>
            <a:ext cx="586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3200" spc="-1" strike="noStrike">
                <a:solidFill>
                  <a:schemeClr val="dk1"/>
                </a:solidFill>
                <a:latin typeface="Times New Roman"/>
                <a:ea typeface="DejaVu Sans"/>
              </a:rPr>
              <a:t>18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1868400" y="5918040"/>
            <a:ext cx="87465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2000" spc="-1" strike="noStrike">
                <a:solidFill>
                  <a:schemeClr val="dk1"/>
                </a:solidFill>
                <a:latin typeface="Calibri"/>
                <a:ea typeface="DejaVu Sans"/>
              </a:rPr>
              <a:t>Таким образом все задачи решены, цель работы достигнута.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" name="Рисунок 36" descr=""/>
          <p:cNvPicPr/>
          <p:nvPr/>
        </p:nvPicPr>
        <p:blipFill>
          <a:blip r:embed="rId1"/>
          <a:stretch/>
        </p:blipFill>
        <p:spPr>
          <a:xfrm>
            <a:off x="11070720" y="-81612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2700000" dist="37674" rotWithShape="0">
              <a:srgbClr val="000000">
                <a:alpha val="40000"/>
              </a:srgbClr>
            </a:outerShdw>
          </a:effectLst>
        </p:spPr>
      </p:pic>
      <p:pic>
        <p:nvPicPr>
          <p:cNvPr id="161" name="Рисунок 37" descr=""/>
          <p:cNvPicPr/>
          <p:nvPr/>
        </p:nvPicPr>
        <p:blipFill>
          <a:blip r:embed="rId2"/>
          <a:stretch/>
        </p:blipFill>
        <p:spPr>
          <a:xfrm>
            <a:off x="-994680" y="5583240"/>
            <a:ext cx="2241000" cy="2241000"/>
          </a:xfrm>
          <a:prstGeom prst="rect">
            <a:avLst/>
          </a:prstGeom>
          <a:ln w="0">
            <a:noFill/>
          </a:ln>
          <a:effectLst>
            <a:outerShdw blurRad="50760" dir="8100000" dist="37674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0" y="2455560"/>
            <a:ext cx="12239280" cy="114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5400" spc="-1" strike="noStrike">
                <a:solidFill>
                  <a:schemeClr val="dk1"/>
                </a:solidFill>
                <a:latin typeface="Calibri"/>
              </a:rPr>
              <a:t>Спасибо за внимание!</a:t>
            </a:r>
            <a:endParaRPr b="0" lang="ru-RU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2"/>
          <p:cNvSpPr/>
          <p:nvPr/>
        </p:nvSpPr>
        <p:spPr>
          <a:xfrm>
            <a:off x="1371600" y="3519000"/>
            <a:ext cx="18288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Calibri"/>
              <a:ea typeface="DejaVu Sans"/>
            </a:endParaRPr>
          </a:p>
        </p:txBody>
      </p:sp>
      <p:pic>
        <p:nvPicPr>
          <p:cNvPr id="164" name="Рисунок 8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124080" y="353880"/>
            <a:ext cx="5941800" cy="1795680"/>
          </a:xfrm>
          <a:prstGeom prst="rect">
            <a:avLst/>
          </a:prstGeom>
          <a:ln w="0">
            <a:noFill/>
          </a:ln>
        </p:spPr>
      </p:pic>
      <p:sp>
        <p:nvSpPr>
          <p:cNvPr id="165" name="PlaceHolder 4"/>
          <p:cNvSpPr/>
          <p:nvPr/>
        </p:nvSpPr>
        <p:spPr>
          <a:xfrm>
            <a:off x="987840" y="3318480"/>
            <a:ext cx="10393200" cy="185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 defTabSz="914400">
              <a:lnSpc>
                <a:spcPct val="90000"/>
              </a:lnSpc>
              <a:tabLst>
                <a:tab algn="l" pos="0"/>
              </a:tabLst>
            </a:pPr>
            <a:r>
              <a:rPr b="1" lang="ru-RU" sz="26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Выпускная квалификационная работа </a:t>
            </a:r>
            <a:br>
              <a:rPr sz="2600"/>
            </a:br>
            <a:r>
              <a:rPr b="1" lang="ru-RU" sz="2600" spc="-1" strike="noStrike">
                <a:solidFill>
                  <a:srgbClr val="000000"/>
                </a:solidFill>
                <a:latin typeface="Calibri Light"/>
                <a:ea typeface="Microsoft YaHei"/>
              </a:rPr>
              <a:t>на тему:</a:t>
            </a:r>
            <a:br>
              <a:rPr sz="2600"/>
            </a:br>
            <a:r>
              <a:rPr b="1" lang="ru-RU" sz="2600" spc="-1" strike="noStrike">
                <a:solidFill>
                  <a:schemeClr val="dk1"/>
                </a:solidFill>
                <a:latin typeface="Calibri Light"/>
                <a:ea typeface="Microsoft YaHei"/>
              </a:rPr>
              <a:t> Информационная система комплексной оценки надежности поставщиков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5"/>
          <p:cNvSpPr/>
          <p:nvPr/>
        </p:nvSpPr>
        <p:spPr>
          <a:xfrm>
            <a:off x="6185160" y="5346000"/>
            <a:ext cx="6005160" cy="185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Выполнил студент группы БВТ2204: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Альвицов Д.С.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Научный руководитель: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  <a:ea typeface="Times New Roman"/>
              </a:rPr>
              <a:t>к.э.н., доцент кафедры КИС Андреев И.А.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4762</TotalTime>
  <Application>LibreOffice/24.2.4.2$Windows_X86_64 LibreOffice_project/51a6219feb6075d9a4c46691dcfe0cd9c4fff3c2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2024-02-22T16:22:47Z</dcterms:created>
  <dc:creator>Артём Багдасарян</dc:creator>
  <dc:description/>
  <dc:language>ru-RU</dc:language>
  <cp:lastModifiedBy/>
  <dcterms:modified xsi:type="dcterms:W3CDTF">2026-03-17T13:17:29Z</dcterms:modified>
  <cp:revision>46</cp:revision>
  <dc:subject/>
  <dc:title>ВЫПОЛНЕНИЕ ЛАБОРАТОРНОЙ РАБОТЫ ПО КУРСУ «МУЛЬТИМЕДИЙНЫЕ ИНФОРМАЦИОННЫЕ СИСТЕМЫ» С ИСПОЛЬЗОВАНИЕМ ПРОГРАММНОГО КОМПЛЕКСА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1</vt:r8>
  </property>
  <property fmtid="{D5CDD505-2E9C-101B-9397-08002B2CF9AE}" pid="4" name="PresentationFormat">
    <vt:lpwstr>Широкоэкранный</vt:lpwstr>
  </property>
  <property fmtid="{D5CDD505-2E9C-101B-9397-08002B2CF9AE}" pid="5" name="Slides">
    <vt:r8>21</vt:r8>
  </property>
</Properties>
</file>