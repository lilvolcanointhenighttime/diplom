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svg" ContentType="image/sv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CE6AA35-32BB-44CC-9C88-87DFCCF55A7C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280858-9C0A-4B59-B8AE-60C7A94CBEA7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FDBFA2-B04B-4F11-82B3-0A357B4801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5502CDA-8F0A-4B52-A099-DAD92BE7769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A62DD92-E740-4BAA-81AD-CB1BB0E085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B2752F1-F9C4-4391-B8A9-5CDB655B6D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B1213AC-EBA5-4505-824A-0F8091CC28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757D46-4B96-4245-BC4E-376BFB8C7959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16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0CB147-4B05-416C-B969-653D9E3CACCA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9DB34A-3EA6-4D61-B93A-F3B7008888D5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vert="eaVert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963E88-4B3E-427B-BECC-867691B600F1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479143-7FD2-4E0D-8629-BC01A6BCCE12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0.png"/><Relationship Id="rId5" Type="http://schemas.openxmlformats.org/officeDocument/2006/relationships/image" Target="../media/image20.png"/><Relationship Id="rId6" Type="http://schemas.openxmlformats.org/officeDocument/2006/relationships/image" Target="../media/image20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image" Target="../media/image20.png"/><Relationship Id="rId10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987840" y="2975400"/>
            <a:ext cx="10394280" cy="185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2600" spc="-1" strike="noStrike">
                <a:solidFill>
                  <a:schemeClr val="dk1"/>
                </a:solidFill>
                <a:latin typeface="Calibri Light"/>
              </a:rPr>
              <a:t>Выпускная квалификационная работа </a:t>
            </a:r>
            <a:br>
              <a:rPr sz="2600"/>
            </a:br>
            <a:r>
              <a:rPr b="0" lang="ru-RU" sz="2600" spc="-1" strike="noStrike">
                <a:solidFill>
                  <a:schemeClr val="dk1"/>
                </a:solidFill>
                <a:latin typeface="Calibri Light"/>
              </a:rPr>
              <a:t>на тему:</a:t>
            </a:r>
            <a:br>
              <a:rPr sz="2600"/>
            </a:br>
            <a:r>
              <a:rPr b="1" lang="ru-RU" sz="2600" spc="-1" strike="noStrike">
                <a:solidFill>
                  <a:schemeClr val="dk1"/>
                </a:solidFill>
                <a:latin typeface="Calibri Light"/>
              </a:rPr>
              <a:t> Информационная система комплексной оценки надежности поставщиков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185160" y="5002920"/>
            <a:ext cx="6006240" cy="185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Выполнил студент группы БВТ2204: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Альвицов Д.С.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Научный руководитель: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к.э.н., доцент кафедры КИС Андреев И.А.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" name="Рисунок 4" descr=""/>
          <p:cNvPicPr/>
          <p:nvPr/>
        </p:nvPicPr>
        <p:blipFill>
          <a:blip r:embed="rId1"/>
          <a:stretch/>
        </p:blipFill>
        <p:spPr>
          <a:xfrm>
            <a:off x="11070720" y="-32292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44" name="Рисунок 5" descr=""/>
          <p:cNvPicPr/>
          <p:nvPr/>
        </p:nvPicPr>
        <p:blipFill>
          <a:blip r:embed="rId2"/>
          <a:stretch/>
        </p:blipFill>
        <p:spPr>
          <a:xfrm>
            <a:off x="-885240" y="73260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10800000" dist="38160" rotWithShape="0">
              <a:srgbClr val="000000">
                <a:alpha val="40000"/>
              </a:srgbClr>
            </a:outerShdw>
          </a:effectLst>
        </p:spPr>
      </p:pic>
      <p:sp>
        <p:nvSpPr>
          <p:cNvPr id="45" name="Заголовок 1"/>
          <p:cNvSpPr/>
          <p:nvPr/>
        </p:nvSpPr>
        <p:spPr>
          <a:xfrm>
            <a:off x="1772640" y="148320"/>
            <a:ext cx="8823960" cy="270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 fontScale="68333"/>
          </a:bodyPr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МИНИСТЕРСТВО ЦИФРОВОГО РАЗВИТИЯ, СВЯЗИ И МАССОВЫХ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КОММУНИКАЦИЙ РОССИЙСКОЙ ФЕДЕРАЦИИ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Ордена Трудового Красного Знамени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 </a:t>
            </a: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федеральное государственное бюджетное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образовательное учреждение высшего образования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«Московский технический университет связи и информатики»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(МТУСИ)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Кафедра «Корпоративные информационные системы»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Подзаголовок 2"/>
          <p:cNvSpPr/>
          <p:nvPr/>
        </p:nvSpPr>
        <p:spPr>
          <a:xfrm>
            <a:off x="5326920" y="6444720"/>
            <a:ext cx="167508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90000"/>
              </a:lnSpc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Москва, 2026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295080" y="255960"/>
            <a:ext cx="6079320" cy="53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/>
                </a:solidFill>
                <a:latin typeface="Calibri Light"/>
              </a:rPr>
              <a:t>Актуальность выбранной темы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35040" y="820800"/>
            <a:ext cx="10920960" cy="127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19444"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8000" spc="-1" strike="noStrike">
                <a:solidFill>
                  <a:schemeClr val="dk1"/>
                </a:solidFill>
                <a:latin typeface="Calibri"/>
              </a:rPr>
              <a:t>	</a:t>
            </a:r>
            <a:r>
              <a:rPr b="0" lang="ru-RU" sz="8000" spc="-1" strike="noStrike">
                <a:solidFill>
                  <a:schemeClr val="dk1"/>
                </a:solidFill>
                <a:latin typeface="Calibri"/>
              </a:rPr>
              <a:t>Мультимедийные информационные системы – это комплекс программных и аппаратных средств, предназначенный для сбора, обработки, хранения, передачи и воспроизведения разнообразной информации в мультимедийном формате. На кафедре сетевые информационные технологии и сервисы (СИТиС) в аудиториях Л207 иЛ211 проводятся занятия по курсу «Мультимедийные информационные системы». </a:t>
            </a:r>
            <a:endParaRPr b="0" lang="ru-RU" sz="8000" spc="-1" strike="noStrike">
              <a:solidFill>
                <a:srgbClr val="000000"/>
              </a:solidFill>
              <a:latin typeface="Arial"/>
            </a:endParaRPr>
          </a:p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Box 5"/>
          <p:cNvSpPr/>
          <p:nvPr/>
        </p:nvSpPr>
        <p:spPr>
          <a:xfrm>
            <a:off x="5947920" y="6308280"/>
            <a:ext cx="383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2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Заголовок 1"/>
          <p:cNvSpPr/>
          <p:nvPr/>
        </p:nvSpPr>
        <p:spPr>
          <a:xfrm>
            <a:off x="4656960" y="2533320"/>
            <a:ext cx="28774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 Light"/>
                <a:ea typeface="DejaVu Sans"/>
              </a:rPr>
              <a:t>Цель работы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Объект 2"/>
          <p:cNvSpPr/>
          <p:nvPr/>
        </p:nvSpPr>
        <p:spPr>
          <a:xfrm>
            <a:off x="1513800" y="2600280"/>
            <a:ext cx="9766080" cy="17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</a:pPr>
            <a:endParaRPr b="0" lang="ru-RU" sz="2400" spc="-1" strike="noStrike">
              <a:solidFill>
                <a:srgbClr val="61298c"/>
              </a:solidFill>
              <a:latin typeface="Calibri"/>
              <a:ea typeface="DejaVu Sans"/>
            </a:endParaRPr>
          </a:p>
        </p:txBody>
      </p:sp>
      <p:sp>
        <p:nvSpPr>
          <p:cNvPr id="52" name="Заголовок 1"/>
          <p:cNvSpPr/>
          <p:nvPr/>
        </p:nvSpPr>
        <p:spPr>
          <a:xfrm>
            <a:off x="5308560" y="3819240"/>
            <a:ext cx="157428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 Light"/>
                <a:ea typeface="DejaVu Sans"/>
              </a:rPr>
              <a:t>Задачи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Объект 2"/>
          <p:cNvSpPr/>
          <p:nvPr/>
        </p:nvSpPr>
        <p:spPr>
          <a:xfrm>
            <a:off x="635040" y="4508640"/>
            <a:ext cx="11094120" cy="23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изучить методы и модели анализа данных для оценки благонадежности поставщика товаров;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описать характеристика деятельности и организационную структуру управления ООО «Авангард»;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провести анализ бизнес процесса закупки товаров и выбора поставщика и сформировать предложения по автоматизации;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провести сравнительный анализ рынка аналогичного ПО;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разработать информационную системы для рассматриваемого бизнес процесса;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оценить экономическую эффективность проекта.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Box 8"/>
          <p:cNvSpPr/>
          <p:nvPr/>
        </p:nvSpPr>
        <p:spPr>
          <a:xfrm>
            <a:off x="635040" y="3117600"/>
            <a:ext cx="1132020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разработка информационной системы оценки благонадежности поставщика товаров 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для повышения качества и эффективности труда сотрудников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организации ООО «Авангард»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056120" y="136440"/>
            <a:ext cx="4078800" cy="53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/>
                </a:solidFill>
                <a:latin typeface="Calibri Light"/>
              </a:rPr>
              <a:t>Постановка задачи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0" y="668520"/>
            <a:ext cx="12191400" cy="106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just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	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Задачей на данную работу является разработка приложения для лабораторных работ по курсу «Мультимедийные информационные системы» на тему «Распределение мультимедийной информации между участниками аудио-видео конференций»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.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 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Box 5"/>
          <p:cNvSpPr/>
          <p:nvPr/>
        </p:nvSpPr>
        <p:spPr>
          <a:xfrm>
            <a:off x="5947920" y="6308280"/>
            <a:ext cx="383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3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Заголовок 1"/>
          <p:cNvSpPr/>
          <p:nvPr/>
        </p:nvSpPr>
        <p:spPr>
          <a:xfrm>
            <a:off x="4843800" y="1729440"/>
            <a:ext cx="2739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 Light"/>
                <a:ea typeface="DejaVu Sans"/>
              </a:rPr>
              <a:t>Требования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Объект 2"/>
          <p:cNvSpPr/>
          <p:nvPr/>
        </p:nvSpPr>
        <p:spPr>
          <a:xfrm>
            <a:off x="424080" y="2395080"/>
            <a:ext cx="6241680" cy="38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Приложение для студентов должно выполнять следующие функции: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Решение задачи поиска компонент сильной связности с использованием алгоритма Косарайю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Решение задачи кластеризации с использованием алгоритма </a:t>
            </a:r>
            <a:r>
              <a:rPr b="0" lang="en" sz="2000" spc="-1" strike="noStrike">
                <a:solidFill>
                  <a:schemeClr val="dk1"/>
                </a:solidFill>
                <a:latin typeface="Calibri"/>
                <a:ea typeface="DejaVu Sans"/>
              </a:rPr>
              <a:t>K-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средних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Генерация случайных входных данных для обоих алгоритмов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Проверку корректности формата и логики ввода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Отправку результата преподавателю с фиксацией в БД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Объект 2"/>
          <p:cNvSpPr/>
          <p:nvPr/>
        </p:nvSpPr>
        <p:spPr>
          <a:xfrm>
            <a:off x="6849360" y="2399400"/>
            <a:ext cx="4917960" cy="38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Приложение для преподавателей должно выполнять следующие функции: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Просмотр результатов выполнения лабораторных работ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Отображение успеваемости всех студентов в виде журнала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Синхронизацию данных с базой без перезапуска приложения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28600"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28600"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080000" y="307080"/>
            <a:ext cx="9719640" cy="71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 Light"/>
              </a:rPr>
              <a:t>Описание и анализ бизнес процесса закупки товаров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Рисунок 1" descr=""/>
          <p:cNvPicPr/>
          <p:nvPr/>
        </p:nvPicPr>
        <p:blipFill>
          <a:blip r:embed="rId1"/>
          <a:stretch/>
        </p:blipFill>
        <p:spPr>
          <a:xfrm>
            <a:off x="11070720" y="-84312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63" name="Рисунок 2" descr=""/>
          <p:cNvPicPr/>
          <p:nvPr/>
        </p:nvPicPr>
        <p:blipFill>
          <a:blip r:embed="rId2"/>
          <a:stretch/>
        </p:blipFill>
        <p:spPr>
          <a:xfrm>
            <a:off x="-994680" y="55562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64" name="TextBox 1"/>
          <p:cNvSpPr/>
          <p:nvPr/>
        </p:nvSpPr>
        <p:spPr>
          <a:xfrm>
            <a:off x="5947920" y="6308280"/>
            <a:ext cx="383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4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" name="" descr=""/>
          <p:cNvPicPr/>
          <p:nvPr/>
        </p:nvPicPr>
        <p:blipFill>
          <a:blip r:embed="rId3"/>
          <a:stretch/>
        </p:blipFill>
        <p:spPr>
          <a:xfrm>
            <a:off x="720000" y="1620000"/>
            <a:ext cx="5314320" cy="3713400"/>
          </a:xfrm>
          <a:prstGeom prst="rect">
            <a:avLst/>
          </a:prstGeom>
          <a:ln w="0">
            <a:noFill/>
          </a:ln>
        </p:spPr>
      </p:pic>
      <p:pic>
        <p:nvPicPr>
          <p:cNvPr id="66" name="" descr=""/>
          <p:cNvPicPr/>
          <p:nvPr/>
        </p:nvPicPr>
        <p:blipFill>
          <a:blip r:embed="rId4"/>
          <a:stretch/>
        </p:blipFill>
        <p:spPr>
          <a:xfrm>
            <a:off x="6278040" y="1620000"/>
            <a:ext cx="5241960" cy="3670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40000" y="180360"/>
            <a:ext cx="1151964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 Light"/>
              </a:rPr>
              <a:t>Декомпозиция блока А2 </a:t>
            </a:r>
            <a:br>
              <a:rPr sz="3600"/>
            </a:b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 Light"/>
              </a:rPr>
              <a:t>«Выбор поставщика»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" name="Рисунок 3" descr=""/>
          <p:cNvPicPr/>
          <p:nvPr/>
        </p:nvPicPr>
        <p:blipFill>
          <a:blip r:embed="rId1"/>
          <a:stretch/>
        </p:blipFill>
        <p:spPr>
          <a:xfrm>
            <a:off x="10710360" y="194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69" name="Рисунок 4" descr=""/>
          <p:cNvPicPr/>
          <p:nvPr/>
        </p:nvPicPr>
        <p:blipFill>
          <a:blip r:embed="rId2"/>
          <a:stretch/>
        </p:blipFill>
        <p:spPr>
          <a:xfrm>
            <a:off x="-1605600" y="288000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10800000" dist="38160" rotWithShape="0">
              <a:srgbClr val="000000">
                <a:alpha val="40000"/>
              </a:srgbClr>
            </a:outerShdw>
          </a:effectLst>
        </p:spPr>
      </p:pic>
      <p:sp>
        <p:nvSpPr>
          <p:cNvPr id="70" name="TextBox 2"/>
          <p:cNvSpPr/>
          <p:nvPr/>
        </p:nvSpPr>
        <p:spPr>
          <a:xfrm>
            <a:off x="5947920" y="6308280"/>
            <a:ext cx="383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5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" name="" descr=""/>
          <p:cNvPicPr/>
          <p:nvPr/>
        </p:nvPicPr>
        <p:blipFill>
          <a:blip r:embed="rId3"/>
          <a:stretch/>
        </p:blipFill>
        <p:spPr>
          <a:xfrm>
            <a:off x="3242880" y="1786680"/>
            <a:ext cx="6477120" cy="4513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342360" y="369360"/>
            <a:ext cx="11504880" cy="7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 Light"/>
              </a:rPr>
              <a:t>Сравнительный анализ готовых решений 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Rectangle 2"/>
          <p:cNvSpPr/>
          <p:nvPr/>
        </p:nvSpPr>
        <p:spPr>
          <a:xfrm>
            <a:off x="0" y="0"/>
            <a:ext cx="121914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360" bIns="360" anchor="ctr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5947920" y="6308280"/>
            <a:ext cx="383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6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5" name="Объект 1"/>
          <p:cNvGraphicFramePr/>
          <p:nvPr/>
        </p:nvGraphicFramePr>
        <p:xfrm>
          <a:off x="2769480" y="1467360"/>
          <a:ext cx="8910720" cy="5517720"/>
        </p:xfrm>
        <a:graphic>
          <a:graphicData uri="http://schemas.openxmlformats.org/drawingml/2006/table">
            <a:tbl>
              <a:tblPr/>
              <a:tblGrid>
                <a:gridCol w="1837440"/>
                <a:gridCol w="1835640"/>
                <a:gridCol w="1833840"/>
                <a:gridCol w="1579680"/>
                <a:gridCol w="1824480"/>
              </a:tblGrid>
              <a:tr h="78228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Название системы \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Критерии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PLUSSELL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SAP Ariba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iTender SRM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Разработка собственной информационной системы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</a:tr>
              <a:tr h="19584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1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2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3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4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5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Стоимость поставки ПО, руб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62 100.00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128 800.00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17 260.00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Не требуется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8680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Масштабность внедрения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Крупные 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Решение поставленных задач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Среднее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Низкое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Возможность оценки поставщиков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58680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Эффективность и наполнение доступных отчётов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8680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Многопользовательский режим и права доступа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78228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Возможность добавления программных модулей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Да, как администратор, так и пользователь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Только администратор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Нет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Только администратор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76" name="Рисунок 14" descr=""/>
          <p:cNvPicPr/>
          <p:nvPr/>
        </p:nvPicPr>
        <p:blipFill>
          <a:blip r:embed="rId1"/>
          <a:stretch/>
        </p:blipFill>
        <p:spPr>
          <a:xfrm>
            <a:off x="-1643400" y="288036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10800000" dist="38160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218240" y="270000"/>
            <a:ext cx="975492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 Light"/>
              </a:rPr>
              <a:t>Архитектура приложения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" name="Рисунок 3" descr=""/>
          <p:cNvPicPr/>
          <p:nvPr/>
        </p:nvPicPr>
        <p:blipFill>
          <a:blip r:embed="rId1"/>
          <a:stretch/>
        </p:blipFill>
        <p:spPr>
          <a:xfrm>
            <a:off x="10877760" y="11192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0" dist="38160" rotWithShape="0">
              <a:srgbClr val="000000">
                <a:alpha val="40000"/>
              </a:srgbClr>
            </a:outerShdw>
          </a:effectLst>
        </p:spPr>
      </p:pic>
      <p:pic>
        <p:nvPicPr>
          <p:cNvPr id="79" name="Рисунок 4" descr=""/>
          <p:cNvPicPr/>
          <p:nvPr/>
        </p:nvPicPr>
        <p:blipFill>
          <a:blip r:embed="rId2"/>
          <a:stretch/>
        </p:blipFill>
        <p:spPr>
          <a:xfrm>
            <a:off x="-871200" y="52214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80" name="TextBox 2"/>
          <p:cNvSpPr/>
          <p:nvPr/>
        </p:nvSpPr>
        <p:spPr>
          <a:xfrm>
            <a:off x="1371600" y="351900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6050160" y="6308280"/>
            <a:ext cx="383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7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" name="" descr=""/>
          <p:cNvPicPr/>
          <p:nvPr/>
        </p:nvPicPr>
        <p:blipFill>
          <a:blip r:embed="rId3"/>
          <a:stretch/>
        </p:blipFill>
        <p:spPr>
          <a:xfrm>
            <a:off x="2340000" y="1611720"/>
            <a:ext cx="7559640" cy="4147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2674080" y="0"/>
            <a:ext cx="7765560" cy="71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entury Gothic"/>
              </a:rPr>
              <a:t>Инфологическая модель БД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" name="Рисунок 3" descr=""/>
          <p:cNvPicPr/>
          <p:nvPr/>
        </p:nvPicPr>
        <p:blipFill>
          <a:blip r:embed="rId1"/>
          <a:stretch/>
        </p:blipFill>
        <p:spPr>
          <a:xfrm>
            <a:off x="11070720" y="-58536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85" name="TextBox 5"/>
          <p:cNvSpPr/>
          <p:nvPr/>
        </p:nvSpPr>
        <p:spPr>
          <a:xfrm>
            <a:off x="5947920" y="6308280"/>
            <a:ext cx="383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8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Рисунок 4" descr=""/>
          <p:cNvPicPr/>
          <p:nvPr/>
        </p:nvPicPr>
        <p:blipFill>
          <a:blip r:embed="rId2"/>
          <a:stretch/>
        </p:blipFill>
        <p:spPr>
          <a:xfrm>
            <a:off x="-994680" y="55562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87" name="" descr=""/>
          <p:cNvPicPr/>
          <p:nvPr/>
        </p:nvPicPr>
        <p:blipFill>
          <a:blip r:embed="rId3"/>
          <a:stretch/>
        </p:blipFill>
        <p:spPr>
          <a:xfrm>
            <a:off x="3060000" y="837360"/>
            <a:ext cx="6263640" cy="5642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620000" y="0"/>
            <a:ext cx="8819640" cy="70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71666"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entury Gothic"/>
              </a:rPr>
              <a:t>Структура метаданных информационной системы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Рисунок 3" descr=""/>
          <p:cNvPicPr/>
          <p:nvPr/>
        </p:nvPicPr>
        <p:blipFill>
          <a:blip r:embed="rId1"/>
          <a:stretch/>
        </p:blipFill>
        <p:spPr>
          <a:xfrm>
            <a:off x="10845720" y="-127836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90" name="Рисунок 4" descr=""/>
          <p:cNvPicPr/>
          <p:nvPr/>
        </p:nvPicPr>
        <p:blipFill>
          <a:blip r:embed="rId2"/>
          <a:stretch/>
        </p:blipFill>
        <p:spPr>
          <a:xfrm>
            <a:off x="-966240" y="559080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91" name="TextBox 5"/>
          <p:cNvSpPr/>
          <p:nvPr/>
        </p:nvSpPr>
        <p:spPr>
          <a:xfrm>
            <a:off x="5925960" y="6273360"/>
            <a:ext cx="383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9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" descr=""/>
          <p:cNvPicPr/>
          <p:nvPr/>
        </p:nvPicPr>
        <p:blipFill>
          <a:blip r:embed="rId3"/>
          <a:stretch/>
        </p:blipFill>
        <p:spPr>
          <a:xfrm>
            <a:off x="1986480" y="1162800"/>
            <a:ext cx="8633160" cy="423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2323080" y="102960"/>
            <a:ext cx="7936560" cy="82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entury Gothic"/>
              </a:rPr>
              <a:t>Справочники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Рисунок 4" descr=""/>
          <p:cNvPicPr/>
          <p:nvPr/>
        </p:nvPicPr>
        <p:blipFill>
          <a:blip r:embed="rId1"/>
          <a:stretch/>
        </p:blipFill>
        <p:spPr>
          <a:xfrm>
            <a:off x="-966240" y="559080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95" name="TextBox 2"/>
          <p:cNvSpPr/>
          <p:nvPr/>
        </p:nvSpPr>
        <p:spPr>
          <a:xfrm>
            <a:off x="1371600" y="351900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96" name="TextBox 5"/>
          <p:cNvSpPr/>
          <p:nvPr/>
        </p:nvSpPr>
        <p:spPr>
          <a:xfrm>
            <a:off x="5866560" y="627336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10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" name="Рисунок 3" descr=""/>
          <p:cNvPicPr/>
          <p:nvPr/>
        </p:nvPicPr>
        <p:blipFill>
          <a:blip r:embed="rId2"/>
          <a:stretch/>
        </p:blipFill>
        <p:spPr>
          <a:xfrm>
            <a:off x="10699200" y="-112140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98" name="" descr=""/>
          <p:cNvPicPr/>
          <p:nvPr/>
        </p:nvPicPr>
        <p:blipFill>
          <a:blip r:embed="rId3"/>
          <a:stretch/>
        </p:blipFill>
        <p:spPr>
          <a:xfrm>
            <a:off x="540000" y="1341360"/>
            <a:ext cx="11020680" cy="1718280"/>
          </a:xfrm>
          <a:prstGeom prst="rect">
            <a:avLst/>
          </a:prstGeom>
          <a:ln w="0">
            <a:noFill/>
          </a:ln>
        </p:spPr>
      </p:pic>
      <p:pic>
        <p:nvPicPr>
          <p:cNvPr id="99" name="" descr=""/>
          <p:cNvPicPr/>
          <p:nvPr/>
        </p:nvPicPr>
        <p:blipFill>
          <a:blip r:embed="rId4"/>
          <a:stretch/>
        </p:blipFill>
        <p:spPr>
          <a:xfrm>
            <a:off x="180000" y="3673440"/>
            <a:ext cx="12062520" cy="1366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1495080" y="145800"/>
            <a:ext cx="9200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Документы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Рисунок 3" descr=""/>
          <p:cNvPicPr/>
          <p:nvPr/>
        </p:nvPicPr>
        <p:blipFill>
          <a:blip r:embed="rId1"/>
          <a:stretch/>
        </p:blipFill>
        <p:spPr>
          <a:xfrm>
            <a:off x="10862640" y="-77148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02" name="TextBox 2"/>
          <p:cNvSpPr/>
          <p:nvPr/>
        </p:nvSpPr>
        <p:spPr>
          <a:xfrm>
            <a:off x="5960160" y="6342840"/>
            <a:ext cx="5637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11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" name="Рисунок 4" descr=""/>
          <p:cNvPicPr/>
          <p:nvPr/>
        </p:nvPicPr>
        <p:blipFill>
          <a:blip r:embed="rId2"/>
          <a:stretch/>
        </p:blipFill>
        <p:spPr>
          <a:xfrm>
            <a:off x="-819000" y="52214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04" name="" descr=""/>
          <p:cNvPicPr/>
          <p:nvPr/>
        </p:nvPicPr>
        <p:blipFill>
          <a:blip r:embed="rId3"/>
          <a:stretch/>
        </p:blipFill>
        <p:spPr>
          <a:xfrm>
            <a:off x="0" y="1216440"/>
            <a:ext cx="3974760" cy="4004640"/>
          </a:xfrm>
          <a:prstGeom prst="rect">
            <a:avLst/>
          </a:prstGeom>
          <a:ln w="0">
            <a:noFill/>
          </a:ln>
        </p:spPr>
      </p:pic>
      <p:pic>
        <p:nvPicPr>
          <p:cNvPr id="105" name="" descr=""/>
          <p:cNvPicPr/>
          <p:nvPr/>
        </p:nvPicPr>
        <p:blipFill>
          <a:blip r:embed="rId4"/>
          <a:stretch/>
        </p:blipFill>
        <p:spPr>
          <a:xfrm>
            <a:off x="4500000" y="1800000"/>
            <a:ext cx="7406280" cy="3213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43320" y="10080"/>
            <a:ext cx="1090296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 </a:t>
            </a:r>
            <a:r>
              <a:rPr b="1" lang="ru-RU" sz="44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Регистры накопления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" name="Рисунок 3" descr=""/>
          <p:cNvPicPr/>
          <p:nvPr/>
        </p:nvPicPr>
        <p:blipFill>
          <a:blip r:embed="rId1"/>
          <a:stretch/>
        </p:blipFill>
        <p:spPr>
          <a:xfrm>
            <a:off x="10877760" y="11192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0" dist="38160" rotWithShape="0">
              <a:srgbClr val="000000">
                <a:alpha val="40000"/>
              </a:srgbClr>
            </a:outerShdw>
          </a:effectLst>
        </p:spPr>
      </p:pic>
      <p:pic>
        <p:nvPicPr>
          <p:cNvPr id="108" name="Рисунок 4" descr=""/>
          <p:cNvPicPr/>
          <p:nvPr/>
        </p:nvPicPr>
        <p:blipFill>
          <a:blip r:embed="rId2"/>
          <a:stretch/>
        </p:blipFill>
        <p:spPr>
          <a:xfrm>
            <a:off x="-871200" y="52214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09" name="TextBox 2"/>
          <p:cNvSpPr/>
          <p:nvPr/>
        </p:nvSpPr>
        <p:spPr>
          <a:xfrm>
            <a:off x="1371600" y="351900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12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" name="" descr=""/>
          <p:cNvPicPr/>
          <p:nvPr/>
        </p:nvPicPr>
        <p:blipFill>
          <a:blip r:embed="rId3"/>
          <a:stretch/>
        </p:blipFill>
        <p:spPr>
          <a:xfrm>
            <a:off x="358920" y="1800000"/>
            <a:ext cx="2520720" cy="2879640"/>
          </a:xfrm>
          <a:prstGeom prst="rect">
            <a:avLst/>
          </a:prstGeom>
          <a:ln w="0">
            <a:noFill/>
          </a:ln>
        </p:spPr>
      </p:pic>
      <p:pic>
        <p:nvPicPr>
          <p:cNvPr id="112" name="" descr=""/>
          <p:cNvPicPr/>
          <p:nvPr/>
        </p:nvPicPr>
        <p:blipFill>
          <a:blip r:embed="rId4"/>
          <a:stretch/>
        </p:blipFill>
        <p:spPr>
          <a:xfrm>
            <a:off x="2880000" y="1800000"/>
            <a:ext cx="7600680" cy="1238760"/>
          </a:xfrm>
          <a:prstGeom prst="rect">
            <a:avLst/>
          </a:prstGeom>
          <a:ln w="0">
            <a:noFill/>
          </a:ln>
        </p:spPr>
      </p:pic>
      <p:pic>
        <p:nvPicPr>
          <p:cNvPr id="113" name="" descr=""/>
          <p:cNvPicPr/>
          <p:nvPr/>
        </p:nvPicPr>
        <p:blipFill>
          <a:blip r:embed="rId5"/>
          <a:stretch/>
        </p:blipFill>
        <p:spPr>
          <a:xfrm>
            <a:off x="2880000" y="3240000"/>
            <a:ext cx="7451280" cy="2262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47560" y="10080"/>
            <a:ext cx="1121004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Архитектура Python-сервиса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" name="Рисунок 3" descr=""/>
          <p:cNvPicPr/>
          <p:nvPr/>
        </p:nvPicPr>
        <p:blipFill>
          <a:blip r:embed="rId1"/>
          <a:stretch/>
        </p:blipFill>
        <p:spPr>
          <a:xfrm>
            <a:off x="10843200" y="530172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16" name="Рисунок 4" descr=""/>
          <p:cNvPicPr/>
          <p:nvPr/>
        </p:nvPicPr>
        <p:blipFill>
          <a:blip r:embed="rId2"/>
          <a:stretch/>
        </p:blipFill>
        <p:spPr>
          <a:xfrm>
            <a:off x="-686520" y="104652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10800000" dist="38160" rotWithShape="0">
              <a:srgbClr val="000000">
                <a:alpha val="40000"/>
              </a:srgbClr>
            </a:outerShdw>
          </a:effectLst>
        </p:spPr>
      </p:pic>
      <p:sp>
        <p:nvSpPr>
          <p:cNvPr id="117" name="TextBox 2"/>
          <p:cNvSpPr/>
          <p:nvPr/>
        </p:nvSpPr>
        <p:spPr>
          <a:xfrm>
            <a:off x="1371600" y="351900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18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13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" descr=""/>
          <p:cNvPicPr/>
          <p:nvPr/>
        </p:nvPicPr>
        <p:blipFill>
          <a:blip r:embed="rId3"/>
          <a:stretch/>
        </p:blipFill>
        <p:spPr>
          <a:xfrm>
            <a:off x="4140000" y="1620000"/>
            <a:ext cx="4139640" cy="4652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Рисунок 3" descr=""/>
          <p:cNvPicPr/>
          <p:nvPr/>
        </p:nvPicPr>
        <p:blipFill>
          <a:blip r:embed="rId1"/>
          <a:stretch/>
        </p:blipFill>
        <p:spPr>
          <a:xfrm>
            <a:off x="10877760" y="503568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21" name="Рисунок 4" descr=""/>
          <p:cNvPicPr/>
          <p:nvPr/>
        </p:nvPicPr>
        <p:blipFill>
          <a:blip r:embed="rId2"/>
          <a:stretch/>
        </p:blipFill>
        <p:spPr>
          <a:xfrm>
            <a:off x="-871200" y="52214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22" name="TextBox 2"/>
          <p:cNvSpPr/>
          <p:nvPr/>
        </p:nvSpPr>
        <p:spPr>
          <a:xfrm>
            <a:off x="1371600" y="351900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23" name="TextBox 7"/>
          <p:cNvSpPr/>
          <p:nvPr/>
        </p:nvSpPr>
        <p:spPr>
          <a:xfrm>
            <a:off x="593784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14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" name="" descr=""/>
          <p:cNvPicPr/>
          <p:nvPr/>
        </p:nvPicPr>
        <p:blipFill>
          <a:blip r:embed="rId3"/>
          <a:stretch/>
        </p:blipFill>
        <p:spPr>
          <a:xfrm>
            <a:off x="2340000" y="1222560"/>
            <a:ext cx="8053200" cy="2197080"/>
          </a:xfrm>
          <a:prstGeom prst="rect">
            <a:avLst/>
          </a:prstGeom>
          <a:ln w="0">
            <a:noFill/>
          </a:ln>
        </p:spPr>
      </p:pic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720000" y="-245160"/>
            <a:ext cx="1090296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Демонстрация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Рисунок 3" descr=""/>
          <p:cNvPicPr/>
          <p:nvPr/>
        </p:nvPicPr>
        <p:blipFill>
          <a:blip r:embed="rId1"/>
          <a:stretch/>
        </p:blipFill>
        <p:spPr>
          <a:xfrm>
            <a:off x="10877760" y="11192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0" dist="38160" rotWithShape="0">
              <a:srgbClr val="000000">
                <a:alpha val="40000"/>
              </a:srgbClr>
            </a:outerShdw>
          </a:effectLst>
        </p:spPr>
      </p:pic>
      <p:pic>
        <p:nvPicPr>
          <p:cNvPr id="127" name="Рисунок 4" descr=""/>
          <p:cNvPicPr/>
          <p:nvPr/>
        </p:nvPicPr>
        <p:blipFill>
          <a:blip r:embed="rId2"/>
          <a:stretch/>
        </p:blipFill>
        <p:spPr>
          <a:xfrm>
            <a:off x="-871200" y="52214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28" name="TextBox 2"/>
          <p:cNvSpPr/>
          <p:nvPr/>
        </p:nvSpPr>
        <p:spPr>
          <a:xfrm>
            <a:off x="1371600" y="351900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29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15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" name="" descr=""/>
          <p:cNvPicPr/>
          <p:nvPr/>
        </p:nvPicPr>
        <p:blipFill>
          <a:blip r:embed="rId3"/>
          <a:stretch/>
        </p:blipFill>
        <p:spPr>
          <a:xfrm>
            <a:off x="2502720" y="586800"/>
            <a:ext cx="7396920" cy="2652840"/>
          </a:xfrm>
          <a:prstGeom prst="rect">
            <a:avLst/>
          </a:prstGeom>
          <a:ln w="0">
            <a:noFill/>
          </a:ln>
        </p:spPr>
      </p:pic>
      <p:pic>
        <p:nvPicPr>
          <p:cNvPr id="131" name="" descr=""/>
          <p:cNvPicPr/>
          <p:nvPr/>
        </p:nvPicPr>
        <p:blipFill>
          <a:blip r:embed="rId4"/>
          <a:stretch/>
        </p:blipFill>
        <p:spPr>
          <a:xfrm>
            <a:off x="2520000" y="3470040"/>
            <a:ext cx="7358040" cy="2654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3"/>
          <p:cNvSpPr/>
          <p:nvPr/>
        </p:nvSpPr>
        <p:spPr>
          <a:xfrm>
            <a:off x="5948280" y="6308280"/>
            <a:ext cx="5875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16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" name="" descr=""/>
          <p:cNvPicPr/>
          <p:nvPr/>
        </p:nvPicPr>
        <p:blipFill>
          <a:blip r:embed="rId1"/>
          <a:stretch/>
        </p:blipFill>
        <p:spPr>
          <a:xfrm>
            <a:off x="486000" y="875520"/>
            <a:ext cx="11573640" cy="4524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47560" y="10080"/>
            <a:ext cx="1121004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 Light"/>
              </a:rPr>
              <a:t>Тестирование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" name="Рисунок 3" descr=""/>
          <p:cNvPicPr/>
          <p:nvPr/>
        </p:nvPicPr>
        <p:blipFill>
          <a:blip r:embed="rId1"/>
          <a:stretch/>
        </p:blipFill>
        <p:spPr>
          <a:xfrm>
            <a:off x="11225160" y="586944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36" name="Рисунок 4" descr=""/>
          <p:cNvPicPr/>
          <p:nvPr/>
        </p:nvPicPr>
        <p:blipFill>
          <a:blip r:embed="rId2"/>
          <a:stretch/>
        </p:blipFill>
        <p:spPr>
          <a:xfrm>
            <a:off x="-669240" y="-843120"/>
            <a:ext cx="2242080" cy="2242080"/>
          </a:xfrm>
          <a:prstGeom prst="rect">
            <a:avLst/>
          </a:prstGeom>
          <a:ln w="0">
            <a:noFill/>
          </a:ln>
          <a:effectLst>
            <a:outerShdw blurRad="50760" dir="135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37" name="TextBox 2"/>
          <p:cNvSpPr/>
          <p:nvPr/>
        </p:nvSpPr>
        <p:spPr>
          <a:xfrm>
            <a:off x="1371600" y="351900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38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17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2"/>
          <p:cNvSpPr/>
          <p:nvPr/>
        </p:nvSpPr>
        <p:spPr>
          <a:xfrm>
            <a:off x="1697400" y="2512080"/>
            <a:ext cx="1219140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360" bIns="360" anchor="ctr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pic>
        <p:nvPicPr>
          <p:cNvPr id="140" name="Рисунок 20" descr=""/>
          <p:cNvPicPr/>
          <p:nvPr/>
        </p:nvPicPr>
        <p:blipFill>
          <a:blip r:embed="rId3"/>
          <a:stretch/>
        </p:blipFill>
        <p:spPr>
          <a:xfrm>
            <a:off x="1234080" y="1439640"/>
            <a:ext cx="367200" cy="351000"/>
          </a:xfrm>
          <a:prstGeom prst="rect">
            <a:avLst/>
          </a:prstGeom>
          <a:ln w="0">
            <a:noFill/>
          </a:ln>
        </p:spPr>
      </p:pic>
      <p:pic>
        <p:nvPicPr>
          <p:cNvPr id="141" name="Рисунок 21" descr=""/>
          <p:cNvPicPr/>
          <p:nvPr/>
        </p:nvPicPr>
        <p:blipFill>
          <a:blip r:embed="rId4"/>
          <a:stretch/>
        </p:blipFill>
        <p:spPr>
          <a:xfrm>
            <a:off x="1173240" y="2284200"/>
            <a:ext cx="367200" cy="351000"/>
          </a:xfrm>
          <a:prstGeom prst="rect">
            <a:avLst/>
          </a:prstGeom>
          <a:ln w="0">
            <a:noFill/>
          </a:ln>
        </p:spPr>
      </p:pic>
      <p:pic>
        <p:nvPicPr>
          <p:cNvPr id="142" name="Рисунок 22" descr=""/>
          <p:cNvPicPr/>
          <p:nvPr/>
        </p:nvPicPr>
        <p:blipFill>
          <a:blip r:embed="rId5"/>
          <a:stretch/>
        </p:blipFill>
        <p:spPr>
          <a:xfrm>
            <a:off x="1137960" y="4331160"/>
            <a:ext cx="367200" cy="351000"/>
          </a:xfrm>
          <a:prstGeom prst="rect">
            <a:avLst/>
          </a:prstGeom>
          <a:ln w="0">
            <a:noFill/>
          </a:ln>
        </p:spPr>
      </p:pic>
      <p:pic>
        <p:nvPicPr>
          <p:cNvPr id="143" name="Рисунок 23" descr=""/>
          <p:cNvPicPr/>
          <p:nvPr/>
        </p:nvPicPr>
        <p:blipFill>
          <a:blip r:embed="rId6"/>
          <a:stretch/>
        </p:blipFill>
        <p:spPr>
          <a:xfrm>
            <a:off x="1173240" y="5139360"/>
            <a:ext cx="367200" cy="351000"/>
          </a:xfrm>
          <a:prstGeom prst="rect">
            <a:avLst/>
          </a:prstGeom>
          <a:ln w="0">
            <a:noFill/>
          </a:ln>
        </p:spPr>
      </p:pic>
      <p:pic>
        <p:nvPicPr>
          <p:cNvPr id="144" name="Рисунок 25" descr=""/>
          <p:cNvPicPr/>
          <p:nvPr/>
        </p:nvPicPr>
        <p:blipFill>
          <a:blip r:embed="rId7"/>
          <a:stretch/>
        </p:blipFill>
        <p:spPr>
          <a:xfrm>
            <a:off x="1173240" y="3522960"/>
            <a:ext cx="367200" cy="351000"/>
          </a:xfrm>
          <a:prstGeom prst="rect">
            <a:avLst/>
          </a:prstGeom>
          <a:ln w="0">
            <a:noFill/>
          </a:ln>
        </p:spPr>
      </p:pic>
      <p:pic>
        <p:nvPicPr>
          <p:cNvPr id="145" name="Рисунок 26" descr=""/>
          <p:cNvPicPr/>
          <p:nvPr/>
        </p:nvPicPr>
        <p:blipFill>
          <a:blip r:embed="rId8"/>
          <a:stretch/>
        </p:blipFill>
        <p:spPr>
          <a:xfrm>
            <a:off x="1173240" y="2887560"/>
            <a:ext cx="367200" cy="351000"/>
          </a:xfrm>
          <a:prstGeom prst="rect">
            <a:avLst/>
          </a:prstGeom>
          <a:ln w="0">
            <a:noFill/>
          </a:ln>
        </p:spPr>
      </p:pic>
      <p:pic>
        <p:nvPicPr>
          <p:cNvPr id="146" name="Рисунок 27" descr=""/>
          <p:cNvPicPr/>
          <p:nvPr/>
        </p:nvPicPr>
        <p:blipFill>
          <a:blip r:embed="rId9"/>
          <a:stretch/>
        </p:blipFill>
        <p:spPr>
          <a:xfrm>
            <a:off x="1143360" y="5933880"/>
            <a:ext cx="367200" cy="35100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47" name="Таблица 8"/>
          <p:cNvGraphicFramePr/>
          <p:nvPr/>
        </p:nvGraphicFramePr>
        <p:xfrm>
          <a:off x="1760400" y="988560"/>
          <a:ext cx="9629280" cy="5703120"/>
        </p:xfrm>
        <a:graphic>
          <a:graphicData uri="http://schemas.openxmlformats.org/drawingml/2006/table">
            <a:tbl>
              <a:tblPr/>
              <a:tblGrid>
                <a:gridCol w="3562920"/>
                <a:gridCol w="6066720"/>
              </a:tblGrid>
              <a:tr h="2937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  <a:tabLst>
                          <a:tab algn="l" pos="0"/>
                        </a:tabLst>
                      </a:pPr>
                      <a:r>
                        <a:rPr b="1" lang="ru-RU" sz="18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Проверка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Ожидаемый результат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5b9bd5"/>
                    </a:solidFill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Загрузка программы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загружается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87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пустого поля ИНН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не позволяет отправить пустой ИНН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87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пустого поля КПП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не позволяет отправить пустой КПП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7876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ИНН несуществующей компании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Программа не позволяет отправить ИНН несуществующей компании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Попытка провести анализ при пустой выборке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Программа не позволяет провести анализ при пустой выборке поставщиков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Анализ сформированной выборки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производит анализ выборки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7240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Выход из программы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завершает свою работу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4272480" y="313560"/>
            <a:ext cx="3646080" cy="62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 Light"/>
              </a:rPr>
              <a:t>Заключение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2"/>
          <p:cNvSpPr/>
          <p:nvPr/>
        </p:nvSpPr>
        <p:spPr>
          <a:xfrm>
            <a:off x="1371600" y="351900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50" name="TextBox 6"/>
          <p:cNvSpPr/>
          <p:nvPr/>
        </p:nvSpPr>
        <p:spPr>
          <a:xfrm>
            <a:off x="965520" y="1073880"/>
            <a:ext cx="10260000" cy="369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Проведён анализ и выявлена проблема: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 Изучена деятельность ООО «Авангард», в результате чего детально исследован и описан (с помощью модели IDEF0) неэффективный процесс оценки надёжности поставщиков, требующий автоматизации. Были сформулированы функциональные требования к будущему решению.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Обоснован и выбран метод решения: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 На основе анализа рынка ПО было принято решение о целесообразности собственной разработки на платформе «1С:Предприятие 8.3».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Разработана и информационная система: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 Спроектирована инфологическая модель, разработана архитектура, интерфейс и основные объекты системы. Готовое решение было отлажено и успешно протестировано, подтвердив свою стабильность.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3"/>
          <p:cNvSpPr/>
          <p:nvPr/>
        </p:nvSpPr>
        <p:spPr>
          <a:xfrm>
            <a:off x="5948280" y="6308280"/>
            <a:ext cx="5875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18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5"/>
          <p:cNvSpPr/>
          <p:nvPr/>
        </p:nvSpPr>
        <p:spPr>
          <a:xfrm>
            <a:off x="1868400" y="5918040"/>
            <a:ext cx="87476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Таким образом все задачи решены, цель работы достигнута.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2469240" y="2856240"/>
            <a:ext cx="725292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5400" spc="-1" strike="noStrike">
                <a:solidFill>
                  <a:schemeClr val="dk1"/>
                </a:solidFill>
                <a:latin typeface="Calibri Light"/>
              </a:rPr>
              <a:t>Спасибо за внимание!</a:t>
            </a:r>
            <a:endParaRPr b="0" lang="ru-RU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2"/>
          <p:cNvSpPr/>
          <p:nvPr/>
        </p:nvSpPr>
        <p:spPr>
          <a:xfrm>
            <a:off x="1371600" y="351900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pic>
        <p:nvPicPr>
          <p:cNvPr id="155" name="Рисунок 8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124080" y="353880"/>
            <a:ext cx="5942880" cy="1796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4718</TotalTime>
  <Application>LibreOffice/24.2.4.2$Windows_X86_64 LibreOffice_project/51a6219feb6075d9a4c46691dcfe0cd9c4fff3c2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2024-02-22T16:22:47Z</dcterms:created>
  <dc:creator>Артём Багдасарян</dc:creator>
  <dc:description/>
  <dc:language>ru-RU</dc:language>
  <cp:lastModifiedBy/>
  <dcterms:modified xsi:type="dcterms:W3CDTF">2026-03-01T12:03:27Z</dcterms:modified>
  <cp:revision>35</cp:revision>
  <dc:subject/>
  <dc:title>ВЫПОЛНЕНИЕ ЛАБОРАТОРНОЙ РАБОТЫ ПО КУРСУ «МУЛЬТИМЕДИЙНЫЕ ИНФОРМАЦИОННЫЕ СИСТЕМЫ» С ИСПОЛЬЗОВАНИЕМ ПРОГРАММНОГО КОМПЛЕКСА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1</vt:r8>
  </property>
  <property fmtid="{D5CDD505-2E9C-101B-9397-08002B2CF9AE}" pid="4" name="PresentationFormat">
    <vt:lpwstr>Широкоэкранный</vt:lpwstr>
  </property>
  <property fmtid="{D5CDD505-2E9C-101B-9397-08002B2CF9AE}" pid="5" name="Slides">
    <vt:r8>21</vt:r8>
  </property>
</Properties>
</file>