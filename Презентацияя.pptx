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svg" ContentType="image/sv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A717784-699C-4C6F-810D-710D2C1B76FF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56F396-E791-4F1F-9C37-1146CF335C93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85E6A6-902D-40CC-AE9D-E54C41350C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35A45F2-FC1C-48C1-949B-BDDAA08727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11BA4E-7A83-411D-BD6F-63E5F035B0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2918B67-877C-400B-B2E9-34BB98CB81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124FCC-2C4A-4542-AF67-BE9C6D068AE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45F53B-61DB-49A7-8435-9BECF6D4BC0B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19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A7E2E6-EB3D-4C81-AF62-9807B13B4329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F75614-E627-430C-B4EA-7E6BA45A85C1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257D53-5FAF-4E06-8B60-05271E363F93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A3FEDE-3C08-4C35-B037-12874FC66C35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0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0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.png"/><Relationship Id="rId9" Type="http://schemas.openxmlformats.org/officeDocument/2006/relationships/image" Target="../media/image1.png"/><Relationship Id="rId10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87840" y="2975400"/>
            <a:ext cx="10393920" cy="185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Выпускная квалификационная работа </a:t>
            </a:r>
            <a:br>
              <a:rPr sz="2600"/>
            </a:br>
            <a:r>
              <a:rPr b="1" lang="ru-RU" sz="2600" spc="-1" strike="noStrike">
                <a:solidFill>
                  <a:srgbClr val="000000"/>
                </a:solidFill>
                <a:latin typeface="Calibri Light"/>
                <a:ea typeface="Microsoft YaHei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185160" y="5002920"/>
            <a:ext cx="6005880" cy="185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" name="Рисунок 4" descr=""/>
          <p:cNvPicPr/>
          <p:nvPr/>
        </p:nvPicPr>
        <p:blipFill>
          <a:blip r:embed="rId1"/>
          <a:stretch/>
        </p:blipFill>
        <p:spPr>
          <a:xfrm>
            <a:off x="11070720" y="-3229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44" name="Рисунок 5" descr=""/>
          <p:cNvPicPr/>
          <p:nvPr/>
        </p:nvPicPr>
        <p:blipFill>
          <a:blip r:embed="rId2"/>
          <a:stretch/>
        </p:blipFill>
        <p:spPr>
          <a:xfrm>
            <a:off x="-885240" y="73260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  <p:sp>
        <p:nvSpPr>
          <p:cNvPr id="45" name="Заголовок 1"/>
          <p:cNvSpPr/>
          <p:nvPr/>
        </p:nvSpPr>
        <p:spPr>
          <a:xfrm>
            <a:off x="1772640" y="148320"/>
            <a:ext cx="8823600" cy="270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 fontScale="68333"/>
          </a:bodyPr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МИНИСТЕРСТВО ЦИФРОВОГО РАЗВИТИЯ, СВЯЗИ И МАССОВЫХ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КОММУНИКАЦИЙ РОССИЙСКОЙ ФЕДЕРАЦИИ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Ордена Трудового Красного Знамени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 </a:t>
            </a: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федеральное государственное бюджетное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образовательное учреждение высшего образования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«Московский технический университет связи и информатики»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(МТУСИ)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Кафедра «Корпоративные информационные системы»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Подзаголовок 2"/>
          <p:cNvSpPr/>
          <p:nvPr/>
        </p:nvSpPr>
        <p:spPr>
          <a:xfrm>
            <a:off x="5326920" y="6444720"/>
            <a:ext cx="167472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Москва, 2026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295080" y="255960"/>
            <a:ext cx="6078960" cy="53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</a:rPr>
              <a:t>Актуальность выбранной темы</a:t>
            </a:r>
            <a:endParaRPr b="0" lang="ru-RU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35040" y="820800"/>
            <a:ext cx="11244960" cy="16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19444"/>
          </a:bodyPr>
          <a:p>
            <a:pPr indent="0">
              <a:buNone/>
            </a:pPr>
            <a:r>
              <a:rPr b="0" lang="ru-RU" sz="8000" spc="-1" strike="noStrike">
                <a:solidFill>
                  <a:schemeClr val="dk1"/>
                </a:solidFill>
                <a:latin typeface="Calibri"/>
                <a:ea typeface="Times New Roman"/>
              </a:rPr>
              <a:t>Актуальность темы исследования обусловлена критической важностью выбора надежных поставщиков для обеспечения бесперебойной деятельности торговых предприятий в условиях современной рыночной нестабильности. Основная проблема заключается в противоречии между необходимостью быстрого принятия решений о закупках и трудоемкостью традиционных методов сбора и верификации информации о контрагентах, которая часто разрозненна и труднодоступна. . В связи с этим разработка программного модуля на основе интеллектуального анализа данных, позволяющего оперативно и объективно оценивать благонадежность поставщиков, является своевременным и практически значимым решением.</a:t>
            </a:r>
            <a:endParaRPr b="0" lang="ru-RU" sz="8000" spc="-1" strike="noStrike">
              <a:solidFill>
                <a:srgbClr val="000000"/>
              </a:solidFill>
              <a:latin typeface="Arial"/>
              <a:ea typeface="Times New Roman"/>
            </a:endParaRPr>
          </a:p>
        </p:txBody>
      </p:sp>
      <p:sp>
        <p:nvSpPr>
          <p:cNvPr id="49" name="TextBox 5"/>
          <p:cNvSpPr/>
          <p:nvPr/>
        </p:nvSpPr>
        <p:spPr>
          <a:xfrm>
            <a:off x="594792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Заголовок 1"/>
          <p:cNvSpPr/>
          <p:nvPr/>
        </p:nvSpPr>
        <p:spPr>
          <a:xfrm>
            <a:off x="4656960" y="2533320"/>
            <a:ext cx="287712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Цель работы</a:t>
            </a:r>
            <a:endParaRPr b="0" lang="ru-RU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Объект 2"/>
          <p:cNvSpPr/>
          <p:nvPr/>
        </p:nvSpPr>
        <p:spPr>
          <a:xfrm>
            <a:off x="1513800" y="2600280"/>
            <a:ext cx="9765720" cy="17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</a:pPr>
            <a:endParaRPr b="0" lang="ru-RU" sz="2400" spc="-1" strike="noStrike">
              <a:solidFill>
                <a:srgbClr val="61298c"/>
              </a:solidFill>
              <a:latin typeface="Calibri"/>
              <a:ea typeface="DejaVu Sans"/>
            </a:endParaRPr>
          </a:p>
        </p:txBody>
      </p:sp>
      <p:sp>
        <p:nvSpPr>
          <p:cNvPr id="52" name="Заголовок 1"/>
          <p:cNvSpPr/>
          <p:nvPr/>
        </p:nvSpPr>
        <p:spPr>
          <a:xfrm>
            <a:off x="5308560" y="3819240"/>
            <a:ext cx="157392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Задачи</a:t>
            </a:r>
            <a:endParaRPr b="0" lang="ru-RU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Объект 2"/>
          <p:cNvSpPr/>
          <p:nvPr/>
        </p:nvSpPr>
        <p:spPr>
          <a:xfrm>
            <a:off x="635040" y="4508640"/>
            <a:ext cx="11093760" cy="23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изучить методы и модели анализа данных для оценки благонадежности поставщика товаров;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описать характеристика деятельности и организационную структуру управления ООО «Авангард»;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анализ бизнес процесса закупки товаров и выбора поставщика и сформировать предложения по автоматизации;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сравнительный анализ рынка аналогичного ПО;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разработать информационную системы для рассматриваемого бизнес процесса;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оценить экономическую эффективность проекта.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8"/>
          <p:cNvSpPr/>
          <p:nvPr/>
        </p:nvSpPr>
        <p:spPr>
          <a:xfrm>
            <a:off x="635040" y="3117600"/>
            <a:ext cx="11319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организации ООО «Авангард»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Рисунок 9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56" name="Рисунок 10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056120" y="136440"/>
            <a:ext cx="4078440" cy="53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</a:rPr>
              <a:t>Постановка задачи</a:t>
            </a:r>
            <a:endParaRPr b="0" lang="ru-RU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0" y="668520"/>
            <a:ext cx="12191040" cy="105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	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Задачей на данную работу является разработка приложения для лабораторных работ по курсу «Мультимедийные информационные системы» на тему «Распределение мультимедийной информации между участниками аудио-видео конференций»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5"/>
          <p:cNvSpPr/>
          <p:nvPr/>
        </p:nvSpPr>
        <p:spPr>
          <a:xfrm>
            <a:off x="594792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Заголовок 1"/>
          <p:cNvSpPr/>
          <p:nvPr/>
        </p:nvSpPr>
        <p:spPr>
          <a:xfrm>
            <a:off x="4843800" y="1729440"/>
            <a:ext cx="2739600" cy="5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Требования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Объект 2"/>
          <p:cNvSpPr/>
          <p:nvPr/>
        </p:nvSpPr>
        <p:spPr>
          <a:xfrm>
            <a:off x="424080" y="2395080"/>
            <a:ext cx="6241320" cy="38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студентов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поиска компонент сильной связности с использованием алгоритма Косарайю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кластеризации с использованием алгоритма </a:t>
            </a:r>
            <a:r>
              <a:rPr b="0" lang="en" sz="2000" spc="-1" strike="noStrike">
                <a:solidFill>
                  <a:schemeClr val="dk1"/>
                </a:solidFill>
                <a:latin typeface="Calibri"/>
                <a:ea typeface="DejaVu Sans"/>
              </a:rPr>
              <a:t>K-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средних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Генерация случайных входных данных для обоих алгоритмов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Проверку корректности формата и логики ввода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Отправку результата преподавателю с фиксацией в БД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Объект 2"/>
          <p:cNvSpPr/>
          <p:nvPr/>
        </p:nvSpPr>
        <p:spPr>
          <a:xfrm>
            <a:off x="6849360" y="2399400"/>
            <a:ext cx="4917600" cy="382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преподавателей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Просмотр результатов выполнения лабораторных работ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Отображение успеваемости всех студентов в виде журнала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Синхронизацию данных с базой без перезапуска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Рисунок 6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4" name="Рисунок 7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080000" y="307080"/>
            <a:ext cx="9719280" cy="71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Описание и анализ бизнес процесса закупки товаров</a:t>
            </a:r>
            <a:endParaRPr b="0" lang="ru-RU" sz="32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66" name="Рисунок 1" descr=""/>
          <p:cNvPicPr/>
          <p:nvPr/>
        </p:nvPicPr>
        <p:blipFill>
          <a:blip r:embed="rId1"/>
          <a:stretch/>
        </p:blipFill>
        <p:spPr>
          <a:xfrm>
            <a:off x="11070720" y="-843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7" name="Рисунок 2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68" name="TextBox 1"/>
          <p:cNvSpPr/>
          <p:nvPr/>
        </p:nvSpPr>
        <p:spPr>
          <a:xfrm>
            <a:off x="594792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" descr=""/>
          <p:cNvPicPr/>
          <p:nvPr/>
        </p:nvPicPr>
        <p:blipFill>
          <a:blip r:embed="rId3"/>
          <a:stretch/>
        </p:blipFill>
        <p:spPr>
          <a:xfrm>
            <a:off x="720000" y="1620000"/>
            <a:ext cx="5313960" cy="3713040"/>
          </a:xfrm>
          <a:prstGeom prst="rect">
            <a:avLst/>
          </a:prstGeom>
          <a:ln w="0">
            <a:noFill/>
          </a:ln>
        </p:spPr>
      </p:pic>
      <p:pic>
        <p:nvPicPr>
          <p:cNvPr id="70" name="" descr=""/>
          <p:cNvPicPr/>
          <p:nvPr/>
        </p:nvPicPr>
        <p:blipFill>
          <a:blip r:embed="rId4"/>
          <a:stretch/>
        </p:blipFill>
        <p:spPr>
          <a:xfrm>
            <a:off x="6278040" y="1620000"/>
            <a:ext cx="5241600" cy="3669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40000" y="180360"/>
            <a:ext cx="1151928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Декомпозиция блока А2 </a:t>
            </a:r>
            <a:br>
              <a:rPr sz="3600"/>
            </a:b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«Выбор поставщика»</a:t>
            </a:r>
            <a:endParaRPr b="0" lang="ru-RU" sz="3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94792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" name="" descr=""/>
          <p:cNvPicPr/>
          <p:nvPr/>
        </p:nvPicPr>
        <p:blipFill>
          <a:blip r:embed="rId1"/>
          <a:stretch/>
        </p:blipFill>
        <p:spPr>
          <a:xfrm>
            <a:off x="3242880" y="1786680"/>
            <a:ext cx="6476760" cy="4512960"/>
          </a:xfrm>
          <a:prstGeom prst="rect">
            <a:avLst/>
          </a:prstGeom>
          <a:ln w="0">
            <a:noFill/>
          </a:ln>
        </p:spPr>
      </p:pic>
      <p:pic>
        <p:nvPicPr>
          <p:cNvPr id="74" name="Рисунок 11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75" name="Рисунок 12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42360" y="369360"/>
            <a:ext cx="1150452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Сравнительный анализ готовых решений 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0" y="0"/>
            <a:ext cx="12191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594792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9" name="Объект 1"/>
          <p:cNvGraphicFramePr/>
          <p:nvPr/>
        </p:nvGraphicFramePr>
        <p:xfrm>
          <a:off x="2769480" y="1467360"/>
          <a:ext cx="8910720" cy="5517720"/>
        </p:xfrm>
        <a:graphic>
          <a:graphicData uri="http://schemas.openxmlformats.org/drawingml/2006/table">
            <a:tbl>
              <a:tblPr/>
              <a:tblGrid>
                <a:gridCol w="1837440"/>
                <a:gridCol w="1835640"/>
                <a:gridCol w="1833840"/>
                <a:gridCol w="1579680"/>
                <a:gridCol w="1824480"/>
              </a:tblGrid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Название системы \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Критерии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PLUSSELL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SAP Ariba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iTender SRM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Разработка собственной информационной системы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19584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1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2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3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4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5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Стоимость поставки ПО, руб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62 100.00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128 800.00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17 260.00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 требуется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Масштабность внедрения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Крупные 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Решение поставленных задач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Среднее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Низкое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оценки поставщиков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Эффективность и наполнение доступных отчётов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Многопользовательский режим и права доступа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добавления программных модулей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Да, как администратор, так и пользователь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Нет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80" name="Рисунок 13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1" name="Рисунок 14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218240" y="270000"/>
            <a:ext cx="975456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Архитектура приложения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605016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" descr=""/>
          <p:cNvPicPr/>
          <p:nvPr/>
        </p:nvPicPr>
        <p:blipFill>
          <a:blip r:embed="rId1"/>
          <a:stretch/>
        </p:blipFill>
        <p:spPr>
          <a:xfrm>
            <a:off x="2340000" y="1611720"/>
            <a:ext cx="7559280" cy="4147560"/>
          </a:xfrm>
          <a:prstGeom prst="rect">
            <a:avLst/>
          </a:prstGeom>
          <a:ln w="0">
            <a:noFill/>
          </a:ln>
        </p:spPr>
      </p:pic>
      <p:pic>
        <p:nvPicPr>
          <p:cNvPr id="86" name="Рисунок 15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7" name="Рисунок 16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2674080" y="0"/>
            <a:ext cx="7765200" cy="71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89" name="Рисунок 3" descr=""/>
          <p:cNvPicPr/>
          <p:nvPr/>
        </p:nvPicPr>
        <p:blipFill>
          <a:blip r:embed="rId1"/>
          <a:stretch/>
        </p:blipFill>
        <p:spPr>
          <a:xfrm>
            <a:off x="11070720" y="-58536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0" name="TextBox 5"/>
          <p:cNvSpPr/>
          <p:nvPr/>
        </p:nvSpPr>
        <p:spPr>
          <a:xfrm>
            <a:off x="5947920" y="630828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Рисунок 4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2" name="" descr=""/>
          <p:cNvPicPr/>
          <p:nvPr/>
        </p:nvPicPr>
        <p:blipFill>
          <a:blip r:embed="rId3"/>
          <a:stretch/>
        </p:blipFill>
        <p:spPr>
          <a:xfrm>
            <a:off x="3060000" y="837360"/>
            <a:ext cx="6263280" cy="5641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620000" y="0"/>
            <a:ext cx="8819280" cy="70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3888"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Структура метаданных информационной системы</a:t>
            </a:r>
            <a:endParaRPr b="1" lang="ru-RU" sz="36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94" name="Рисунок 3" descr=""/>
          <p:cNvPicPr/>
          <p:nvPr/>
        </p:nvPicPr>
        <p:blipFill>
          <a:blip r:embed="rId1"/>
          <a:stretch/>
        </p:blipFill>
        <p:spPr>
          <a:xfrm>
            <a:off x="10845720" y="-127836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5" name="Рисунок 4" descr=""/>
          <p:cNvPicPr/>
          <p:nvPr/>
        </p:nvPicPr>
        <p:blipFill>
          <a:blip r:embed="rId2"/>
          <a:stretch/>
        </p:blipFill>
        <p:spPr>
          <a:xfrm>
            <a:off x="-966240" y="559080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6" name="TextBox 5"/>
          <p:cNvSpPr/>
          <p:nvPr/>
        </p:nvSpPr>
        <p:spPr>
          <a:xfrm>
            <a:off x="5925960" y="6273360"/>
            <a:ext cx="383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9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" descr=""/>
          <p:cNvPicPr/>
          <p:nvPr/>
        </p:nvPicPr>
        <p:blipFill>
          <a:blip r:embed="rId3"/>
          <a:stretch/>
        </p:blipFill>
        <p:spPr>
          <a:xfrm>
            <a:off x="1986480" y="1162800"/>
            <a:ext cx="8632800" cy="423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2323080" y="102960"/>
            <a:ext cx="7936200" cy="82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Справочники</a:t>
            </a:r>
            <a:endParaRPr b="0" lang="ru-RU" sz="36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99" name="Рисунок 4" descr=""/>
          <p:cNvPicPr/>
          <p:nvPr/>
        </p:nvPicPr>
        <p:blipFill>
          <a:blip r:embed="rId1"/>
          <a:stretch/>
        </p:blipFill>
        <p:spPr>
          <a:xfrm>
            <a:off x="-966240" y="559080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0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5866560" y="627336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10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Рисунок 3" descr=""/>
          <p:cNvPicPr/>
          <p:nvPr/>
        </p:nvPicPr>
        <p:blipFill>
          <a:blip r:embed="rId2"/>
          <a:stretch/>
        </p:blipFill>
        <p:spPr>
          <a:xfrm>
            <a:off x="10699200" y="-112140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3" name="" descr=""/>
          <p:cNvPicPr/>
          <p:nvPr/>
        </p:nvPicPr>
        <p:blipFill>
          <a:blip r:embed="rId3"/>
          <a:stretch/>
        </p:blipFill>
        <p:spPr>
          <a:xfrm>
            <a:off x="540000" y="1341360"/>
            <a:ext cx="11020320" cy="1717920"/>
          </a:xfrm>
          <a:prstGeom prst="rect">
            <a:avLst/>
          </a:prstGeom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4"/>
          <a:stretch/>
        </p:blipFill>
        <p:spPr>
          <a:xfrm>
            <a:off x="180000" y="3673440"/>
            <a:ext cx="12062160" cy="136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495080" y="145800"/>
            <a:ext cx="9200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Формирование выборки поставщиков</a:t>
            </a:r>
            <a:endParaRPr b="0" lang="ru-RU" sz="36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06" name="Рисунок 3" descr=""/>
          <p:cNvPicPr/>
          <p:nvPr/>
        </p:nvPicPr>
        <p:blipFill>
          <a:blip r:embed="rId1"/>
          <a:stretch/>
        </p:blipFill>
        <p:spPr>
          <a:xfrm>
            <a:off x="10862640" y="-77148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7" name="TextBox 2"/>
          <p:cNvSpPr/>
          <p:nvPr/>
        </p:nvSpPr>
        <p:spPr>
          <a:xfrm>
            <a:off x="5960160" y="6342840"/>
            <a:ext cx="5637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11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" name="Рисунок 4" descr=""/>
          <p:cNvPicPr/>
          <p:nvPr/>
        </p:nvPicPr>
        <p:blipFill>
          <a:blip r:embed="rId2"/>
          <a:stretch/>
        </p:blipFill>
        <p:spPr>
          <a:xfrm>
            <a:off x="-819000" y="52214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9" name="" descr=""/>
          <p:cNvPicPr/>
          <p:nvPr/>
        </p:nvPicPr>
        <p:blipFill>
          <a:blip r:embed="rId3"/>
          <a:stretch/>
        </p:blipFill>
        <p:spPr>
          <a:xfrm>
            <a:off x="0" y="1216440"/>
            <a:ext cx="3974400" cy="4004280"/>
          </a:xfrm>
          <a:prstGeom prst="rect">
            <a:avLst/>
          </a:prstGeom>
          <a:ln w="0">
            <a:noFill/>
          </a:ln>
        </p:spPr>
      </p:pic>
      <p:pic>
        <p:nvPicPr>
          <p:cNvPr id="110" name="" descr=""/>
          <p:cNvPicPr/>
          <p:nvPr/>
        </p:nvPicPr>
        <p:blipFill>
          <a:blip r:embed="rId4"/>
          <a:stretch/>
        </p:blipFill>
        <p:spPr>
          <a:xfrm>
            <a:off x="4500000" y="1800000"/>
            <a:ext cx="7405920" cy="3213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43320" y="10080"/>
            <a:ext cx="10902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Сохранение результатов оценки</a:t>
            </a:r>
            <a:endParaRPr b="1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13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358920" y="1800000"/>
            <a:ext cx="2520360" cy="2879280"/>
          </a:xfrm>
          <a:prstGeom prst="rect">
            <a:avLst/>
          </a:prstGeom>
          <a:ln w="0">
            <a:noFill/>
          </a:ln>
        </p:spPr>
      </p:pic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>
            <a:off x="2880000" y="1800000"/>
            <a:ext cx="7600320" cy="1238400"/>
          </a:xfrm>
          <a:prstGeom prst="rect">
            <a:avLst/>
          </a:prstGeom>
          <a:ln w="0">
            <a:noFill/>
          </a:ln>
        </p:spPr>
      </p:pic>
      <p:pic>
        <p:nvPicPr>
          <p:cNvPr id="116" name="" descr=""/>
          <p:cNvPicPr/>
          <p:nvPr/>
        </p:nvPicPr>
        <p:blipFill>
          <a:blip r:embed="rId3"/>
          <a:stretch/>
        </p:blipFill>
        <p:spPr>
          <a:xfrm>
            <a:off x="2880000" y="3240000"/>
            <a:ext cx="7450920" cy="2261880"/>
          </a:xfrm>
          <a:prstGeom prst="rect">
            <a:avLst/>
          </a:prstGeom>
          <a:ln w="0">
            <a:noFill/>
          </a:ln>
        </p:spPr>
      </p:pic>
      <p:pic>
        <p:nvPicPr>
          <p:cNvPr id="117" name="Рисунок 17" descr=""/>
          <p:cNvPicPr/>
          <p:nvPr/>
        </p:nvPicPr>
        <p:blipFill>
          <a:blip r:embed="rId4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18" name="Рисунок 18" descr=""/>
          <p:cNvPicPr/>
          <p:nvPr/>
        </p:nvPicPr>
        <p:blipFill>
          <a:blip r:embed="rId5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47560" y="10080"/>
            <a:ext cx="1120968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Архитектура Python-сервиса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4140000" y="1620000"/>
            <a:ext cx="4139280" cy="4651920"/>
          </a:xfrm>
          <a:prstGeom prst="rect">
            <a:avLst/>
          </a:prstGeom>
          <a:ln w="0">
            <a:noFill/>
          </a:ln>
        </p:spPr>
      </p:pic>
      <p:pic>
        <p:nvPicPr>
          <p:cNvPr id="123" name="Рисунок 19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24" name="Рисунок 24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593784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2340000" y="1222560"/>
            <a:ext cx="8052840" cy="2196720"/>
          </a:xfrm>
          <a:prstGeom prst="rect">
            <a:avLst/>
          </a:prstGeom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720000" y="-245160"/>
            <a:ext cx="10902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Демонстрация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29" name="Рисунок 28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0" name="Рисунок 29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2502720" y="586800"/>
            <a:ext cx="7396560" cy="2652480"/>
          </a:xfrm>
          <a:prstGeom prst="rect">
            <a:avLst/>
          </a:prstGeom>
          <a:ln w="0">
            <a:noFill/>
          </a:ln>
        </p:spPr>
      </p:pic>
      <p:pic>
        <p:nvPicPr>
          <p:cNvPr id="134" name="" descr=""/>
          <p:cNvPicPr/>
          <p:nvPr/>
        </p:nvPicPr>
        <p:blipFill>
          <a:blip r:embed="rId2"/>
          <a:stretch/>
        </p:blipFill>
        <p:spPr>
          <a:xfrm>
            <a:off x="2520000" y="3470040"/>
            <a:ext cx="7357680" cy="2653920"/>
          </a:xfrm>
          <a:prstGeom prst="rect">
            <a:avLst/>
          </a:prstGeom>
          <a:ln w="0">
            <a:noFill/>
          </a:ln>
        </p:spPr>
      </p:pic>
      <p:pic>
        <p:nvPicPr>
          <p:cNvPr id="135" name="Рисунок 30" descr=""/>
          <p:cNvPicPr/>
          <p:nvPr/>
        </p:nvPicPr>
        <p:blipFill>
          <a:blip r:embed="rId3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6" name="Рисунок 31" descr=""/>
          <p:cNvPicPr/>
          <p:nvPr/>
        </p:nvPicPr>
        <p:blipFill>
          <a:blip r:embed="rId4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Box 3"/>
          <p:cNvSpPr/>
          <p:nvPr/>
        </p:nvSpPr>
        <p:spPr>
          <a:xfrm>
            <a:off x="5948280" y="6308280"/>
            <a:ext cx="5871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Рисунок 32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9" name="Рисунок 33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40" name="" descr=""/>
          <p:cNvPicPr/>
          <p:nvPr/>
        </p:nvPicPr>
        <p:blipFill>
          <a:blip r:embed="rId3"/>
          <a:stretch/>
        </p:blipFill>
        <p:spPr>
          <a:xfrm>
            <a:off x="1030320" y="1260000"/>
            <a:ext cx="10129680" cy="396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40000" y="-244440"/>
            <a:ext cx="1120968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Тестирование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43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1697400" y="2512080"/>
            <a:ext cx="1219104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45" name="Рисунок 20" descr=""/>
          <p:cNvPicPr/>
          <p:nvPr/>
        </p:nvPicPr>
        <p:blipFill>
          <a:blip r:embed="rId1"/>
          <a:stretch/>
        </p:blipFill>
        <p:spPr>
          <a:xfrm>
            <a:off x="1234080" y="1439640"/>
            <a:ext cx="366840" cy="350640"/>
          </a:xfrm>
          <a:prstGeom prst="rect">
            <a:avLst/>
          </a:prstGeom>
          <a:ln w="0">
            <a:noFill/>
          </a:ln>
        </p:spPr>
      </p:pic>
      <p:pic>
        <p:nvPicPr>
          <p:cNvPr id="146" name="Рисунок 21" descr=""/>
          <p:cNvPicPr/>
          <p:nvPr/>
        </p:nvPicPr>
        <p:blipFill>
          <a:blip r:embed="rId2"/>
          <a:stretch/>
        </p:blipFill>
        <p:spPr>
          <a:xfrm>
            <a:off x="1173240" y="2284200"/>
            <a:ext cx="366840" cy="350640"/>
          </a:xfrm>
          <a:prstGeom prst="rect">
            <a:avLst/>
          </a:prstGeom>
          <a:ln w="0">
            <a:noFill/>
          </a:ln>
        </p:spPr>
      </p:pic>
      <p:pic>
        <p:nvPicPr>
          <p:cNvPr id="147" name="Рисунок 22" descr=""/>
          <p:cNvPicPr/>
          <p:nvPr/>
        </p:nvPicPr>
        <p:blipFill>
          <a:blip r:embed="rId3"/>
          <a:stretch/>
        </p:blipFill>
        <p:spPr>
          <a:xfrm>
            <a:off x="1137960" y="4331160"/>
            <a:ext cx="366840" cy="350640"/>
          </a:xfrm>
          <a:prstGeom prst="rect">
            <a:avLst/>
          </a:prstGeom>
          <a:ln w="0">
            <a:noFill/>
          </a:ln>
        </p:spPr>
      </p:pic>
      <p:pic>
        <p:nvPicPr>
          <p:cNvPr id="148" name="Рисунок 23" descr=""/>
          <p:cNvPicPr/>
          <p:nvPr/>
        </p:nvPicPr>
        <p:blipFill>
          <a:blip r:embed="rId4"/>
          <a:stretch/>
        </p:blipFill>
        <p:spPr>
          <a:xfrm>
            <a:off x="1173240" y="5139360"/>
            <a:ext cx="366840" cy="350640"/>
          </a:xfrm>
          <a:prstGeom prst="rect">
            <a:avLst/>
          </a:prstGeom>
          <a:ln w="0">
            <a:noFill/>
          </a:ln>
        </p:spPr>
      </p:pic>
      <p:pic>
        <p:nvPicPr>
          <p:cNvPr id="149" name="Рисунок 25" descr=""/>
          <p:cNvPicPr/>
          <p:nvPr/>
        </p:nvPicPr>
        <p:blipFill>
          <a:blip r:embed="rId5"/>
          <a:stretch/>
        </p:blipFill>
        <p:spPr>
          <a:xfrm>
            <a:off x="1173240" y="3522960"/>
            <a:ext cx="366840" cy="350640"/>
          </a:xfrm>
          <a:prstGeom prst="rect">
            <a:avLst/>
          </a:prstGeom>
          <a:ln w="0">
            <a:noFill/>
          </a:ln>
        </p:spPr>
      </p:pic>
      <p:pic>
        <p:nvPicPr>
          <p:cNvPr id="150" name="Рисунок 26" descr=""/>
          <p:cNvPicPr/>
          <p:nvPr/>
        </p:nvPicPr>
        <p:blipFill>
          <a:blip r:embed="rId6"/>
          <a:stretch/>
        </p:blipFill>
        <p:spPr>
          <a:xfrm>
            <a:off x="1173240" y="2887560"/>
            <a:ext cx="366840" cy="350640"/>
          </a:xfrm>
          <a:prstGeom prst="rect">
            <a:avLst/>
          </a:prstGeom>
          <a:ln w="0">
            <a:noFill/>
          </a:ln>
        </p:spPr>
      </p:pic>
      <p:pic>
        <p:nvPicPr>
          <p:cNvPr id="151" name="Рисунок 27" descr=""/>
          <p:cNvPicPr/>
          <p:nvPr/>
        </p:nvPicPr>
        <p:blipFill>
          <a:blip r:embed="rId7"/>
          <a:stretch/>
        </p:blipFill>
        <p:spPr>
          <a:xfrm>
            <a:off x="1143360" y="5933880"/>
            <a:ext cx="366840" cy="35064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52" name="Таблица 8"/>
          <p:cNvGraphicFramePr/>
          <p:nvPr/>
        </p:nvGraphicFramePr>
        <p:xfrm>
          <a:off x="1760400" y="988560"/>
          <a:ext cx="9629280" cy="5703120"/>
        </p:xfrm>
        <a:graphic>
          <a:graphicData uri="http://schemas.openxmlformats.org/drawingml/2006/table">
            <a:tbl>
              <a:tblPr/>
              <a:tblGrid>
                <a:gridCol w="3562920"/>
                <a:gridCol w="6066720"/>
              </a:tblGrid>
              <a:tr h="2937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  <a:tabLst>
                          <a:tab algn="l" pos="0"/>
                        </a:tabLs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Проверка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Ожидаемый результат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Загрузка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загружается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ИНН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ИНН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КПП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КПП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787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ИНН несуществующей компании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отправить ИНН несуществующей компании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Попытка провести анализ при пустой выборке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провести анализ при пустой выборке поставщиков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Анализ сформированной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производит анализ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724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Выход из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завершает свою работу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3" name="Рисунок 34" descr=""/>
          <p:cNvPicPr/>
          <p:nvPr/>
        </p:nvPicPr>
        <p:blipFill>
          <a:blip r:embed="rId8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54" name="Рисунок 35" descr=""/>
          <p:cNvPicPr/>
          <p:nvPr/>
        </p:nvPicPr>
        <p:blipFill>
          <a:blip r:embed="rId9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272480" y="313560"/>
            <a:ext cx="3645720" cy="62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Заключение</a:t>
            </a:r>
            <a:endParaRPr b="0" lang="ru-RU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57" name="TextBox 6"/>
          <p:cNvSpPr/>
          <p:nvPr/>
        </p:nvSpPr>
        <p:spPr>
          <a:xfrm>
            <a:off x="720000" y="1273680"/>
            <a:ext cx="11160000" cy="436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Проведён анализ теоретических основ  и выявлена проблема: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Изучена деятельность ООО «Авангард», в результате чего детально исследован и описан (с помощью модели IDEF0) неэффективный процесс оценки надёжности поставщиков, требующий автоматизации. Были сформулированы функциональные требования к будущему решению.</a:t>
            </a:r>
            <a:endParaRPr b="0" lang="ru-RU" sz="1600" spc="-1" strike="noStrike">
              <a:solidFill>
                <a:srgbClr val="000000"/>
              </a:solidFill>
              <a:latin typeface="Calibr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Выполнен анализ деятельности и организационной структуры ООО «Авангард»: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Анализ выявил ключевую проблему ― отсутствие формализованной методики и программного инструмента для объективной оценки поставщиков, что приводит к высоким временным затратам и субъективности решений.</a:t>
            </a:r>
            <a:endParaRPr b="0" lang="ru-RU" sz="1600" spc="-1" strike="noStrike">
              <a:solidFill>
                <a:srgbClr val="000000"/>
              </a:solidFill>
              <a:latin typeface="Calibr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Разработана и информационная система: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Спроектирована инфологическая модель, разработана архитектура, интерфейс и основные объекты системы. Готовое решение было отлажено и успешно протестировано, подтвердив свою стабильность.</a:t>
            </a:r>
            <a:endParaRPr b="0" lang="ru-RU" sz="1600" spc="-1" strike="noStrike">
              <a:solidFill>
                <a:srgbClr val="000000"/>
              </a:solidFill>
              <a:latin typeface="Calibr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lang="ru-RU" sz="1600" spc="-1" strike="noStrike">
                <a:solidFill>
                  <a:srgbClr val="000000"/>
                </a:solidFill>
                <a:latin typeface="Calibri"/>
              </a:rPr>
              <a:t>Проведено тестирование и опытная эксплуатация разработанной информационной системы: </a:t>
            </a:r>
            <a:r>
              <a:rPr b="0" lang="ru-RU" sz="1600" spc="-1" strike="noStrike">
                <a:solidFill>
                  <a:srgbClr val="000000"/>
                </a:solidFill>
                <a:latin typeface="Calibri"/>
              </a:rPr>
              <a:t>Ошибок в работе системы не обнаружено, что подтверждает стабильность и корректность функционирования разработанного модуля.</a:t>
            </a:r>
            <a:endParaRPr b="0" lang="ru-RU" sz="1600" spc="-1" strike="noStrike">
              <a:solidFill>
                <a:srgbClr val="000000"/>
              </a:solidFill>
              <a:latin typeface="Calibr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rgbClr val="000000"/>
                </a:solidFill>
                <a:latin typeface="Calibri"/>
              </a:rPr>
              <a:t>Оценена экономическая эффективность внедрения разработанного проектного решения:</a:t>
            </a:r>
            <a:r>
              <a:rPr b="0" lang="ru-RU" sz="1600" spc="-1" strike="noStrike">
                <a:solidFill>
                  <a:srgbClr val="000000"/>
                </a:solidFill>
                <a:latin typeface="Calibri"/>
              </a:rPr>
              <a:t> Расчетный срок окупаемости проекта составил 4 месяца, что подтверждает экономическую целесообразность и практическую значимость разработанной системы.</a:t>
            </a:r>
            <a:endParaRPr b="0" lang="ru-RU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TextBox 3"/>
          <p:cNvSpPr/>
          <p:nvPr/>
        </p:nvSpPr>
        <p:spPr>
          <a:xfrm>
            <a:off x="5948280" y="6308280"/>
            <a:ext cx="5871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1868400" y="5918040"/>
            <a:ext cx="8747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Таким образом все задачи решены, цель работы достигнута.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Рисунок 36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61" name="Рисунок 37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720" cy="224172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2455560"/>
            <a:ext cx="12240000" cy="114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5400" spc="-1" strike="noStrike">
                <a:solidFill>
                  <a:schemeClr val="dk1"/>
                </a:solidFill>
                <a:latin typeface="Calibri"/>
              </a:rPr>
              <a:t>Спасибо за внимание!</a:t>
            </a:r>
            <a:endParaRPr b="0" lang="ru-RU" sz="5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3" name="TextBox 2"/>
          <p:cNvSpPr/>
          <p:nvPr/>
        </p:nvSpPr>
        <p:spPr>
          <a:xfrm>
            <a:off x="1371600" y="3519000"/>
            <a:ext cx="1836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64" name="Рисунок 8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124080" y="353880"/>
            <a:ext cx="5942520" cy="179640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4"/>
          <p:cNvSpPr txBox="1"/>
          <p:nvPr/>
        </p:nvSpPr>
        <p:spPr>
          <a:xfrm>
            <a:off x="987840" y="3318480"/>
            <a:ext cx="10393920" cy="18540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Выпускная квалификационная работа </a:t>
            </a:r>
            <a:br>
              <a:rPr sz="2600"/>
            </a:br>
            <a:r>
              <a:rPr b="1" lang="ru-RU" sz="2600" spc="-1" strike="noStrike">
                <a:solidFill>
                  <a:srgbClr val="000000"/>
                </a:solidFill>
                <a:latin typeface="Calibri Light"/>
                <a:ea typeface="Microsoft YaHei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5"/>
          <p:cNvSpPr txBox="1"/>
          <p:nvPr/>
        </p:nvSpPr>
        <p:spPr>
          <a:xfrm>
            <a:off x="6185160" y="5346000"/>
            <a:ext cx="6005880" cy="185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4762</TotalTime>
  <Application>LibreOffice/24.2.4.2$Windows_X86_64 LibreOffice_project/51a6219feb6075d9a4c46691dcfe0cd9c4fff3c2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2024-02-22T16:22:47Z</dcterms:created>
  <dc:creator>Артём Багдасарян</dc:creator>
  <dc:description/>
  <dc:language>ru-RU</dc:language>
  <cp:lastModifiedBy/>
  <dcterms:modified xsi:type="dcterms:W3CDTF">2026-03-17T13:05:41Z</dcterms:modified>
  <cp:revision>44</cp:revision>
  <dc:subject/>
  <dc:title>ВЫПОЛНЕНИЕ ЛАБОРАТОРНОЙ РАБОТЫ ПО КУРСУ «МУЛЬТИМЕДИЙНЫЕ ИНФОРМАЦИОННЫЕ СИСТЕМЫ» С ИСПОЛЬЗОВАНИЕМ ПРОГРАММНОГО КОМПЛЕКСА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1</vt:r8>
  </property>
  <property fmtid="{D5CDD505-2E9C-101B-9397-08002B2CF9AE}" pid="4" name="PresentationFormat">
    <vt:lpwstr>Широкоэкранный</vt:lpwstr>
  </property>
  <property fmtid="{D5CDD505-2E9C-101B-9397-08002B2CF9AE}" pid="5" name="Slides">
    <vt:r8>21</vt:r8>
  </property>
</Properties>
</file>