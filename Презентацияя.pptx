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svg" ContentType="image/sv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перемещения страницы щёлкните мышью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F0190D2-6A24-4367-B964-2BBF931BE76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200DCE-7DB2-4B5D-AD0E-01D16F56D6E4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6FA79D-D983-4F8A-B550-5FCABF0D00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3E704-6973-4DFA-BA3B-16DBF8141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654DDC-A99F-45A3-AD99-533C6FB3D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CFA23C7-A962-4C35-879F-500B0EBDA6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3D9963E-8868-4121-BD89-A6EB667B2B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B9E64-AB68-4C13-9C74-0E44115C168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9904B4-6926-4671-B028-3127E2A41D8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D8CC1B-39C0-4C69-A5B1-43E2095867B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6280FE-C41D-4A52-A9BE-7E3850B5B91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FA584-AE1C-48C8-B7C3-63B0663DCE2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3F9518-C736-45BC-914C-27AA48C13B1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1366ED-8922-404B-8D5C-29517024E9D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A7CE1-F983-4CF4-8487-73110152D4A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623040-000A-4815-94F6-9504248F22B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EC39BB-A634-4250-B0A0-62359EFC289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0205E5-7D8A-4B37-AFB1-7F4B77E0E95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image" Target="../media/image20.png"/><Relationship Id="rId8" Type="http://schemas.openxmlformats.org/officeDocument/2006/relationships/image" Target="../media/image20.pn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87840" y="2975400"/>
            <a:ext cx="10394640" cy="18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2600" spc="-1" strike="noStrike">
                <a:solidFill>
                  <a:schemeClr val="dk1"/>
                </a:solidFill>
                <a:latin typeface="Calibri Light"/>
              </a:rPr>
              <a:t>Выпускная квалификационная работа </a:t>
            </a:r>
            <a:br>
              <a:rPr sz="2600"/>
            </a:br>
            <a:r>
              <a:rPr b="0" lang="ru-RU" sz="2600" spc="-1" strike="noStrike">
                <a:solidFill>
                  <a:schemeClr val="dk1"/>
                </a:solidFill>
                <a:latin typeface="Calibri Light"/>
              </a:rPr>
              <a:t>на тему:</a:t>
            </a:r>
            <a:br>
              <a:rPr sz="2600"/>
            </a:br>
            <a:r>
              <a:rPr b="1" lang="ru-RU" sz="2600" spc="-1" strike="noStrike">
                <a:solidFill>
                  <a:schemeClr val="dk1"/>
                </a:solidFill>
                <a:latin typeface="Calibri Light"/>
              </a:rPr>
              <a:t> Информационная система комплексной оценки надежности поставщиков</a:t>
            </a:r>
            <a:endParaRPr b="0" lang="ru-RU" sz="2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6185160" y="5002920"/>
            <a:ext cx="6006600" cy="18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Calibri"/>
                <a:ea typeface="Times New Roman"/>
              </a:rPr>
              <a:t>Выполнил студент группы БВТ2204: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Calibri"/>
                <a:ea typeface="Times New Roman"/>
              </a:rPr>
              <a:t>Альвицов Д.С.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Calibri"/>
                <a:ea typeface="Times New Roman"/>
              </a:rPr>
              <a:t>Научный руководитель: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algn="r">
              <a:buNone/>
            </a:pPr>
            <a:r>
              <a:rPr b="0" i="1" lang="ru-RU" sz="1600" spc="-1" strike="noStrike">
                <a:solidFill>
                  <a:schemeClr val="dk1"/>
                </a:solidFill>
                <a:latin typeface="Calibri"/>
                <a:ea typeface="Times New Roman"/>
              </a:rPr>
              <a:t>к.э.н., доцент кафедры КИС Андреев И.А.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Рисунок 4" descr=""/>
          <p:cNvPicPr/>
          <p:nvPr/>
        </p:nvPicPr>
        <p:blipFill>
          <a:blip r:embed="rId1"/>
          <a:stretch/>
        </p:blipFill>
        <p:spPr>
          <a:xfrm>
            <a:off x="11070720" y="-32292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189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77" name="Рисунок 5" descr=""/>
          <p:cNvPicPr/>
          <p:nvPr/>
        </p:nvPicPr>
        <p:blipFill>
          <a:blip r:embed="rId2"/>
          <a:stretch/>
        </p:blipFill>
        <p:spPr>
          <a:xfrm>
            <a:off x="-885240" y="73260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108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78" name="Заголовок 1"/>
          <p:cNvSpPr/>
          <p:nvPr/>
        </p:nvSpPr>
        <p:spPr>
          <a:xfrm>
            <a:off x="1772640" y="148320"/>
            <a:ext cx="8824320" cy="27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anchor="b">
            <a:normAutofit fontScale="68655"/>
          </a:bodyPr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МИНИСТЕРСТВО ЦИФРОВОГО РАЗВИТИЯ, СВЯЗИ И МАССОВЫХ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КОММУНИКАЦИЙ РОССИЙСКОЙ ФЕДЕРАЦИИ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Ордена Трудового Красного Знамени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федеральное государственное бюджетное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образовательное учреждение высшего образования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«Московский технический университет связи и информатики»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(МТУСИ)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 Light"/>
              </a:rPr>
              <a:t>Кафедра «Корпоративные информационные системы»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Подзаголовок 2"/>
          <p:cNvSpPr/>
          <p:nvPr/>
        </p:nvSpPr>
        <p:spPr>
          <a:xfrm>
            <a:off x="5326920" y="6444720"/>
            <a:ext cx="16754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Calibri"/>
                <a:ea typeface="Times New Roman"/>
              </a:rPr>
              <a:t>Москва, 2026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295080" y="255960"/>
            <a:ext cx="607968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200" spc="-1" strike="noStrike">
                <a:solidFill>
                  <a:schemeClr val="dk1"/>
                </a:solidFill>
                <a:latin typeface="Calibri Light"/>
              </a:rPr>
              <a:t>Актуальность выбранной темы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35040" y="820800"/>
            <a:ext cx="10921320" cy="12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9995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8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ru-RU" sz="8000" spc="-1" strike="noStrike">
                <a:solidFill>
                  <a:schemeClr val="dk1"/>
                </a:solidFill>
                <a:latin typeface="Calibri"/>
              </a:rPr>
              <a:t>Мультимедийные информационные системы – это комплекс программных и аппаратных средств, предназначенный для сбора, обработки, хранения, передачи и воспроизведения разнообразной информации в мультимедийном формате. На кафедре сетевые информационные технологии и сервисы (СИТиС) в аудиториях Л207 иЛ211 проводятся занятия по курсу «Мультимедийные информационные системы». </a:t>
            </a:r>
            <a:endParaRPr b="0" lang="ru-RU" sz="80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2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Заголовок 1"/>
          <p:cNvSpPr/>
          <p:nvPr/>
        </p:nvSpPr>
        <p:spPr>
          <a:xfrm>
            <a:off x="4656960" y="2533320"/>
            <a:ext cx="287784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Calibri Light"/>
              </a:rPr>
              <a:t>Цель работы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Объект 2"/>
          <p:cNvSpPr/>
          <p:nvPr/>
        </p:nvSpPr>
        <p:spPr>
          <a:xfrm>
            <a:off x="1513800" y="2600280"/>
            <a:ext cx="9766440" cy="17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endParaRPr b="0" lang="ru-RU" sz="2400" spc="-1" strike="noStrike">
              <a:solidFill>
                <a:srgbClr val="61298c"/>
              </a:solidFill>
              <a:latin typeface="Calibri"/>
            </a:endParaRPr>
          </a:p>
        </p:txBody>
      </p:sp>
      <p:sp>
        <p:nvSpPr>
          <p:cNvPr id="85" name="Заголовок 1"/>
          <p:cNvSpPr/>
          <p:nvPr/>
        </p:nvSpPr>
        <p:spPr>
          <a:xfrm>
            <a:off x="5308560" y="3819240"/>
            <a:ext cx="157464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Calibri Light"/>
              </a:rPr>
              <a:t>Задачи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Объект 2"/>
          <p:cNvSpPr/>
          <p:nvPr/>
        </p:nvSpPr>
        <p:spPr>
          <a:xfrm>
            <a:off x="635040" y="4508640"/>
            <a:ext cx="11094480" cy="23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изучить методы и модели анализа данных для оценки благонадежности поставщика товаров;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описать характеристика деятельности и организационную структуру управления ООО «Авангард»;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провести анализ бизнес процесса закупки товаров и выбора поставщика и сформировать предложения по автоматизации;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провести сравнительный анализ рынка аналогичного ПО;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разработать информационную системы для рассматриваемого бизнес процесса;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ourier New"/>
              <a:buChar char="o"/>
              <a:tabLst>
                <a:tab algn="l" pos="0"/>
              </a:tabLst>
            </a:pPr>
            <a:r>
              <a:rPr b="0" lang="ru-RU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оценить экономическую эффективность проекта.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635040" y="3117600"/>
            <a:ext cx="1132056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разработка информационной системы оценки благонадежности поставщика товаров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для повышения качества и эффективности труда сотрудников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организации ООО «Авангард»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056120" y="136440"/>
            <a:ext cx="407916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3200" spc="-1" strike="noStrike">
                <a:solidFill>
                  <a:schemeClr val="dk1"/>
                </a:solidFill>
                <a:latin typeface="Calibri Light"/>
              </a:rPr>
              <a:t>Постановка задачи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0" y="668520"/>
            <a:ext cx="12191760" cy="106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	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Задачей на данную работу является разработка приложения для лабораторных работ по курсу «Мультимедийные информационные системы» на тему «Распределение мультимедийной информации между участниками аудио-видео конференций»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.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  <a:ea typeface="Times New Roman"/>
              </a:rPr>
              <a:t> 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3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Заголовок 1"/>
          <p:cNvSpPr/>
          <p:nvPr/>
        </p:nvSpPr>
        <p:spPr>
          <a:xfrm>
            <a:off x="4843800" y="1729440"/>
            <a:ext cx="27403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Calibri Light"/>
              </a:rPr>
              <a:t>Требования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Объект 2"/>
          <p:cNvSpPr/>
          <p:nvPr/>
        </p:nvSpPr>
        <p:spPr>
          <a:xfrm>
            <a:off x="424080" y="2395080"/>
            <a:ext cx="6242040" cy="38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Приложение для студентов должно выполнять следующие функции: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Решение задачи поиска компонент сильной связности с использованием алгоритма Косарайю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Решение задачи кластеризации с использованием алгоритма </a:t>
            </a:r>
            <a:r>
              <a:rPr b="0" lang="en" sz="2000" spc="-1" strike="noStrike">
                <a:solidFill>
                  <a:schemeClr val="dk1"/>
                </a:solidFill>
                <a:latin typeface="Calibri"/>
              </a:rPr>
              <a:t>K-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средних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Генерация случайных входных данных для обоих алгоритмов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Проверку корректности формата и логики ввода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Отправку результата преподавателю с фиксацией в БД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Объект 2"/>
          <p:cNvSpPr/>
          <p:nvPr/>
        </p:nvSpPr>
        <p:spPr>
          <a:xfrm>
            <a:off x="6849360" y="2399400"/>
            <a:ext cx="4918320" cy="38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Приложение для преподавателей должно выполнять следующие функции: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Просмотр результатов выполнения лабораторных работ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Отображение успеваемости всех студентов в виде журнала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67896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Синхронизацию данных с базой без перезапуска приложения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2860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80000" y="307080"/>
            <a:ext cx="9720000" cy="7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32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Описание и анализ бизнес процесса закупки товаров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" name="Рисунок 1" descr=""/>
          <p:cNvPicPr/>
          <p:nvPr/>
        </p:nvPicPr>
        <p:blipFill>
          <a:blip r:embed="rId1"/>
          <a:stretch/>
        </p:blipFill>
        <p:spPr>
          <a:xfrm>
            <a:off x="11070720" y="-84312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96" name="Рисунок 2" descr=""/>
          <p:cNvPicPr/>
          <p:nvPr/>
        </p:nvPicPr>
        <p:blipFill>
          <a:blip r:embed="rId2"/>
          <a:stretch/>
        </p:blipFill>
        <p:spPr>
          <a:xfrm>
            <a:off x="-994680" y="55562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97" name="TextBox 1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4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Объект 3" descr=""/>
          <p:cNvPicPr/>
          <p:nvPr/>
        </p:nvPicPr>
        <p:blipFill>
          <a:blip r:embed="rId3"/>
          <a:stretch/>
        </p:blipFill>
        <p:spPr>
          <a:xfrm>
            <a:off x="673200" y="1622160"/>
            <a:ext cx="5422680" cy="3777840"/>
          </a:xfrm>
          <a:prstGeom prst="rect">
            <a:avLst/>
          </a:prstGeom>
          <a:ln w="0">
            <a:noFill/>
          </a:ln>
        </p:spPr>
      </p:pic>
      <p:pic>
        <p:nvPicPr>
          <p:cNvPr id="99" name="Рисунок 11" descr=""/>
          <p:cNvPicPr/>
          <p:nvPr/>
        </p:nvPicPr>
        <p:blipFill>
          <a:blip r:embed="rId4"/>
          <a:stretch/>
        </p:blipFill>
        <p:spPr>
          <a:xfrm>
            <a:off x="6327360" y="1622160"/>
            <a:ext cx="5420880" cy="377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40000" y="180360"/>
            <a:ext cx="115200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Декомпозиция блока А2 </a:t>
            </a:r>
            <a:br>
              <a:rPr sz="3600"/>
            </a:b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«Выбор поставщика»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Рисунок 3" descr=""/>
          <p:cNvPicPr/>
          <p:nvPr/>
        </p:nvPicPr>
        <p:blipFill>
          <a:blip r:embed="rId1"/>
          <a:stretch/>
        </p:blipFill>
        <p:spPr>
          <a:xfrm>
            <a:off x="10710360" y="19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189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02" name="Рисунок 4" descr=""/>
          <p:cNvPicPr/>
          <p:nvPr/>
        </p:nvPicPr>
        <p:blipFill>
          <a:blip r:embed="rId2"/>
          <a:stretch/>
        </p:blipFill>
        <p:spPr>
          <a:xfrm>
            <a:off x="-1605600" y="288000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108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03" name="TextBox 2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5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Рисунок 13" descr=""/>
          <p:cNvPicPr/>
          <p:nvPr/>
        </p:nvPicPr>
        <p:blipFill>
          <a:blip r:embed="rId3"/>
          <a:stretch/>
        </p:blipFill>
        <p:spPr>
          <a:xfrm>
            <a:off x="2674800" y="1440000"/>
            <a:ext cx="7045200" cy="489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42360" y="369360"/>
            <a:ext cx="11505240" cy="75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Сравнительный анализ готовых решений 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0" y="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tIns="360" bIns="360" anchor="ctr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6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8" name="Объект 1"/>
          <p:cNvGraphicFramePr/>
          <p:nvPr/>
        </p:nvGraphicFramePr>
        <p:xfrm>
          <a:off x="2769480" y="1467360"/>
          <a:ext cx="8910720" cy="4535640"/>
        </p:xfrm>
        <a:graphic>
          <a:graphicData uri="http://schemas.openxmlformats.org/drawingml/2006/table">
            <a:tbl>
              <a:tblPr/>
              <a:tblGrid>
                <a:gridCol w="1837440"/>
                <a:gridCol w="1835640"/>
                <a:gridCol w="1833840"/>
                <a:gridCol w="1579680"/>
                <a:gridCol w="1824480"/>
              </a:tblGrid>
              <a:tr h="782280"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Название системы \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Критерии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PLUSSELL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SAP Ariba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iTender SRM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Разработка собственной информационной системы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</a:tr>
              <a:tr h="195840"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1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2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3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4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5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391320"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Стоимость поставки ПО, руб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62 100.00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128 800.00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17 260.00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Не требуется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86800"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Масштабность внедрения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Крупные оптовые компании и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Оптовые компании и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Мелкие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Мелкие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391320"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Решение поставленных задач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Среднее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Полное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Низкое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Полное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1320"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Возможность оценки поставщиков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586800">
                <a:tc>
                  <a:txBody>
                    <a:bodyPr lIns="44640" rIns="44640" tIns="0" bIns="0" anchor="t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Эффективность и наполнение доступных отчётов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86800">
                <a:tc>
                  <a:txBody>
                    <a:bodyPr lIns="44640" rIns="44640" tIns="0" bIns="0" anchor="t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Многопользовательский режим и права доступа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782280"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Возможность добавления программных модулей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Да, как администратор, так и пользователь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Только администратор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Нет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tIns="0" bIns="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Только администратор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09" name="Рисунок 14" descr=""/>
          <p:cNvPicPr/>
          <p:nvPr/>
        </p:nvPicPr>
        <p:blipFill>
          <a:blip r:embed="rId1"/>
          <a:stretch/>
        </p:blipFill>
        <p:spPr>
          <a:xfrm>
            <a:off x="-1643400" y="288036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10800000" blurRad="50760" rotWithShape="0">
              <a:srgbClr val="000000">
                <a:alpha val="4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18240" y="270000"/>
            <a:ext cx="9755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</a:rPr>
              <a:t>Архитектура приложения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1" name="Рисунок 3" descr=""/>
          <p:cNvPicPr/>
          <p:nvPr/>
        </p:nvPicPr>
        <p:blipFill>
          <a:blip r:embed="rId1"/>
          <a:stretch/>
        </p:blipFill>
        <p:spPr>
          <a:xfrm>
            <a:off x="10877760" y="111924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12" name="Рисунок 4" descr=""/>
          <p:cNvPicPr/>
          <p:nvPr/>
        </p:nvPicPr>
        <p:blipFill>
          <a:blip r:embed="rId2"/>
          <a:stretch/>
        </p:blipFill>
        <p:spPr>
          <a:xfrm>
            <a:off x="-871200" y="5221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13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605016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7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2340000" y="1611720"/>
            <a:ext cx="7560000" cy="414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674080" y="0"/>
            <a:ext cx="7765920" cy="7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Инфологическая модель БД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7" name="Рисунок 3" descr=""/>
          <p:cNvPicPr/>
          <p:nvPr/>
        </p:nvPicPr>
        <p:blipFill>
          <a:blip r:embed="rId1"/>
          <a:stretch/>
        </p:blipFill>
        <p:spPr>
          <a:xfrm>
            <a:off x="11070720" y="-58536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18" name="TextBox 5"/>
          <p:cNvSpPr/>
          <p:nvPr/>
        </p:nvSpPr>
        <p:spPr>
          <a:xfrm>
            <a:off x="5947920" y="630828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8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Рисунок 4" descr=""/>
          <p:cNvPicPr/>
          <p:nvPr/>
        </p:nvPicPr>
        <p:blipFill>
          <a:blip r:embed="rId2"/>
          <a:stretch/>
        </p:blipFill>
        <p:spPr>
          <a:xfrm>
            <a:off x="-994680" y="55562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20" name="" descr=""/>
          <p:cNvPicPr/>
          <p:nvPr/>
        </p:nvPicPr>
        <p:blipFill>
          <a:blip r:embed="rId3"/>
          <a:stretch/>
        </p:blipFill>
        <p:spPr>
          <a:xfrm>
            <a:off x="3060000" y="837360"/>
            <a:ext cx="6264000" cy="564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20000" y="0"/>
            <a:ext cx="8820000" cy="70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1601"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Структура метаданных информационной системы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Рисунок 3" descr=""/>
          <p:cNvPicPr/>
          <p:nvPr/>
        </p:nvPicPr>
        <p:blipFill>
          <a:blip r:embed="rId1"/>
          <a:stretch/>
        </p:blipFill>
        <p:spPr>
          <a:xfrm>
            <a:off x="10845720" y="-127836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189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23" name="Рисунок 4" descr=""/>
          <p:cNvPicPr/>
          <p:nvPr/>
        </p:nvPicPr>
        <p:blipFill>
          <a:blip r:embed="rId2"/>
          <a:stretch/>
        </p:blipFill>
        <p:spPr>
          <a:xfrm>
            <a:off x="-966240" y="559080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24" name="TextBox 5"/>
          <p:cNvSpPr/>
          <p:nvPr/>
        </p:nvSpPr>
        <p:spPr>
          <a:xfrm>
            <a:off x="5925960" y="6273360"/>
            <a:ext cx="38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9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1986480" y="1162800"/>
            <a:ext cx="8633520" cy="42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323080" y="102960"/>
            <a:ext cx="793692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Справочники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7" name="Рисунок 4" descr=""/>
          <p:cNvPicPr/>
          <p:nvPr/>
        </p:nvPicPr>
        <p:blipFill>
          <a:blip r:embed="rId1"/>
          <a:stretch/>
        </p:blipFill>
        <p:spPr>
          <a:xfrm>
            <a:off x="-966240" y="559080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28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5866560" y="627336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10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Рисунок 3" descr=""/>
          <p:cNvPicPr/>
          <p:nvPr/>
        </p:nvPicPr>
        <p:blipFill>
          <a:blip r:embed="rId2"/>
          <a:stretch/>
        </p:blipFill>
        <p:spPr>
          <a:xfrm>
            <a:off x="10699200" y="-112140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189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540000" y="1341360"/>
            <a:ext cx="11021040" cy="1718640"/>
          </a:xfrm>
          <a:prstGeom prst="rect">
            <a:avLst/>
          </a:prstGeom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180000" y="3673440"/>
            <a:ext cx="12062880" cy="136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495080" y="145800"/>
            <a:ext cx="9201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ru-RU" sz="3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"/>
              </a:rPr>
              <a:t>Документы</a:t>
            </a:r>
            <a:endParaRPr b="0" lang="ru-RU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4" name="Рисунок 3" descr=""/>
          <p:cNvPicPr/>
          <p:nvPr/>
        </p:nvPicPr>
        <p:blipFill>
          <a:blip r:embed="rId1"/>
          <a:stretch/>
        </p:blipFill>
        <p:spPr>
          <a:xfrm>
            <a:off x="10862640" y="-77148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35" name="TextBox 2"/>
          <p:cNvSpPr/>
          <p:nvPr/>
        </p:nvSpPr>
        <p:spPr>
          <a:xfrm>
            <a:off x="5960160" y="6342840"/>
            <a:ext cx="5637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11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Рисунок 4" descr=""/>
          <p:cNvPicPr/>
          <p:nvPr/>
        </p:nvPicPr>
        <p:blipFill>
          <a:blip r:embed="rId2"/>
          <a:stretch/>
        </p:blipFill>
        <p:spPr>
          <a:xfrm>
            <a:off x="-819000" y="5221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0" y="1216440"/>
            <a:ext cx="3975120" cy="400500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4"/>
          <a:stretch/>
        </p:blipFill>
        <p:spPr>
          <a:xfrm>
            <a:off x="4500000" y="1800000"/>
            <a:ext cx="7406640" cy="321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43320" y="10080"/>
            <a:ext cx="109033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 </a:t>
            </a:r>
            <a:r>
              <a:rPr b="1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Регистры накопления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Рисунок 3" descr=""/>
          <p:cNvPicPr/>
          <p:nvPr/>
        </p:nvPicPr>
        <p:blipFill>
          <a:blip r:embed="rId1"/>
          <a:stretch/>
        </p:blipFill>
        <p:spPr>
          <a:xfrm>
            <a:off x="10877760" y="111924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41" name="Рисунок 4" descr=""/>
          <p:cNvPicPr/>
          <p:nvPr/>
        </p:nvPicPr>
        <p:blipFill>
          <a:blip r:embed="rId2"/>
          <a:stretch/>
        </p:blipFill>
        <p:spPr>
          <a:xfrm>
            <a:off x="-871200" y="5221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42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5949000" y="630828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12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358920" y="1800000"/>
            <a:ext cx="2521080" cy="288000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4"/>
          <a:stretch/>
        </p:blipFill>
        <p:spPr>
          <a:xfrm>
            <a:off x="2880000" y="1800000"/>
            <a:ext cx="7601040" cy="123912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5"/>
          <a:stretch/>
        </p:blipFill>
        <p:spPr>
          <a:xfrm>
            <a:off x="2880000" y="3240000"/>
            <a:ext cx="7451640" cy="226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47560" y="10080"/>
            <a:ext cx="1121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8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Архитектура Python-сервиса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8" name="Рисунок 3" descr=""/>
          <p:cNvPicPr/>
          <p:nvPr/>
        </p:nvPicPr>
        <p:blipFill>
          <a:blip r:embed="rId1"/>
          <a:stretch/>
        </p:blipFill>
        <p:spPr>
          <a:xfrm>
            <a:off x="10843200" y="530172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49" name="Рисунок 4" descr=""/>
          <p:cNvPicPr/>
          <p:nvPr/>
        </p:nvPicPr>
        <p:blipFill>
          <a:blip r:embed="rId2"/>
          <a:stretch/>
        </p:blipFill>
        <p:spPr>
          <a:xfrm>
            <a:off x="-686520" y="104652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108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50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5949000" y="630828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13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4140000" y="1620000"/>
            <a:ext cx="4140000" cy="465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3" descr=""/>
          <p:cNvPicPr/>
          <p:nvPr/>
        </p:nvPicPr>
        <p:blipFill>
          <a:blip r:embed="rId1"/>
          <a:stretch/>
        </p:blipFill>
        <p:spPr>
          <a:xfrm>
            <a:off x="10877760" y="503568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54" name="Рисунок 4" descr=""/>
          <p:cNvPicPr/>
          <p:nvPr/>
        </p:nvPicPr>
        <p:blipFill>
          <a:blip r:embed="rId2"/>
          <a:stretch/>
        </p:blipFill>
        <p:spPr>
          <a:xfrm>
            <a:off x="-871200" y="5221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55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5937840" y="630828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14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3"/>
          <a:stretch/>
        </p:blipFill>
        <p:spPr>
          <a:xfrm>
            <a:off x="2340000" y="1222560"/>
            <a:ext cx="8053560" cy="219744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720000" y="-245160"/>
            <a:ext cx="109033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  <a:ea typeface="Microsoft YaHei"/>
              </a:rPr>
              <a:t>Демонстрация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Рисунок 3" descr=""/>
          <p:cNvPicPr/>
          <p:nvPr/>
        </p:nvPicPr>
        <p:blipFill>
          <a:blip r:embed="rId1"/>
          <a:stretch/>
        </p:blipFill>
        <p:spPr>
          <a:xfrm>
            <a:off x="10877760" y="1119240"/>
            <a:ext cx="2242440" cy="2242440"/>
          </a:xfrm>
          <a:prstGeom prst="rect">
            <a:avLst/>
          </a:prstGeom>
          <a:ln w="0">
            <a:noFill/>
          </a:ln>
          <a:effectLst>
            <a:outerShdw dist="38160" dir="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60" name="Рисунок 4" descr=""/>
          <p:cNvPicPr/>
          <p:nvPr/>
        </p:nvPicPr>
        <p:blipFill>
          <a:blip r:embed="rId2"/>
          <a:stretch/>
        </p:blipFill>
        <p:spPr>
          <a:xfrm>
            <a:off x="-871200" y="5221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81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61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5949000" y="630828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15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3"/>
          <a:stretch/>
        </p:blipFill>
        <p:spPr>
          <a:xfrm>
            <a:off x="2502720" y="586800"/>
            <a:ext cx="7397280" cy="265320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4"/>
          <a:stretch/>
        </p:blipFill>
        <p:spPr>
          <a:xfrm>
            <a:off x="2520000" y="3470040"/>
            <a:ext cx="7358400" cy="265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3"/>
          <p:cNvSpPr/>
          <p:nvPr/>
        </p:nvSpPr>
        <p:spPr>
          <a:xfrm>
            <a:off x="5948280" y="6308280"/>
            <a:ext cx="587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16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486000" y="875520"/>
            <a:ext cx="11574000" cy="452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47560" y="10080"/>
            <a:ext cx="1121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</a:rPr>
              <a:t>Тестирование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8" name="Рисунок 3" descr=""/>
          <p:cNvPicPr/>
          <p:nvPr/>
        </p:nvPicPr>
        <p:blipFill>
          <a:blip r:embed="rId1"/>
          <a:stretch/>
        </p:blipFill>
        <p:spPr>
          <a:xfrm>
            <a:off x="11225160" y="586944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2700000" blurRad="50760" rotWithShape="0">
              <a:srgbClr val="000000">
                <a:alpha val="40000"/>
              </a:srgbClr>
            </a:outerShdw>
          </a:effectLst>
        </p:spPr>
      </p:pic>
      <p:pic>
        <p:nvPicPr>
          <p:cNvPr id="169" name="Рисунок 4" descr=""/>
          <p:cNvPicPr/>
          <p:nvPr/>
        </p:nvPicPr>
        <p:blipFill>
          <a:blip r:embed="rId2"/>
          <a:stretch/>
        </p:blipFill>
        <p:spPr>
          <a:xfrm>
            <a:off x="-669240" y="-843120"/>
            <a:ext cx="2242440" cy="2242440"/>
          </a:xfrm>
          <a:prstGeom prst="rect">
            <a:avLst/>
          </a:prstGeom>
          <a:ln w="0">
            <a:noFill/>
          </a:ln>
          <a:effectLst>
            <a:outerShdw dist="37674" dir="13500000" blurRad="50760" rotWithShape="0">
              <a:srgbClr val="000000">
                <a:alpha val="40000"/>
              </a:srgbClr>
            </a:outerShdw>
          </a:effectLst>
        </p:spPr>
      </p:pic>
      <p:sp>
        <p:nvSpPr>
          <p:cNvPr id="170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5949000" y="6308280"/>
            <a:ext cx="586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17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2"/>
          <p:cNvSpPr/>
          <p:nvPr/>
        </p:nvSpPr>
        <p:spPr>
          <a:xfrm>
            <a:off x="1697400" y="251208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tIns="360" bIns="360" anchor="ctr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3" name="Рисунок 20" descr=""/>
          <p:cNvPicPr/>
          <p:nvPr/>
        </p:nvPicPr>
        <p:blipFill>
          <a:blip r:embed="rId3"/>
          <a:stretch/>
        </p:blipFill>
        <p:spPr>
          <a:xfrm>
            <a:off x="1234080" y="143964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4" name="Рисунок 21" descr=""/>
          <p:cNvPicPr/>
          <p:nvPr/>
        </p:nvPicPr>
        <p:blipFill>
          <a:blip r:embed="rId4"/>
          <a:stretch/>
        </p:blipFill>
        <p:spPr>
          <a:xfrm>
            <a:off x="1173240" y="228420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5" name="Рисунок 22" descr=""/>
          <p:cNvPicPr/>
          <p:nvPr/>
        </p:nvPicPr>
        <p:blipFill>
          <a:blip r:embed="rId5"/>
          <a:stretch/>
        </p:blipFill>
        <p:spPr>
          <a:xfrm>
            <a:off x="1137960" y="433116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6" name="Рисунок 23" descr=""/>
          <p:cNvPicPr/>
          <p:nvPr/>
        </p:nvPicPr>
        <p:blipFill>
          <a:blip r:embed="rId6"/>
          <a:stretch/>
        </p:blipFill>
        <p:spPr>
          <a:xfrm>
            <a:off x="1173240" y="513936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7" name="Рисунок 25" descr=""/>
          <p:cNvPicPr/>
          <p:nvPr/>
        </p:nvPicPr>
        <p:blipFill>
          <a:blip r:embed="rId7"/>
          <a:stretch/>
        </p:blipFill>
        <p:spPr>
          <a:xfrm>
            <a:off x="1173240" y="352296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8" name="Рисунок 26" descr=""/>
          <p:cNvPicPr/>
          <p:nvPr/>
        </p:nvPicPr>
        <p:blipFill>
          <a:blip r:embed="rId8"/>
          <a:stretch/>
        </p:blipFill>
        <p:spPr>
          <a:xfrm>
            <a:off x="1173240" y="2887560"/>
            <a:ext cx="367560" cy="351360"/>
          </a:xfrm>
          <a:prstGeom prst="rect">
            <a:avLst/>
          </a:prstGeom>
          <a:ln w="0">
            <a:noFill/>
          </a:ln>
        </p:spPr>
      </p:pic>
      <p:pic>
        <p:nvPicPr>
          <p:cNvPr id="179" name="Рисунок 27" descr=""/>
          <p:cNvPicPr/>
          <p:nvPr/>
        </p:nvPicPr>
        <p:blipFill>
          <a:blip r:embed="rId9"/>
          <a:stretch/>
        </p:blipFill>
        <p:spPr>
          <a:xfrm>
            <a:off x="1143360" y="5933880"/>
            <a:ext cx="367560" cy="3513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80" name="Таблица 8"/>
          <p:cNvGraphicFramePr/>
          <p:nvPr/>
        </p:nvGraphicFramePr>
        <p:xfrm>
          <a:off x="1760400" y="988560"/>
          <a:ext cx="9629280" cy="5428800"/>
        </p:xfrm>
        <a:graphic>
          <a:graphicData uri="http://schemas.openxmlformats.org/drawingml/2006/table">
            <a:tbl>
              <a:tblPr/>
              <a:tblGrid>
                <a:gridCol w="3562920"/>
                <a:gridCol w="6066720"/>
              </a:tblGrid>
              <a:tr h="2937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Проверка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Ожидаемый результат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</a:tr>
              <a:tr h="8668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Загрузка программы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Программа корректно загружается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5871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Ввод пустого поля </a:t>
                      </a: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ИНН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Программа не позволяет отправить пустой ИНН и выводит сообщение об ошибке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5871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Ввод пустого поля КПП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Программа не позволяет отправить пустой КПП и выводит сообщение об ошибке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6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Ввод ИНН несуществующей компании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Программа не позволяет отправить </a:t>
                      </a: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ИНН несуществующей компании и выводит сообщение об ошибке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8668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Попытка провести анализ при пустой выборке поставщиков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Программа не позволяет провести анализ при пустой выборке поставщиков</a:t>
                      </a: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 и выводит сообщение об ошибке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68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Анализ сформированной выборки поставщиков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Программа корректно производит анализ выборки поставщиков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 w="6480">
                      <a:solidFill>
                        <a:srgbClr val="5b9bd5"/>
                      </a:solidFill>
                      <a:prstDash val="solid"/>
                    </a:lnT>
                    <a:lnB w="6480">
                      <a:solidFill>
                        <a:srgbClr val="5b9bd5"/>
                      </a:solidFill>
                      <a:prstDash val="solid"/>
                    </a:lnB>
                    <a:noFill/>
                  </a:tcPr>
                </a:tc>
              </a:tr>
              <a:tr h="57240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1" lang="ru-RU" sz="1800" spc="-1" strike="noStrike">
                          <a:solidFill>
                            <a:schemeClr val="dk1"/>
                          </a:solidFill>
                          <a:latin typeface="Calibri"/>
                          <a:ea typeface="Microsoft YaHei"/>
                        </a:rPr>
                        <a:t>Выход из программы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 w="6480">
                      <a:solidFill>
                        <a:srgbClr val="5b9bd5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b="0" lang="ru-RU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Программа корректно завершает свою работу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 w="6480">
                      <a:solidFill>
                        <a:srgbClr val="5b9bd5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272480" y="313560"/>
            <a:ext cx="3646440" cy="62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024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Calibri Light"/>
              </a:rPr>
              <a:t>Заключение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965520" y="1073880"/>
            <a:ext cx="10260360" cy="36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ru-RU" sz="2000" spc="-1" strike="noStrike">
                <a:solidFill>
                  <a:schemeClr val="dk1"/>
                </a:solidFill>
                <a:latin typeface="Calibri"/>
              </a:rPr>
              <a:t>Проведён анализ и выявлена проблема: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 Изучена деятельность ООО «Авангард», в результате чего детально исследован и описан (с помощью модели IDEF0) неэффективный процесс оценки надёжности поставщиков, требующий автоматизации. Были сформулированы функциональные требования к будущему решению.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ru-RU" sz="2000" spc="-1" strike="noStrike">
                <a:solidFill>
                  <a:schemeClr val="dk1"/>
                </a:solidFill>
                <a:latin typeface="Calibri"/>
              </a:rPr>
              <a:t>Обоснован и выбран метод решения: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 На основе анализа рынка ПО было принято решение о целесообразности собственной разработки на платформе «1С:Предприятие 8.3».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b="1" lang="ru-RU" sz="2000" spc="-1" strike="noStrike">
                <a:solidFill>
                  <a:schemeClr val="dk1"/>
                </a:solidFill>
                <a:latin typeface="Calibri"/>
              </a:rPr>
              <a:t>Разработана и информационная система: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 Спроектирована инфологическая модель, разработана архитектура, интерфейс и основные объекты системы. Готовое решение было отлажено и успешно протестировано, подтвердив свою стабильность.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5948280" y="6308280"/>
            <a:ext cx="5878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pc="-1" strike="noStrike">
                <a:solidFill>
                  <a:schemeClr val="dk1"/>
                </a:solidFill>
                <a:latin typeface="Times New Roman"/>
              </a:rPr>
              <a:t>18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1868400" y="5918040"/>
            <a:ext cx="87480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ru-RU" sz="2000" spc="-1" strike="noStrike">
                <a:solidFill>
                  <a:schemeClr val="dk1"/>
                </a:solidFill>
                <a:latin typeface="Calibri"/>
              </a:rPr>
              <a:t>Таким образом все задачи решены, цель работы достигнута.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469240" y="2856240"/>
            <a:ext cx="72532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5400" spc="-1" strike="noStrike">
                <a:solidFill>
                  <a:schemeClr val="dk1"/>
                </a:solidFill>
                <a:latin typeface="Calibri Light"/>
              </a:rPr>
              <a:t>Спасибо за внимание!</a:t>
            </a:r>
            <a:endParaRPr b="0" lang="ru-RU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1371600" y="351900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8" name="Рисунок 8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124080" y="353880"/>
            <a:ext cx="5943240" cy="179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4717</TotalTime>
  <Application>LibreOffice/24.2.4.2$Windows_X86_64 LibreOffice_project/51a6219feb6075d9a4c46691dcfe0cd9c4fff3c2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2024-02-22T16:22:47Z</dcterms:created>
  <dc:creator>Артём Багдасарян</dc:creator>
  <dc:description/>
  <dc:language>ru-RU</dc:language>
  <cp:lastModifiedBy/>
  <dcterms:modified xsi:type="dcterms:W3CDTF">2025-12-06T23:45:13Z</dcterms:modified>
  <cp:revision>34</cp:revision>
  <dc:subject/>
  <dc:title>ВЫПОЛНЕНИЕ ЛАБОРАТОРНОЙ РАБОТЫ ПО КУРСУ «МУЛЬТИМЕДИЙНЫЕ ИНФОРМАЦИОННЫЕ СИСТЕМЫ» С ИСПОЛЬЗОВАНИЕМ ПРОГРАММНОГО КОМПЛЕКСА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Notes">
    <vt:r8>1</vt:r8>
  </property>
  <property fmtid="{D5CDD505-2E9C-101B-9397-08002B2CF9AE}" pid="4" name="PresentationFormat">
    <vt:lpwstr>Широкоэкранный</vt:lpwstr>
  </property>
  <property fmtid="{D5CDD505-2E9C-101B-9397-08002B2CF9AE}" pid="5" name="Slides">
    <vt:r8>21</vt:r8>
  </property>
</Properties>
</file>